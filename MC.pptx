
<file path=[Content_Types].xml><?xml version="1.0" encoding="utf-8"?>
<Types xmlns="http://schemas.openxmlformats.org/package/2006/content-types">
  <Default Extension="xml" ContentType="application/xml"/>
  <Default Extension="wmf" ContentType="image/x-wmf"/>
  <Default Extension="jpeg" ContentType="image/jpeg"/>
  <Default Extension="tiff" ContentType="image/tiff"/>
  <Default Extension="emf" ContentType="image/x-emf"/>
  <Default Extension="jpg" ContentType="image/jpeg"/>
  <Default Extension="rels" ContentType="application/vnd.openxmlformats-package.relationships+xml"/>
  <Default Extension="vml" ContentType="application/vnd.openxmlformats-officedocument.vmlDrawing"/>
  <Default Extension="gif" ContentType="image/gif"/>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4"/>
  </p:notesMasterIdLst>
  <p:sldIdLst>
    <p:sldId id="446" r:id="rId2"/>
    <p:sldId id="416" r:id="rId3"/>
    <p:sldId id="257" r:id="rId4"/>
    <p:sldId id="413" r:id="rId5"/>
    <p:sldId id="258" r:id="rId6"/>
    <p:sldId id="259" r:id="rId7"/>
    <p:sldId id="263" r:id="rId8"/>
    <p:sldId id="266" r:id="rId9"/>
    <p:sldId id="267" r:id="rId10"/>
    <p:sldId id="268" r:id="rId11"/>
    <p:sldId id="270" r:id="rId12"/>
    <p:sldId id="414" r:id="rId13"/>
    <p:sldId id="271" r:id="rId14"/>
    <p:sldId id="273" r:id="rId15"/>
    <p:sldId id="272" r:id="rId16"/>
    <p:sldId id="274" r:id="rId17"/>
    <p:sldId id="275" r:id="rId18"/>
    <p:sldId id="415" r:id="rId19"/>
    <p:sldId id="435" r:id="rId20"/>
    <p:sldId id="436" r:id="rId21"/>
    <p:sldId id="437" r:id="rId22"/>
    <p:sldId id="438" r:id="rId23"/>
    <p:sldId id="439" r:id="rId24"/>
    <p:sldId id="440" r:id="rId25"/>
    <p:sldId id="441" r:id="rId26"/>
    <p:sldId id="442" r:id="rId27"/>
    <p:sldId id="443" r:id="rId28"/>
    <p:sldId id="444" r:id="rId29"/>
    <p:sldId id="445" r:id="rId30"/>
    <p:sldId id="412" r:id="rId31"/>
    <p:sldId id="447" r:id="rId32"/>
    <p:sldId id="448" r:id="rId33"/>
    <p:sldId id="449" r:id="rId34"/>
    <p:sldId id="450" r:id="rId35"/>
    <p:sldId id="451" r:id="rId36"/>
    <p:sldId id="452" r:id="rId37"/>
    <p:sldId id="453" r:id="rId38"/>
    <p:sldId id="407" r:id="rId39"/>
    <p:sldId id="299" r:id="rId40"/>
    <p:sldId id="300" r:id="rId41"/>
    <p:sldId id="302" r:id="rId42"/>
    <p:sldId id="303" r:id="rId43"/>
    <p:sldId id="304" r:id="rId44"/>
    <p:sldId id="305" r:id="rId45"/>
    <p:sldId id="396" r:id="rId46"/>
    <p:sldId id="397" r:id="rId47"/>
    <p:sldId id="311" r:id="rId48"/>
    <p:sldId id="352" r:id="rId49"/>
    <p:sldId id="353" r:id="rId50"/>
    <p:sldId id="363" r:id="rId51"/>
    <p:sldId id="314" r:id="rId52"/>
    <p:sldId id="315" r:id="rId53"/>
    <p:sldId id="316" r:id="rId54"/>
    <p:sldId id="454" r:id="rId55"/>
    <p:sldId id="455" r:id="rId56"/>
    <p:sldId id="456" r:id="rId57"/>
    <p:sldId id="373" r:id="rId58"/>
    <p:sldId id="417" r:id="rId59"/>
    <p:sldId id="419" r:id="rId60"/>
    <p:sldId id="422" r:id="rId61"/>
    <p:sldId id="423" r:id="rId62"/>
    <p:sldId id="424" r:id="rId63"/>
    <p:sldId id="425" r:id="rId64"/>
    <p:sldId id="426" r:id="rId65"/>
    <p:sldId id="427" r:id="rId66"/>
    <p:sldId id="428" r:id="rId67"/>
    <p:sldId id="429" r:id="rId68"/>
    <p:sldId id="430" r:id="rId69"/>
    <p:sldId id="431" r:id="rId70"/>
    <p:sldId id="432" r:id="rId71"/>
    <p:sldId id="433" r:id="rId72"/>
    <p:sldId id="434" r:id="rId7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1955" autoAdjust="0"/>
  </p:normalViewPr>
  <p:slideViewPr>
    <p:cSldViewPr>
      <p:cViewPr>
        <p:scale>
          <a:sx n="53" d="100"/>
          <a:sy n="53" d="100"/>
        </p:scale>
        <p:origin x="2784" y="5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wmf"/><Relationship Id="rId3"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 Id="rId2"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wmf"/><Relationship Id="rId2"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1.wmf"/><Relationship Id="rId4" Type="http://schemas.openxmlformats.org/officeDocument/2006/relationships/image" Target="../media/image32.wmf"/><Relationship Id="rId5" Type="http://schemas.openxmlformats.org/officeDocument/2006/relationships/image" Target="../media/image33.wmf"/><Relationship Id="rId1" Type="http://schemas.openxmlformats.org/officeDocument/2006/relationships/image" Target="../media/image29.wmf"/><Relationship Id="rId2" Type="http://schemas.openxmlformats.org/officeDocument/2006/relationships/image" Target="../media/image3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BA2C8B-2225-4DE4-93DA-F64BCA666FCE}" type="datetimeFigureOut">
              <a:rPr lang="zh-CN" altLang="en-US" smtClean="0"/>
              <a:t>2016/12/18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753C43-58AF-48FD-9726-AF90BDAFB1AD}" type="slidenum">
              <a:rPr lang="zh-CN" altLang="en-US" smtClean="0"/>
              <a:t>‹#›</a:t>
            </a:fld>
            <a:endParaRPr lang="zh-CN" altLang="en-US"/>
          </a:p>
        </p:txBody>
      </p:sp>
    </p:spTree>
    <p:extLst>
      <p:ext uri="{BB962C8B-B14F-4D97-AF65-F5344CB8AC3E}">
        <p14:creationId xmlns:p14="http://schemas.microsoft.com/office/powerpoint/2010/main" val="1948850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zh.wikipedia.org/w/index.php?title=%E5%91%BD%E9%A2%98%E9%80%BB%E8%BE%91&amp;variant=zh-cn" TargetMode="External"/><Relationship Id="rId4" Type="http://schemas.openxmlformats.org/officeDocument/2006/relationships/hyperlink" Target="http://zh.wikipedia.org/w/index.php?title=%E5%85%B3%E7%B3%BB_(%E6%95%B0%E5%AD%A6)&amp;variant=zh-cn" TargetMode="External"/><Relationship Id="rId5" Type="http://schemas.openxmlformats.org/officeDocument/2006/relationships/hyperlink" Target="http://en.wikipedia.org/wiki/Predicate_(logic)" TargetMode="External"/><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随着计算机技术在各行各业应用的日益普及</a:t>
            </a:r>
            <a:r>
              <a:rPr lang="en-US" altLang="zh-CN" dirty="0" smtClean="0"/>
              <a:t>,</a:t>
            </a:r>
            <a:r>
              <a:rPr lang="zh-CN" altLang="en-US" dirty="0" smtClean="0"/>
              <a:t>计算机已经渗透到我们工作和生活的方方面面，成为我们工作和生活的一部分，从而极大地促进了社会的发展和生产力的提高。</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与此同时，工作在我们身边的各种计算机系统由于其中的软件系统失效经常表现不尽人意，呈现出脆弱、难以信任的特征，甚至造成不可挽回的损失，因此研究相关的可信软件关键技术以提高软件系统的可信性已经成为十分迫切的需求。</a:t>
            </a:r>
          </a:p>
          <a:p>
            <a:endParaRPr lang="en-US" dirty="0"/>
          </a:p>
        </p:txBody>
      </p:sp>
      <p:sp>
        <p:nvSpPr>
          <p:cNvPr id="4" name="Slide Number Placeholder 3"/>
          <p:cNvSpPr>
            <a:spLocks noGrp="1"/>
          </p:cNvSpPr>
          <p:nvPr>
            <p:ph type="sldNum" sz="quarter" idx="10"/>
          </p:nvPr>
        </p:nvSpPr>
        <p:spPr/>
        <p:txBody>
          <a:bodyPr/>
          <a:lstStyle/>
          <a:p>
            <a:fld id="{D5753C43-58AF-48FD-9726-AF90BDAFB1AD}" type="slidenum">
              <a:rPr lang="zh-CN" altLang="en-US" smtClean="0"/>
              <a:t>3</a:t>
            </a:fld>
            <a:endParaRPr lang="zh-CN" altLang="en-US"/>
          </a:p>
        </p:txBody>
      </p:sp>
    </p:spTree>
    <p:extLst>
      <p:ext uri="{BB962C8B-B14F-4D97-AF65-F5344CB8AC3E}">
        <p14:creationId xmlns:p14="http://schemas.microsoft.com/office/powerpoint/2010/main" val="1144095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FE4F49-4C4C-4094-B578-6FFBF965BFD5}" type="slidenum">
              <a:rPr lang="en-US" altLang="zh-CN"/>
              <a:pPr/>
              <a:t>8</a:t>
            </a:fld>
            <a:endParaRPr lang="en-US" altLang="zh-CN"/>
          </a:p>
        </p:txBody>
      </p:sp>
      <p:sp>
        <p:nvSpPr>
          <p:cNvPr id="250882" name="Rectangle 1026"/>
          <p:cNvSpPr>
            <a:spLocks noGrp="1" noRot="1" noChangeAspect="1" noChangeArrowheads="1" noTextEdit="1"/>
          </p:cNvSpPr>
          <p:nvPr>
            <p:ph type="sldImg"/>
          </p:nvPr>
        </p:nvSpPr>
        <p:spPr>
          <a:xfrm>
            <a:off x="1150938" y="682625"/>
            <a:ext cx="4554537" cy="3416300"/>
          </a:xfrm>
          <a:ln/>
        </p:spPr>
      </p:sp>
      <p:sp>
        <p:nvSpPr>
          <p:cNvPr id="250883" name="Rectangle 1027"/>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6F59B1-EF01-4802-B9C0-C225A503082F}" type="slidenum">
              <a:rPr lang="en-US" altLang="zh-CN"/>
              <a:pPr/>
              <a:t>16</a:t>
            </a:fld>
            <a:endParaRPr lang="en-US" altLang="zh-CN"/>
          </a:p>
        </p:txBody>
      </p:sp>
      <p:sp>
        <p:nvSpPr>
          <p:cNvPr id="252930" name="Rectangle 1026"/>
          <p:cNvSpPr>
            <a:spLocks noGrp="1" noRot="1" noChangeAspect="1" noChangeArrowheads="1" noTextEdit="1"/>
          </p:cNvSpPr>
          <p:nvPr>
            <p:ph type="sldImg"/>
          </p:nvPr>
        </p:nvSpPr>
        <p:spPr>
          <a:xfrm>
            <a:off x="1150938" y="682625"/>
            <a:ext cx="4554537" cy="3416300"/>
          </a:xfrm>
          <a:ln/>
        </p:spPr>
      </p:sp>
      <p:sp>
        <p:nvSpPr>
          <p:cNvPr id="252931" name="Rectangle 1027"/>
          <p:cNvSpPr>
            <a:spLocks noGrp="1" noChangeArrowheads="1"/>
          </p:cNvSpPr>
          <p:nvPr>
            <p:ph type="body" idx="1"/>
          </p:nvPr>
        </p:nvSpPr>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5753C43-58AF-48FD-9726-AF90BDAFB1AD}" type="slidenum">
              <a:rPr lang="zh-CN" altLang="en-US" smtClean="0"/>
              <a:t>21</a:t>
            </a:fld>
            <a:endParaRPr lang="zh-CN" altLang="en-US"/>
          </a:p>
        </p:txBody>
      </p:sp>
    </p:spTree>
    <p:extLst>
      <p:ext uri="{BB962C8B-B14F-4D97-AF65-F5344CB8AC3E}">
        <p14:creationId xmlns:p14="http://schemas.microsoft.com/office/powerpoint/2010/main" val="14936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61CDCE-6255-435A-A42F-2BB3263E168E}" type="slidenum">
              <a:rPr lang="en-US" altLang="zh-CN"/>
              <a:pPr/>
              <a:t>36</a:t>
            </a:fld>
            <a:endParaRPr lang="en-US" altLang="zh-CN"/>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37685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8DAED1-BC9F-426E-8FF1-B70584CD152D}" type="slidenum">
              <a:rPr lang="en-US" altLang="zh-CN"/>
              <a:pPr/>
              <a:t>37</a:t>
            </a:fld>
            <a:endParaRPr lang="en-US" altLang="zh-CN"/>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0536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hlinkClick r:id="rId3" tooltip="命题逻辑"/>
              </a:rPr>
              <a:t>命题逻辑</a:t>
            </a:r>
            <a:r>
              <a:rPr lang="zh-CN" altLang="en-US" dirty="0" smtClean="0"/>
              <a:t>处理简单的陈述性命题，一阶逻辑补充覆盖了</a:t>
            </a:r>
            <a:r>
              <a:rPr lang="zh-CN" altLang="en-US" dirty="0" smtClean="0">
                <a:hlinkClick r:id="rId4" tooltip="关系 (数学)"/>
              </a:rPr>
              <a:t>谓词</a:t>
            </a:r>
            <a:r>
              <a:rPr lang="zh-CN" altLang="en-US" dirty="0" smtClean="0"/>
              <a:t>和量化</a:t>
            </a:r>
            <a:endParaRPr lang="en-US" altLang="zh-CN" dirty="0" smtClean="0"/>
          </a:p>
          <a:p>
            <a:r>
              <a:rPr lang="en-US" dirty="0" smtClean="0"/>
              <a:t>While propositional logic deals with simple declarative propositions, first-order logic additionally covers </a:t>
            </a:r>
            <a:r>
              <a:rPr lang="en-US" dirty="0" smtClean="0">
                <a:hlinkClick r:id="rId5" tooltip="Predicate (logic)"/>
              </a:rPr>
              <a:t>predicates</a:t>
            </a:r>
            <a:r>
              <a:rPr lang="en-US" dirty="0" smtClean="0"/>
              <a:t> and quantification</a:t>
            </a:r>
            <a:endParaRPr lang="zh-CN" altLang="en-US" dirty="0"/>
          </a:p>
        </p:txBody>
      </p:sp>
      <p:sp>
        <p:nvSpPr>
          <p:cNvPr id="4" name="灯片编号占位符 3"/>
          <p:cNvSpPr>
            <a:spLocks noGrp="1"/>
          </p:cNvSpPr>
          <p:nvPr>
            <p:ph type="sldNum" sz="quarter" idx="10"/>
          </p:nvPr>
        </p:nvSpPr>
        <p:spPr/>
        <p:txBody>
          <a:bodyPr/>
          <a:lstStyle/>
          <a:p>
            <a:fld id="{1A5E21F9-E288-4B72-8153-2CCE233D4825}" type="slidenum">
              <a:rPr lang="zh-CN" altLang="en-US" smtClean="0"/>
              <a:pPr/>
              <a:t>57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2.png"/><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headEnd/>
            <a:tailEnd/>
          </a:ln>
          <a:effectLst/>
        </p:spPr>
        <p:txBody>
          <a:bodyPr wrap="none" anchor="ctr"/>
          <a:lstStyle/>
          <a:p>
            <a:pPr>
              <a:lnSpc>
                <a:spcPct val="90000"/>
              </a:lnSpc>
              <a:spcBef>
                <a:spcPct val="20000"/>
              </a:spcBef>
              <a:buClr>
                <a:schemeClr val="tx1"/>
              </a:buClr>
              <a:buSzPct val="60000"/>
              <a:buFont typeface="Wingdings" pitchFamily="2" charset="2"/>
              <a:buChar char="w"/>
              <a:defRPr/>
            </a:pPr>
            <a:endParaRPr lang="zh-CN" altLang="zh-CN">
              <a:latin typeface="Arial" charset="0"/>
              <a:ea typeface="宋体" pitchFamily="2" charset="-122"/>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w="9525">
            <a:noFill/>
            <a:miter lim="800000"/>
            <a:headEnd/>
            <a:tailEnd/>
          </a:ln>
          <a:effectLst/>
        </p:spPr>
        <p:txBody>
          <a:bodyPr wrap="none" anchor="ctr"/>
          <a:lstStyle/>
          <a:p>
            <a:pPr>
              <a:lnSpc>
                <a:spcPct val="90000"/>
              </a:lnSpc>
              <a:spcBef>
                <a:spcPct val="20000"/>
              </a:spcBef>
              <a:buClr>
                <a:schemeClr val="tx1"/>
              </a:buClr>
              <a:buSzPct val="60000"/>
              <a:buFont typeface="Wingdings" pitchFamily="2" charset="2"/>
              <a:buChar char="w"/>
              <a:defRPr/>
            </a:pPr>
            <a:endParaRPr lang="zh-CN" altLang="zh-CN" sz="2400">
              <a:ea typeface="宋体" pitchFamily="2" charset="-122"/>
            </a:endParaRPr>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nSpc>
                <a:spcPct val="90000"/>
              </a:lnSpc>
              <a:spcBef>
                <a:spcPct val="20000"/>
              </a:spcBef>
              <a:buClr>
                <a:schemeClr val="tx1"/>
              </a:buClr>
              <a:buSzPct val="60000"/>
              <a:buFont typeface="Wingdings" pitchFamily="2" charset="2"/>
              <a:buChar char="w"/>
              <a:defRPr/>
            </a:pPr>
            <a:endParaRPr lang="zh-CN" altLang="zh-CN" sz="2400">
              <a:ea typeface="宋体" pitchFamily="2" charset="-122"/>
            </a:endParaRPr>
          </a:p>
        </p:txBody>
      </p:sp>
      <p:pic>
        <p:nvPicPr>
          <p:cNvPr id="7" name="Picture 10" descr="tower"/>
          <p:cNvPicPr>
            <a:picLocks noChangeAspect="1" noChangeArrowheads="1"/>
          </p:cNvPicPr>
          <p:nvPr/>
        </p:nvPicPr>
        <p:blipFill>
          <a:blip r:embed="rId2"/>
          <a:srcRect/>
          <a:stretch>
            <a:fillRect/>
          </a:stretch>
        </p:blipFill>
        <p:spPr bwMode="auto">
          <a:xfrm>
            <a:off x="6542088" y="188913"/>
            <a:ext cx="1990725" cy="1095375"/>
          </a:xfrm>
          <a:prstGeom prst="rect">
            <a:avLst/>
          </a:prstGeom>
          <a:noFill/>
          <a:ln w="9525">
            <a:noFill/>
            <a:miter lim="800000"/>
            <a:headEnd/>
            <a:tailEnd/>
          </a:ln>
        </p:spPr>
      </p:pic>
      <p:pic>
        <p:nvPicPr>
          <p:cNvPr id="8" name="Picture 11" descr="NJU2"/>
          <p:cNvPicPr>
            <a:picLocks noChangeAspect="1" noChangeArrowheads="1"/>
          </p:cNvPicPr>
          <p:nvPr/>
        </p:nvPicPr>
        <p:blipFill>
          <a:blip r:embed="rId3"/>
          <a:srcRect/>
          <a:stretch>
            <a:fillRect/>
          </a:stretch>
        </p:blipFill>
        <p:spPr bwMode="auto">
          <a:xfrm>
            <a:off x="252413" y="260350"/>
            <a:ext cx="2303462" cy="904875"/>
          </a:xfrm>
          <a:prstGeom prst="rect">
            <a:avLst/>
          </a:prstGeom>
          <a:noFill/>
          <a:ln w="9525">
            <a:noFill/>
            <a:miter lim="800000"/>
            <a:headEnd/>
            <a:tailEnd/>
          </a:ln>
        </p:spPr>
      </p:pic>
      <p:pic>
        <p:nvPicPr>
          <p:cNvPr id="9" name="Picture 12"/>
          <p:cNvPicPr>
            <a:picLocks noChangeAspect="1" noChangeArrowheads="1"/>
          </p:cNvPicPr>
          <p:nvPr/>
        </p:nvPicPr>
        <p:blipFill>
          <a:blip r:embed="rId4"/>
          <a:srcRect/>
          <a:stretch>
            <a:fillRect/>
          </a:stretch>
        </p:blipFill>
        <p:spPr bwMode="auto">
          <a:xfrm>
            <a:off x="14288" y="6092825"/>
            <a:ext cx="9117012" cy="28575"/>
          </a:xfrm>
          <a:prstGeom prst="rect">
            <a:avLst/>
          </a:prstGeom>
          <a:noFill/>
          <a:ln w="9525">
            <a:noFill/>
            <a:miter lim="800000"/>
            <a:headEnd/>
            <a:tailEnd/>
          </a:ln>
        </p:spPr>
      </p:pic>
      <p:pic>
        <p:nvPicPr>
          <p:cNvPr id="10" name="Picture 13"/>
          <p:cNvPicPr>
            <a:picLocks noChangeAspect="1" noChangeArrowheads="1"/>
          </p:cNvPicPr>
          <p:nvPr/>
        </p:nvPicPr>
        <p:blipFill>
          <a:blip r:embed="rId4"/>
          <a:srcRect/>
          <a:stretch>
            <a:fillRect/>
          </a:stretch>
        </p:blipFill>
        <p:spPr bwMode="auto">
          <a:xfrm>
            <a:off x="0" y="1268413"/>
            <a:ext cx="9117013" cy="28575"/>
          </a:xfrm>
          <a:prstGeom prst="rect">
            <a:avLst/>
          </a:prstGeom>
          <a:noFill/>
          <a:ln w="9525">
            <a:noFill/>
            <a:miter lim="800000"/>
            <a:headEnd/>
            <a:tailEnd/>
          </a:ln>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itchFamily="2" charset="2"/>
              <a:buNone/>
              <a:defRPr/>
            </a:lvl1pPr>
          </a:lstStyle>
          <a:p>
            <a:r>
              <a:rPr lang="zh-CN" altLang="en-US" smtClean="0"/>
              <a:t>单击此处编辑母版副标题样式</a:t>
            </a:r>
            <a:endParaRPr lang="zh-CN" altLang="en-US"/>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smtClean="0"/>
              <a:t>单击此处编辑母版标题样式</a:t>
            </a:r>
            <a:endParaRPr lang="zh-CN" altLang="en-US"/>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fld id="{AFAC1730-1010-4A8A-9314-45485C63A404}" type="datetimeFigureOut">
              <a:rPr lang="zh-CN" altLang="en-US" smtClean="0"/>
              <a:t>2016/12/18</a:t>
            </a:fld>
            <a:endParaRPr lang="zh-CN" altLang="en-US"/>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endParaRPr lang="zh-CN" altLang="en-US"/>
          </a:p>
        </p:txBody>
      </p:sp>
      <p:sp>
        <p:nvSpPr>
          <p:cNvPr id="13" name="Rectangle 5"/>
          <p:cNvSpPr>
            <a:spLocks noGrp="1" noChangeArrowheads="1"/>
          </p:cNvSpPr>
          <p:nvPr>
            <p:ph type="sldNum" sz="quarter" idx="12"/>
          </p:nvPr>
        </p:nvSpPr>
        <p:spPr/>
        <p:txBody>
          <a:bodyPr/>
          <a:lstStyle>
            <a:lvl1pPr>
              <a:defRPr smtClean="0"/>
            </a:lvl1pPr>
          </a:lstStyle>
          <a:p>
            <a:fld id="{4FDFC2E3-9D29-4A2C-A7B7-F1A34F89984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5" name="Rectangle 8"/>
          <p:cNvSpPr>
            <a:spLocks noGrp="1" noChangeArrowheads="1"/>
          </p:cNvSpPr>
          <p:nvPr>
            <p:ph type="ftr" sz="quarter" idx="11"/>
          </p:nvPr>
        </p:nvSpPr>
        <p:spPr>
          <a:ln/>
        </p:spPr>
        <p:txBody>
          <a:bodyPr/>
          <a:lstStyle>
            <a:lvl1pPr>
              <a:defRPr/>
            </a:lvl1pPr>
          </a:lstStyle>
          <a:p>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5" name="Rectangle 8"/>
          <p:cNvSpPr>
            <a:spLocks noGrp="1" noChangeArrowheads="1"/>
          </p:cNvSpPr>
          <p:nvPr>
            <p:ph type="ftr" sz="quarter" idx="11"/>
          </p:nvPr>
        </p:nvSpPr>
        <p:spPr>
          <a:ln/>
        </p:spPr>
        <p:txBody>
          <a:bodyPr/>
          <a:lstStyle>
            <a:lvl1pPr>
              <a:defRPr/>
            </a:lvl1pPr>
          </a:lstStyle>
          <a:p>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8" name="Rectangle 8"/>
          <p:cNvSpPr>
            <a:spLocks noGrp="1" noChangeArrowheads="1"/>
          </p:cNvSpPr>
          <p:nvPr>
            <p:ph type="ftr" sz="quarter" idx="11"/>
          </p:nvPr>
        </p:nvSpPr>
        <p:spPr>
          <a:ln/>
        </p:spPr>
        <p:txBody>
          <a:bodyPr/>
          <a:lstStyle>
            <a:lvl1pPr>
              <a:defRPr/>
            </a:lvl1pPr>
          </a:lstStyle>
          <a:p>
            <a:endParaRPr lang="zh-CN" altLang="en-US"/>
          </a:p>
        </p:txBody>
      </p:sp>
      <p:sp>
        <p:nvSpPr>
          <p:cNvPr id="9"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4" name="Rectangle 8"/>
          <p:cNvSpPr>
            <a:spLocks noGrp="1" noChangeArrowheads="1"/>
          </p:cNvSpPr>
          <p:nvPr>
            <p:ph type="ftr" sz="quarter" idx="11"/>
          </p:nvPr>
        </p:nvSpPr>
        <p:spPr>
          <a:ln/>
        </p:spPr>
        <p:txBody>
          <a:bodyPr/>
          <a:lstStyle>
            <a:lvl1pPr>
              <a:defRPr/>
            </a:lvl1pPr>
          </a:lstStyle>
          <a:p>
            <a:endParaRPr lang="zh-CN" altLang="en-US"/>
          </a:p>
        </p:txBody>
      </p:sp>
      <p:sp>
        <p:nvSpPr>
          <p:cNvPr id="5"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3" name="Rectangle 8"/>
          <p:cNvSpPr>
            <a:spLocks noGrp="1" noChangeArrowheads="1"/>
          </p:cNvSpPr>
          <p:nvPr>
            <p:ph type="ftr" sz="quarter" idx="11"/>
          </p:nvPr>
        </p:nvSpPr>
        <p:spPr>
          <a:ln/>
        </p:spPr>
        <p:txBody>
          <a:bodyPr/>
          <a:lstStyle>
            <a:lvl1pPr>
              <a:defRPr/>
            </a:lvl1pPr>
          </a:lstStyle>
          <a:p>
            <a:endParaRPr lang="zh-CN" altLang="en-US"/>
          </a:p>
        </p:txBody>
      </p:sp>
      <p:sp>
        <p:nvSpPr>
          <p:cNvPr id="4"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6" name="Rectangle 8"/>
          <p:cNvSpPr>
            <a:spLocks noGrp="1" noChangeArrowheads="1"/>
          </p:cNvSpPr>
          <p:nvPr>
            <p:ph type="ftr" sz="quarter" idx="11"/>
          </p:nvPr>
        </p:nvSpPr>
        <p:spPr>
          <a:ln/>
        </p:spPr>
        <p:txBody>
          <a:bodyPr/>
          <a:lstStyle>
            <a:lvl1pPr>
              <a:defRPr/>
            </a:lvl1pPr>
          </a:lstStyle>
          <a:p>
            <a:endParaRPr lang="zh-CN" altLang="en-US"/>
          </a:p>
        </p:txBody>
      </p:sp>
      <p:sp>
        <p:nvSpPr>
          <p:cNvPr id="7"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5" name="Rectangle 8"/>
          <p:cNvSpPr>
            <a:spLocks noGrp="1" noChangeArrowheads="1"/>
          </p:cNvSpPr>
          <p:nvPr>
            <p:ph type="ftr" sz="quarter" idx="11"/>
          </p:nvPr>
        </p:nvSpPr>
        <p:spPr>
          <a:ln/>
        </p:spPr>
        <p:txBody>
          <a:bodyPr/>
          <a:lstStyle>
            <a:lvl1pPr>
              <a:defRPr/>
            </a:lvl1pPr>
          </a:lstStyle>
          <a:p>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7"/>
          <p:cNvSpPr>
            <a:spLocks noGrp="1" noChangeArrowheads="1"/>
          </p:cNvSpPr>
          <p:nvPr>
            <p:ph type="dt" sz="half" idx="10"/>
          </p:nvPr>
        </p:nvSpPr>
        <p:spPr>
          <a:ln/>
        </p:spPr>
        <p:txBody>
          <a:bodyPr/>
          <a:lstStyle>
            <a:lvl1pPr>
              <a:defRPr/>
            </a:lvl1pPr>
          </a:lstStyle>
          <a:p>
            <a:fld id="{AFAC1730-1010-4A8A-9314-45485C63A404}" type="datetimeFigureOut">
              <a:rPr lang="zh-CN" altLang="en-US" smtClean="0"/>
              <a:t>2016/12/18</a:t>
            </a:fld>
            <a:endParaRPr lang="zh-CN" altLang="en-US"/>
          </a:p>
        </p:txBody>
      </p:sp>
      <p:sp>
        <p:nvSpPr>
          <p:cNvPr id="5" name="Rectangle 8"/>
          <p:cNvSpPr>
            <a:spLocks noGrp="1" noChangeArrowheads="1"/>
          </p:cNvSpPr>
          <p:nvPr>
            <p:ph type="ftr" sz="quarter" idx="11"/>
          </p:nvPr>
        </p:nvSpPr>
        <p:spPr>
          <a:ln/>
        </p:spPr>
        <p:txBody>
          <a:bodyPr/>
          <a:lstStyle>
            <a:lvl1pPr>
              <a:defRPr/>
            </a:lvl1pPr>
          </a:lstStyle>
          <a:p>
            <a:endParaRPr lang="zh-CN" altLang="en-US"/>
          </a:p>
        </p:txBody>
      </p:sp>
      <p:sp>
        <p:nvSpPr>
          <p:cNvPr id="6" name="Rectangle 9"/>
          <p:cNvSpPr>
            <a:spLocks noGrp="1" noChangeArrowheads="1"/>
          </p:cNvSpPr>
          <p:nvPr>
            <p:ph type="sldNum" sz="quarter" idx="12"/>
          </p:nvPr>
        </p:nvSpPr>
        <p:spPr>
          <a:ln/>
        </p:spPr>
        <p:txBody>
          <a:bodyPr/>
          <a:lstStyle>
            <a:lvl1pPr>
              <a:defRPr/>
            </a:lvl1pPr>
          </a:lstStyle>
          <a:p>
            <a:fld id="{4FDFC2E3-9D29-4A2C-A7B7-F1A34F89984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4" Type="http://schemas.openxmlformats.org/officeDocument/2006/relationships/image" Target="../media/image2.png"/><Relationship Id="rId1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8418" name="Rectangle 2"/>
          <p:cNvSpPr>
            <a:spLocks noChangeArrowheads="1"/>
          </p:cNvSpPr>
          <p:nvPr/>
        </p:nvSpPr>
        <p:spPr bwMode="auto">
          <a:xfrm>
            <a:off x="0" y="1125538"/>
            <a:ext cx="2133600" cy="101600"/>
          </a:xfrm>
          <a:prstGeom prst="rect">
            <a:avLst/>
          </a:prstGeom>
          <a:solidFill>
            <a:schemeClr val="accent2"/>
          </a:solidFill>
          <a:ln w="9525">
            <a:noFill/>
            <a:miter lim="800000"/>
            <a:headEnd/>
            <a:tailEnd/>
          </a:ln>
          <a:effectLst/>
        </p:spPr>
        <p:txBody>
          <a:bodyPr wrap="none" anchor="ctr"/>
          <a:lstStyle/>
          <a:p>
            <a:pPr>
              <a:lnSpc>
                <a:spcPct val="90000"/>
              </a:lnSpc>
              <a:spcBef>
                <a:spcPct val="20000"/>
              </a:spcBef>
              <a:buClr>
                <a:schemeClr val="tx1"/>
              </a:buClr>
              <a:buSzPct val="60000"/>
              <a:buFont typeface="Wingdings" pitchFamily="2" charset="2"/>
              <a:buChar char="w"/>
              <a:defRPr/>
            </a:pPr>
            <a:endParaRPr lang="zh-CN" altLang="zh-CN" sz="2400">
              <a:ea typeface="宋体" pitchFamily="2" charset="-122"/>
            </a:endParaRPr>
          </a:p>
        </p:txBody>
      </p:sp>
      <p:sp>
        <p:nvSpPr>
          <p:cNvPr id="188419"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nSpc>
                <a:spcPct val="90000"/>
              </a:lnSpc>
              <a:spcBef>
                <a:spcPct val="20000"/>
              </a:spcBef>
              <a:buClr>
                <a:schemeClr val="tx1"/>
              </a:buClr>
              <a:buSzPct val="60000"/>
              <a:buFont typeface="Wingdings" pitchFamily="2" charset="2"/>
              <a:buChar char="w"/>
              <a:defRPr/>
            </a:pPr>
            <a:endParaRPr lang="zh-CN" altLang="zh-CN" sz="2400">
              <a:ea typeface="宋体" pitchFamily="2" charset="-122"/>
            </a:endParaRPr>
          </a:p>
        </p:txBody>
      </p:sp>
      <p:sp>
        <p:nvSpPr>
          <p:cNvPr id="1028" name="Rectangle 4"/>
          <p:cNvSpPr>
            <a:spLocks noGrp="1" noChangeArrowheads="1"/>
          </p:cNvSpPr>
          <p:nvPr>
            <p:ph type="title"/>
          </p:nvPr>
        </p:nvSpPr>
        <p:spPr bwMode="auto">
          <a:xfrm>
            <a:off x="1042988" y="404813"/>
            <a:ext cx="5616575" cy="57626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pic>
        <p:nvPicPr>
          <p:cNvPr id="1030" name="Picture 6" descr="tower"/>
          <p:cNvPicPr>
            <a:picLocks noChangeAspect="1" noChangeArrowheads="1"/>
          </p:cNvPicPr>
          <p:nvPr/>
        </p:nvPicPr>
        <p:blipFill>
          <a:blip r:embed="rId13"/>
          <a:srcRect/>
          <a:stretch>
            <a:fillRect/>
          </a:stretch>
        </p:blipFill>
        <p:spPr bwMode="auto">
          <a:xfrm>
            <a:off x="6542088" y="188913"/>
            <a:ext cx="1990725" cy="1095375"/>
          </a:xfrm>
          <a:prstGeom prst="rect">
            <a:avLst/>
          </a:prstGeom>
          <a:noFill/>
          <a:ln w="9525">
            <a:noFill/>
            <a:miter lim="800000"/>
            <a:headEnd/>
            <a:tailEnd/>
          </a:ln>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90000"/>
              </a:lnSpc>
              <a:spcBef>
                <a:spcPct val="20000"/>
              </a:spcBef>
              <a:buClr>
                <a:schemeClr val="tx1"/>
              </a:buClr>
              <a:buSzPct val="60000"/>
              <a:buFont typeface="Wingdings" pitchFamily="2" charset="2"/>
              <a:buChar char="w"/>
              <a:defRPr sz="1600">
                <a:latin typeface="+mn-lt"/>
                <a:ea typeface="宋体" pitchFamily="2" charset="-122"/>
              </a:defRPr>
            </a:lvl1pPr>
          </a:lstStyle>
          <a:p>
            <a:fld id="{AFAC1730-1010-4A8A-9314-45485C63A404}" type="datetimeFigureOut">
              <a:rPr lang="zh-CN" altLang="en-US" smtClean="0"/>
              <a:t>2016/12/18</a:t>
            </a:fld>
            <a:endParaRPr lang="zh-CN" altLang="en-US"/>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90000"/>
              </a:lnSpc>
              <a:spcBef>
                <a:spcPct val="20000"/>
              </a:spcBef>
              <a:buClr>
                <a:schemeClr val="tx1"/>
              </a:buClr>
              <a:buSzPct val="60000"/>
              <a:buFont typeface="Wingdings" pitchFamily="2" charset="2"/>
              <a:buChar char="w"/>
              <a:defRPr sz="1600">
                <a:latin typeface="+mn-lt"/>
                <a:ea typeface="宋体" pitchFamily="2" charset="-122"/>
              </a:defRPr>
            </a:lvl1pPr>
          </a:lstStyle>
          <a:p>
            <a:endParaRPr lang="zh-CN" altLang="en-US"/>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90000"/>
              </a:lnSpc>
              <a:spcBef>
                <a:spcPct val="20000"/>
              </a:spcBef>
              <a:buClr>
                <a:schemeClr val="tx1"/>
              </a:buClr>
              <a:buSzPct val="60000"/>
              <a:buFont typeface="Wingdings" pitchFamily="2" charset="2"/>
              <a:buChar char="w"/>
              <a:defRPr sz="1600" smtClean="0">
                <a:latin typeface="+mn-lt"/>
                <a:ea typeface="宋体" pitchFamily="2" charset="-122"/>
              </a:defRPr>
            </a:lvl1pPr>
          </a:lstStyle>
          <a:p>
            <a:fld id="{4FDFC2E3-9D29-4A2C-A7B7-F1A34F89984C}" type="slidenum">
              <a:rPr lang="zh-CN" altLang="en-US" smtClean="0"/>
              <a:t>‹#›</a:t>
            </a:fld>
            <a:endParaRPr lang="zh-CN" altLang="en-US"/>
          </a:p>
        </p:txBody>
      </p:sp>
      <p:pic>
        <p:nvPicPr>
          <p:cNvPr id="1034" name="Picture 10"/>
          <p:cNvPicPr>
            <a:picLocks noChangeAspect="1" noChangeArrowheads="1"/>
          </p:cNvPicPr>
          <p:nvPr/>
        </p:nvPicPr>
        <p:blipFill>
          <a:blip r:embed="rId14"/>
          <a:srcRect/>
          <a:stretch>
            <a:fillRect/>
          </a:stretch>
        </p:blipFill>
        <p:spPr bwMode="auto">
          <a:xfrm>
            <a:off x="14288" y="6092825"/>
            <a:ext cx="9117012" cy="28575"/>
          </a:xfrm>
          <a:prstGeom prst="rect">
            <a:avLst/>
          </a:prstGeom>
          <a:noFill/>
          <a:ln w="9525">
            <a:noFill/>
            <a:miter lim="800000"/>
            <a:headEnd/>
            <a:tailEnd/>
          </a:ln>
        </p:spPr>
      </p:pic>
      <p:pic>
        <p:nvPicPr>
          <p:cNvPr id="1035" name="Picture 11" descr="校徽"/>
          <p:cNvPicPr>
            <a:picLocks noChangeAspect="1" noChangeArrowheads="1"/>
          </p:cNvPicPr>
          <p:nvPr/>
        </p:nvPicPr>
        <p:blipFill>
          <a:blip r:embed="rId15"/>
          <a:srcRect/>
          <a:stretch>
            <a:fillRect/>
          </a:stretch>
        </p:blipFill>
        <p:spPr bwMode="auto">
          <a:xfrm>
            <a:off x="306388" y="261938"/>
            <a:ext cx="665162" cy="7905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3200">
          <a:solidFill>
            <a:schemeClr val="tx1"/>
          </a:solidFill>
          <a:latin typeface="+mj-lt"/>
          <a:ea typeface="+mj-ea"/>
          <a:cs typeface="+mj-cs"/>
        </a:defRPr>
      </a:lvl1pPr>
      <a:lvl2pPr algn="ctr" rtl="0" eaLnBrk="1" fontAlgn="base" hangingPunct="1">
        <a:spcBef>
          <a:spcPct val="0"/>
        </a:spcBef>
        <a:spcAft>
          <a:spcPct val="0"/>
        </a:spcAft>
        <a:defRPr sz="3200">
          <a:solidFill>
            <a:schemeClr val="tx1"/>
          </a:solidFill>
          <a:latin typeface="Arial" charset="0"/>
          <a:ea typeface="宋体" pitchFamily="2" charset="-122"/>
        </a:defRPr>
      </a:lvl2pPr>
      <a:lvl3pPr algn="ctr" rtl="0" eaLnBrk="1" fontAlgn="base" hangingPunct="1">
        <a:spcBef>
          <a:spcPct val="0"/>
        </a:spcBef>
        <a:spcAft>
          <a:spcPct val="0"/>
        </a:spcAft>
        <a:defRPr sz="3200">
          <a:solidFill>
            <a:schemeClr val="tx1"/>
          </a:solidFill>
          <a:latin typeface="Arial" charset="0"/>
          <a:ea typeface="宋体" pitchFamily="2" charset="-122"/>
        </a:defRPr>
      </a:lvl3pPr>
      <a:lvl4pPr algn="ctr" rtl="0" eaLnBrk="1" fontAlgn="base" hangingPunct="1">
        <a:spcBef>
          <a:spcPct val="0"/>
        </a:spcBef>
        <a:spcAft>
          <a:spcPct val="0"/>
        </a:spcAft>
        <a:defRPr sz="3200">
          <a:solidFill>
            <a:schemeClr val="tx1"/>
          </a:solidFill>
          <a:latin typeface="Arial" charset="0"/>
          <a:ea typeface="宋体" pitchFamily="2" charset="-122"/>
        </a:defRPr>
      </a:lvl4pPr>
      <a:lvl5pPr algn="ctr" rtl="0" eaLnBrk="1" fontAlgn="base" hangingPunct="1">
        <a:spcBef>
          <a:spcPct val="0"/>
        </a:spcBef>
        <a:spcAft>
          <a:spcPct val="0"/>
        </a:spcAft>
        <a:defRPr sz="3200">
          <a:solidFill>
            <a:schemeClr val="tx1"/>
          </a:solidFill>
          <a:latin typeface="Arial" charset="0"/>
          <a:ea typeface="宋体" pitchFamily="2" charset="-122"/>
        </a:defRPr>
      </a:lvl5pPr>
      <a:lvl6pPr marL="457200" algn="ctr" rtl="0" eaLnBrk="1" fontAlgn="base" hangingPunct="1">
        <a:spcBef>
          <a:spcPct val="0"/>
        </a:spcBef>
        <a:spcAft>
          <a:spcPct val="0"/>
        </a:spcAft>
        <a:defRPr sz="3200">
          <a:solidFill>
            <a:schemeClr val="tx1"/>
          </a:solidFill>
          <a:latin typeface="Arial" charset="0"/>
          <a:ea typeface="宋体" pitchFamily="2" charset="-122"/>
        </a:defRPr>
      </a:lvl6pPr>
      <a:lvl7pPr marL="914400" algn="ctr" rtl="0" eaLnBrk="1" fontAlgn="base" hangingPunct="1">
        <a:spcBef>
          <a:spcPct val="0"/>
        </a:spcBef>
        <a:spcAft>
          <a:spcPct val="0"/>
        </a:spcAft>
        <a:defRPr sz="3200">
          <a:solidFill>
            <a:schemeClr val="tx1"/>
          </a:solidFill>
          <a:latin typeface="Arial" charset="0"/>
          <a:ea typeface="宋体" pitchFamily="2" charset="-122"/>
        </a:defRPr>
      </a:lvl7pPr>
      <a:lvl8pPr marL="1371600" algn="ctr" rtl="0" eaLnBrk="1" fontAlgn="base" hangingPunct="1">
        <a:spcBef>
          <a:spcPct val="0"/>
        </a:spcBef>
        <a:spcAft>
          <a:spcPct val="0"/>
        </a:spcAft>
        <a:defRPr sz="3200">
          <a:solidFill>
            <a:schemeClr val="tx1"/>
          </a:solidFill>
          <a:latin typeface="Arial" charset="0"/>
          <a:ea typeface="宋体" pitchFamily="2" charset="-122"/>
        </a:defRPr>
      </a:lvl8pPr>
      <a:lvl9pPr marL="1828800" algn="ctr" rtl="0" eaLnBrk="1" fontAlgn="base" hangingPunct="1">
        <a:spcBef>
          <a:spcPct val="0"/>
        </a:spcBef>
        <a:spcAft>
          <a:spcPct val="0"/>
        </a:spcAft>
        <a:defRPr sz="3200">
          <a:solidFill>
            <a:schemeClr val="tx1"/>
          </a:solidFill>
          <a:latin typeface="Arial" charset="0"/>
          <a:ea typeface="宋体" pitchFamily="2" charset="-122"/>
        </a:defRPr>
      </a:lvl9pPr>
    </p:titleStyle>
    <p:bodyStyle>
      <a:lvl1pPr marL="447675" indent="-447675" algn="l" rtl="0" eaLnBrk="1" fontAlgn="base" hangingPunct="1">
        <a:spcBef>
          <a:spcPct val="20000"/>
        </a:spcBef>
        <a:spcAft>
          <a:spcPct val="0"/>
        </a:spcAft>
        <a:buClr>
          <a:schemeClr val="accent1"/>
        </a:buClr>
        <a:buSzPct val="70000"/>
        <a:buFont typeface="Wingdings" pitchFamily="2" charset="2"/>
        <a:buChar char="n"/>
        <a:defRPr sz="2800">
          <a:solidFill>
            <a:schemeClr val="tx1"/>
          </a:solidFill>
          <a:latin typeface="+mn-lt"/>
          <a:ea typeface="+mn-ea"/>
          <a:cs typeface="+mn-cs"/>
        </a:defRPr>
      </a:lvl1pPr>
      <a:lvl2pPr marL="889000" indent="-439738" algn="l" rtl="0" eaLnBrk="1" fontAlgn="base" hangingPunct="1">
        <a:spcBef>
          <a:spcPct val="20000"/>
        </a:spcBef>
        <a:spcAft>
          <a:spcPct val="0"/>
        </a:spcAft>
        <a:buClr>
          <a:schemeClr val="hlink"/>
        </a:buClr>
        <a:buSzPct val="65000"/>
        <a:buFont typeface="Wingdings" pitchFamily="2" charset="2"/>
        <a:buChar char="¡"/>
        <a:defRPr sz="2400">
          <a:solidFill>
            <a:schemeClr val="tx1"/>
          </a:solidFill>
          <a:latin typeface="+mn-lt"/>
          <a:ea typeface="+mn-ea"/>
        </a:defRPr>
      </a:lvl2pPr>
      <a:lvl3pPr marL="1293813" indent="-403225" algn="l" rtl="0" eaLnBrk="1" fontAlgn="base" hangingPunct="1">
        <a:spcBef>
          <a:spcPct val="20000"/>
        </a:spcBef>
        <a:spcAft>
          <a:spcPct val="0"/>
        </a:spcAft>
        <a:buClr>
          <a:schemeClr val="accent1"/>
        </a:buClr>
        <a:buSzPct val="70000"/>
        <a:buFont typeface="Wingdings" pitchFamily="2" charset="2"/>
        <a:buChar char="n"/>
        <a:defRPr sz="2000">
          <a:solidFill>
            <a:schemeClr val="tx1"/>
          </a:solidFill>
          <a:latin typeface="+mn-lt"/>
          <a:ea typeface="+mn-ea"/>
        </a:defRPr>
      </a:lvl3pPr>
      <a:lvl4pPr marL="1681163" indent="-385763" algn="l" rtl="0" eaLnBrk="1" fontAlgn="base" hangingPunct="1">
        <a:spcBef>
          <a:spcPct val="20000"/>
        </a:spcBef>
        <a:spcAft>
          <a:spcPct val="0"/>
        </a:spcAft>
        <a:buClr>
          <a:schemeClr val="hlink"/>
        </a:buClr>
        <a:buSzPct val="75000"/>
        <a:buFont typeface="Wingdings" pitchFamily="2" charset="2"/>
        <a:buChar char="¡"/>
        <a:defRPr sz="2000">
          <a:solidFill>
            <a:schemeClr val="tx1"/>
          </a:solidFill>
          <a:latin typeface="+mn-lt"/>
          <a:ea typeface="+mn-ea"/>
        </a:defRPr>
      </a:lvl4pPr>
      <a:lvl5pPr marL="20701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5pPr>
      <a:lvl6pPr marL="25273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 Id="rId3"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13.wmf"/><Relationship Id="rId5" Type="http://schemas.openxmlformats.org/officeDocument/2006/relationships/oleObject" Target="../embeddings/oleObject2.bin"/><Relationship Id="rId6" Type="http://schemas.openxmlformats.org/officeDocument/2006/relationships/image" Target="../media/image14.wmf"/><Relationship Id="rId7" Type="http://schemas.openxmlformats.org/officeDocument/2006/relationships/oleObject" Target="../embeddings/oleObject3.bin"/><Relationship Id="rId8" Type="http://schemas.openxmlformats.org/officeDocument/2006/relationships/image" Target="../media/image15.w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16.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bin"/><Relationship Id="rId4" Type="http://schemas.openxmlformats.org/officeDocument/2006/relationships/image" Target="../media/image18.e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6.bin"/><Relationship Id="rId4" Type="http://schemas.openxmlformats.org/officeDocument/2006/relationships/image" Target="../media/image23.wmf"/><Relationship Id="rId5" Type="http://schemas.openxmlformats.org/officeDocument/2006/relationships/oleObject" Target="../embeddings/oleObject7.bin"/><Relationship Id="rId6" Type="http://schemas.openxmlformats.org/officeDocument/2006/relationships/oleObject" Target="../embeddings/oleObject8.bin"/><Relationship Id="rId7" Type="http://schemas.openxmlformats.org/officeDocument/2006/relationships/image" Target="../media/image24.wmf"/><Relationship Id="rId8" Type="http://schemas.openxmlformats.org/officeDocument/2006/relationships/oleObject" Target="../embeddings/oleObject9.bin"/><Relationship Id="rId9" Type="http://schemas.openxmlformats.org/officeDocument/2006/relationships/oleObject" Target="../embeddings/oleObject10.bin"/><Relationship Id="rId1" Type="http://schemas.openxmlformats.org/officeDocument/2006/relationships/vmlDrawing" Target="../drawings/vmlDrawing4.vml"/><Relationship Id="rId2"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1.bin"/><Relationship Id="rId4" Type="http://schemas.openxmlformats.org/officeDocument/2006/relationships/image" Target="../media/image25.wmf"/><Relationship Id="rId5" Type="http://schemas.openxmlformats.org/officeDocument/2006/relationships/oleObject" Target="../embeddings/oleObject12.bin"/><Relationship Id="rId6" Type="http://schemas.openxmlformats.org/officeDocument/2006/relationships/image" Target="../media/image26.wmf"/><Relationship Id="rId1" Type="http://schemas.openxmlformats.org/officeDocument/2006/relationships/vmlDrawing" Target="../drawings/vmlDrawing5.vml"/><Relationship Id="rId2"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3.bin"/><Relationship Id="rId4" Type="http://schemas.openxmlformats.org/officeDocument/2006/relationships/image" Target="../media/image27.wmf"/><Relationship Id="rId1" Type="http://schemas.openxmlformats.org/officeDocument/2006/relationships/vmlDrawing" Target="../drawings/vmlDrawing6.vml"/><Relationship Id="rId2"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4.bin"/><Relationship Id="rId4" Type="http://schemas.openxmlformats.org/officeDocument/2006/relationships/image" Target="../media/image28.wmf"/><Relationship Id="rId1" Type="http://schemas.openxmlformats.org/officeDocument/2006/relationships/vmlDrawing" Target="../drawings/vmlDrawing7.vml"/><Relationship Id="rId2"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1" Type="http://schemas.openxmlformats.org/officeDocument/2006/relationships/oleObject" Target="../embeddings/oleObject19.bin"/><Relationship Id="rId12" Type="http://schemas.openxmlformats.org/officeDocument/2006/relationships/image" Target="../media/image33.wmf"/><Relationship Id="rId1" Type="http://schemas.openxmlformats.org/officeDocument/2006/relationships/vmlDrawing" Target="../drawings/vmlDrawing8.vml"/><Relationship Id="rId2" Type="http://schemas.openxmlformats.org/officeDocument/2006/relationships/slideLayout" Target="../slideLayouts/slideLayout6.xml"/><Relationship Id="rId3" Type="http://schemas.openxmlformats.org/officeDocument/2006/relationships/oleObject" Target="../embeddings/oleObject15.bin"/><Relationship Id="rId4" Type="http://schemas.openxmlformats.org/officeDocument/2006/relationships/image" Target="../media/image29.wmf"/><Relationship Id="rId5" Type="http://schemas.openxmlformats.org/officeDocument/2006/relationships/oleObject" Target="../embeddings/oleObject16.bin"/><Relationship Id="rId6" Type="http://schemas.openxmlformats.org/officeDocument/2006/relationships/image" Target="../media/image30.wmf"/><Relationship Id="rId7" Type="http://schemas.openxmlformats.org/officeDocument/2006/relationships/oleObject" Target="../embeddings/oleObject17.bin"/><Relationship Id="rId8" Type="http://schemas.openxmlformats.org/officeDocument/2006/relationships/image" Target="../media/image31.wmf"/><Relationship Id="rId9" Type="http://schemas.openxmlformats.org/officeDocument/2006/relationships/oleObject" Target="../embeddings/oleObject18.bin"/><Relationship Id="rId10" Type="http://schemas.openxmlformats.org/officeDocument/2006/relationships/image" Target="../media/image32.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emf"/><Relationship Id="rId4" Type="http://schemas.openxmlformats.org/officeDocument/2006/relationships/image" Target="../media/image36.jpeg"/><Relationship Id="rId5" Type="http://schemas.openxmlformats.org/officeDocument/2006/relationships/image" Target="../media/image37.emf"/><Relationship Id="rId1" Type="http://schemas.openxmlformats.org/officeDocument/2006/relationships/slideLayout" Target="../slideLayouts/slideLayout2.xml"/><Relationship Id="rId2" Type="http://schemas.openxmlformats.org/officeDocument/2006/relationships/image" Target="../media/image34.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jpeg"/><Relationship Id="rId3" Type="http://schemas.openxmlformats.org/officeDocument/2006/relationships/image" Target="../media/image39.jpeg"/></Relationships>
</file>

<file path=ppt/slides/_rels/slide61.xml.rels><?xml version="1.0" encoding="UTF-8" standalone="yes"?>
<Relationships xmlns="http://schemas.openxmlformats.org/package/2006/relationships"><Relationship Id="rId3" Type="http://schemas.openxmlformats.org/officeDocument/2006/relationships/image" Target="../media/image41.jpeg"/><Relationship Id="rId4" Type="http://schemas.openxmlformats.org/officeDocument/2006/relationships/image" Target="../media/image42.jpeg"/><Relationship Id="rId5" Type="http://schemas.openxmlformats.org/officeDocument/2006/relationships/image" Target="../media/image43.tiff"/><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gif"/><Relationship Id="rId7" Type="http://schemas.openxmlformats.org/officeDocument/2006/relationships/image" Target="../media/image49.png"/><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64.xml.rels><?xml version="1.0" encoding="UTF-8" standalone="yes"?>
<Relationships xmlns="http://schemas.openxmlformats.org/package/2006/relationships"><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jpeg"/><Relationship Id="rId6" Type="http://schemas.openxmlformats.org/officeDocument/2006/relationships/image" Target="../media/image54.jpeg"/><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65.xml.rels><?xml version="1.0" encoding="UTF-8" standalone="yes"?>
<Relationships xmlns="http://schemas.openxmlformats.org/package/2006/relationships"><Relationship Id="rId3" Type="http://schemas.openxmlformats.org/officeDocument/2006/relationships/image" Target="../media/image56.jpeg"/><Relationship Id="rId4" Type="http://schemas.openxmlformats.org/officeDocument/2006/relationships/image" Target="../media/image57.jpeg"/><Relationship Id="rId5" Type="http://schemas.openxmlformats.org/officeDocument/2006/relationships/image" Target="../media/image58.jpeg"/><Relationship Id="rId1" Type="http://schemas.openxmlformats.org/officeDocument/2006/relationships/slideLayout" Target="../slideLayouts/slideLayout2.xml"/><Relationship Id="rId2" Type="http://schemas.openxmlformats.org/officeDocument/2006/relationships/image" Target="../media/image55.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jpg"/><Relationship Id="rId3" Type="http://schemas.openxmlformats.org/officeDocument/2006/relationships/image" Target="../media/image60.png"/></Relationships>
</file>

<file path=ppt/slides/_rels/slide67.xml.rels><?xml version="1.0" encoding="UTF-8" standalone="yes"?>
<Relationships xmlns="http://schemas.openxmlformats.org/package/2006/relationships"><Relationship Id="rId3" Type="http://schemas.openxmlformats.org/officeDocument/2006/relationships/image" Target="../media/image61.png"/><Relationship Id="rId4" Type="http://schemas.openxmlformats.org/officeDocument/2006/relationships/image" Target="../media/image62.jpeg"/><Relationship Id="rId1" Type="http://schemas.openxmlformats.org/officeDocument/2006/relationships/slideLayout" Target="../slideLayouts/slideLayout2.xml"/><Relationship Id="rId2" Type="http://schemas.openxmlformats.org/officeDocument/2006/relationships/image" Target="../media/image12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4" Type="http://schemas.openxmlformats.org/officeDocument/2006/relationships/image" Target="../media/image65.tiff"/><Relationship Id="rId1" Type="http://schemas.openxmlformats.org/officeDocument/2006/relationships/slideLayout" Target="../slideLayouts/slideLayout2.xml"/><Relationship Id="rId2" Type="http://schemas.openxmlformats.org/officeDocument/2006/relationships/image" Target="../media/image63.tif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r>
              <a:rPr lang="en-US" altLang="zh-CN" dirty="0" smtClean="0"/>
              <a:t>                   Lei  Bu</a:t>
            </a:r>
            <a:endParaRPr lang="zh-CN" altLang="en-US" dirty="0"/>
          </a:p>
        </p:txBody>
      </p:sp>
      <p:sp>
        <p:nvSpPr>
          <p:cNvPr id="2" name="标题 1"/>
          <p:cNvSpPr>
            <a:spLocks noGrp="1"/>
          </p:cNvSpPr>
          <p:nvPr>
            <p:ph type="ctrTitle"/>
          </p:nvPr>
        </p:nvSpPr>
        <p:spPr/>
        <p:txBody>
          <a:bodyPr/>
          <a:lstStyle/>
          <a:p>
            <a:r>
              <a:rPr lang="en-US" altLang="zh-CN" dirty="0" smtClean="0"/>
              <a:t>Model Checking</a:t>
            </a:r>
            <a:endParaRPr lang="zh-CN" altLang="en-US" dirty="0"/>
          </a:p>
        </p:txBody>
      </p:sp>
    </p:spTree>
    <p:extLst>
      <p:ext uri="{BB962C8B-B14F-4D97-AF65-F5344CB8AC3E}">
        <p14:creationId xmlns:p14="http://schemas.microsoft.com/office/powerpoint/2010/main" val="2485770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大纲</a:t>
            </a:r>
            <a:endParaRPr lang="en-US" dirty="0"/>
          </a:p>
        </p:txBody>
      </p:sp>
      <p:sp>
        <p:nvSpPr>
          <p:cNvPr id="3" name="Content Placeholder 2"/>
          <p:cNvSpPr>
            <a:spLocks noGrp="1"/>
          </p:cNvSpPr>
          <p:nvPr>
            <p:ph idx="1"/>
          </p:nvPr>
        </p:nvSpPr>
        <p:spPr/>
        <p:txBody>
          <a:bodyPr/>
          <a:lstStyle/>
          <a:p>
            <a:r>
              <a:rPr lang="zh-CN" altLang="en-US" dirty="0" smtClean="0"/>
              <a:t>为什么模型检验？</a:t>
            </a:r>
            <a:endParaRPr lang="en-US" altLang="zh-CN" dirty="0" smtClean="0"/>
          </a:p>
          <a:p>
            <a:r>
              <a:rPr lang="zh-CN" altLang="en-US" dirty="0" smtClean="0"/>
              <a:t>什么是模型检验？</a:t>
            </a:r>
            <a:endParaRPr lang="en-US" altLang="zh-CN" dirty="0" smtClean="0"/>
          </a:p>
          <a:p>
            <a:r>
              <a:rPr lang="zh-CN" altLang="en-US" dirty="0" smtClean="0"/>
              <a:t>怎么做模型检验？</a:t>
            </a:r>
            <a:endParaRPr lang="en-US" altLang="zh-CN" dirty="0" smtClean="0"/>
          </a:p>
          <a:p>
            <a:r>
              <a:rPr lang="zh-CN" altLang="en-US" dirty="0" smtClean="0"/>
              <a:t>更高更快更强</a:t>
            </a:r>
            <a:endParaRPr lang="en-US" altLang="zh-CN" dirty="0" smtClean="0"/>
          </a:p>
          <a:p>
            <a:r>
              <a:rPr lang="zh-CN" altLang="en-US" dirty="0" smtClean="0"/>
              <a:t>复杂系统模型检验</a:t>
            </a:r>
            <a:endParaRPr lang="en-US" dirty="0"/>
          </a:p>
        </p:txBody>
      </p:sp>
    </p:spTree>
    <p:extLst>
      <p:ext uri="{BB962C8B-B14F-4D97-AF65-F5344CB8AC3E}">
        <p14:creationId xmlns:p14="http://schemas.microsoft.com/office/powerpoint/2010/main" val="12545446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8313" y="1484312"/>
            <a:ext cx="5543847" cy="4536975"/>
          </a:xfrm>
        </p:spPr>
        <p:txBody>
          <a:bodyPr>
            <a:normAutofit/>
          </a:bodyPr>
          <a:lstStyle/>
          <a:p>
            <a:r>
              <a:rPr lang="zh-CN" altLang="en-US" dirty="0" smtClean="0"/>
              <a:t>计算机已经渗透到我们</a:t>
            </a:r>
            <a:r>
              <a:rPr lang="zh-CN" altLang="en-US" dirty="0"/>
              <a:t>工作和生活的方方</a:t>
            </a:r>
            <a:r>
              <a:rPr lang="zh-CN" altLang="en-US" dirty="0" smtClean="0"/>
              <a:t>面面，极大地促进</a:t>
            </a:r>
            <a:r>
              <a:rPr lang="zh-CN" altLang="en-US" dirty="0"/>
              <a:t>了社会的发展和生产力的提高。</a:t>
            </a:r>
          </a:p>
          <a:p>
            <a:endParaRPr lang="en-US" altLang="zh-CN" dirty="0"/>
          </a:p>
          <a:p>
            <a:r>
              <a:rPr lang="zh-CN" altLang="en-US" dirty="0" smtClean="0"/>
              <a:t>工作在我们身边</a:t>
            </a:r>
            <a:r>
              <a:rPr lang="zh-CN" altLang="en-US" dirty="0"/>
              <a:t>的各种计算机</a:t>
            </a:r>
            <a:r>
              <a:rPr lang="zh-CN" altLang="en-US" dirty="0" smtClean="0"/>
              <a:t>系统</a:t>
            </a:r>
            <a:r>
              <a:rPr lang="zh-CN" altLang="en-US" dirty="0"/>
              <a:t>由于其</a:t>
            </a:r>
            <a:r>
              <a:rPr lang="zh-CN" altLang="en-US" dirty="0" smtClean="0"/>
              <a:t>中的软硬件系统失效经常表现</a:t>
            </a:r>
            <a:r>
              <a:rPr lang="zh-CN" altLang="en-US" dirty="0"/>
              <a:t>不尽</a:t>
            </a:r>
            <a:r>
              <a:rPr lang="zh-CN" altLang="en-US" dirty="0" smtClean="0"/>
              <a:t>人意，</a:t>
            </a:r>
            <a:r>
              <a:rPr lang="zh-CN" altLang="en-US" dirty="0"/>
              <a:t>甚至</a:t>
            </a:r>
            <a:r>
              <a:rPr lang="zh-CN" altLang="en-US" dirty="0" smtClean="0"/>
              <a:t>造成</a:t>
            </a:r>
            <a:r>
              <a:rPr lang="zh-CN" altLang="en-US" dirty="0"/>
              <a:t>不可</a:t>
            </a:r>
            <a:r>
              <a:rPr lang="zh-CN" altLang="en-US" dirty="0" smtClean="0"/>
              <a:t>挽回的损失</a:t>
            </a:r>
            <a:endParaRPr lang="en-US" altLang="zh-CN" dirty="0"/>
          </a:p>
          <a:p>
            <a:endParaRPr lang="en-US" altLang="zh-CN" dirty="0" smtClean="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1484784"/>
            <a:ext cx="1571625" cy="2152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5573" y="4005064"/>
            <a:ext cx="1581150" cy="2085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48616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硬件</a:t>
            </a:r>
            <a:endParaRPr lang="zh-CN" altLang="en-US" dirty="0"/>
          </a:p>
        </p:txBody>
      </p:sp>
      <p:sp>
        <p:nvSpPr>
          <p:cNvPr id="3" name="内容占位符 2"/>
          <p:cNvSpPr>
            <a:spLocks noGrp="1"/>
          </p:cNvSpPr>
          <p:nvPr>
            <p:ph idx="1"/>
          </p:nvPr>
        </p:nvSpPr>
        <p:spPr>
          <a:xfrm>
            <a:off x="3851920" y="1628800"/>
            <a:ext cx="4758680" cy="4392612"/>
          </a:xfrm>
        </p:spPr>
        <p:txBody>
          <a:bodyPr>
            <a:normAutofit fontScale="62500" lnSpcReduction="20000"/>
          </a:bodyPr>
          <a:lstStyle/>
          <a:p>
            <a:r>
              <a:rPr lang="zh-CN" altLang="en-US" dirty="0" smtClean="0"/>
              <a:t>奔腾芯片 </a:t>
            </a:r>
            <a:r>
              <a:rPr lang="en-US" altLang="zh-CN" dirty="0" smtClean="0"/>
              <a:t>93-94</a:t>
            </a:r>
          </a:p>
          <a:p>
            <a:r>
              <a:rPr lang="en-US" altLang="zh-CN" dirty="0" smtClean="0"/>
              <a:t>60-100 MHz</a:t>
            </a:r>
          </a:p>
          <a:p>
            <a:r>
              <a:rPr lang="en-US" altLang="zh-CN" dirty="0" smtClean="0"/>
              <a:t>FDIV Bug</a:t>
            </a:r>
            <a:r>
              <a:rPr lang="zh-CN" altLang="en-US" dirty="0" smtClean="0"/>
              <a:t>：某数学家发现用</a:t>
            </a:r>
            <a:r>
              <a:rPr lang="zh-CN" altLang="en-US" dirty="0"/>
              <a:t>一个数字去除以</a:t>
            </a:r>
            <a:r>
              <a:rPr lang="en-US" altLang="zh-CN" dirty="0"/>
              <a:t>824,633,702,441</a:t>
            </a:r>
            <a:r>
              <a:rPr lang="zh-CN" altLang="en-US" dirty="0"/>
              <a:t>时，答案</a:t>
            </a:r>
            <a:r>
              <a:rPr lang="zh-CN" altLang="en-US" dirty="0" smtClean="0"/>
              <a:t>一直错误</a:t>
            </a:r>
            <a:endParaRPr lang="en-US" altLang="zh-CN" dirty="0" smtClean="0"/>
          </a:p>
          <a:p>
            <a:r>
              <a:rPr lang="en-US" altLang="zh-CN" b="1" dirty="0" smtClean="0">
                <a:solidFill>
                  <a:srgbClr val="FF0000"/>
                </a:solidFill>
              </a:rPr>
              <a:t>$500 million</a:t>
            </a:r>
          </a:p>
          <a:p>
            <a:endParaRPr lang="en-US" altLang="zh-CN" dirty="0"/>
          </a:p>
          <a:p>
            <a:r>
              <a:rPr lang="en-US" altLang="zh-CN" dirty="0" smtClean="0"/>
              <a:t>Intel</a:t>
            </a:r>
            <a:r>
              <a:rPr lang="zh-CN" altLang="en-US" dirty="0" smtClean="0"/>
              <a:t>内部统计 每设计一个新版本</a:t>
            </a:r>
            <a:r>
              <a:rPr lang="en-US" altLang="zh-CN" dirty="0" smtClean="0"/>
              <a:t>Bug</a:t>
            </a:r>
            <a:r>
              <a:rPr lang="zh-CN" altLang="en-US" dirty="0" smtClean="0"/>
              <a:t>数目增加</a:t>
            </a:r>
            <a:r>
              <a:rPr lang="en-US" altLang="zh-CN" b="1" dirty="0" smtClean="0">
                <a:solidFill>
                  <a:srgbClr val="FF0000"/>
                </a:solidFill>
              </a:rPr>
              <a:t>4</a:t>
            </a:r>
            <a:r>
              <a:rPr lang="zh-CN" altLang="en-US" dirty="0" smtClean="0"/>
              <a:t>倍</a:t>
            </a:r>
            <a:r>
              <a:rPr lang="en-US" altLang="zh-CN" dirty="0" smtClean="0"/>
              <a:t>…</a:t>
            </a:r>
          </a:p>
          <a:p>
            <a:r>
              <a:rPr lang="zh-CN" altLang="en-US" dirty="0" smtClean="0"/>
              <a:t>物价飙升</a:t>
            </a:r>
            <a:r>
              <a:rPr lang="en-US" altLang="zh-CN" dirty="0" smtClean="0"/>
              <a:t>…</a:t>
            </a:r>
          </a:p>
          <a:p>
            <a:pPr marL="0" indent="0">
              <a:buNone/>
            </a:pPr>
            <a:endParaRPr lang="en-US" altLang="zh-CN" dirty="0" smtClean="0"/>
          </a:p>
          <a:p>
            <a:endParaRPr lang="en-US" altLang="zh-CN" dirty="0"/>
          </a:p>
          <a:p>
            <a:r>
              <a:rPr lang="zh-CN" altLang="en-US" dirty="0" smtClean="0"/>
              <a:t>奔腾四芯片 </a:t>
            </a:r>
            <a:r>
              <a:rPr lang="en-US" altLang="zh-CN" dirty="0" smtClean="0"/>
              <a:t>2000-2007</a:t>
            </a:r>
          </a:p>
          <a:p>
            <a:r>
              <a:rPr lang="en-US" altLang="zh-CN" dirty="0" smtClean="0"/>
              <a:t>1.5GHz</a:t>
            </a:r>
            <a:r>
              <a:rPr lang="zh-CN" altLang="en-US" dirty="0" smtClean="0"/>
              <a:t>，</a:t>
            </a:r>
            <a:r>
              <a:rPr lang="en-US" altLang="zh-CN" dirty="0" smtClean="0"/>
              <a:t>4200</a:t>
            </a:r>
            <a:r>
              <a:rPr lang="zh-CN" altLang="en-US" dirty="0" smtClean="0"/>
              <a:t>万晶体管</a:t>
            </a:r>
            <a:endParaRPr lang="en-US" altLang="zh-CN" dirty="0" smtClean="0"/>
          </a:p>
          <a:p>
            <a:r>
              <a:rPr lang="en-US" altLang="zh-CN" b="1" dirty="0" smtClean="0">
                <a:solidFill>
                  <a:srgbClr val="FF0000"/>
                </a:solidFill>
              </a:rPr>
              <a:t>8000 Bugs</a:t>
            </a:r>
            <a:r>
              <a:rPr lang="zh-CN" altLang="en-US" b="1" dirty="0" smtClean="0">
                <a:solidFill>
                  <a:srgbClr val="FF0000"/>
                </a:solidFill>
              </a:rPr>
              <a:t>！</a:t>
            </a:r>
            <a:endParaRPr lang="en-US" altLang="zh-CN" b="1" dirty="0" smtClean="0">
              <a:solidFill>
                <a:srgbClr val="FF0000"/>
              </a:solidFill>
            </a:endParaRPr>
          </a:p>
          <a:p>
            <a:endParaRPr lang="en-US" altLang="zh-CN" dirty="0" smtClean="0"/>
          </a:p>
          <a:p>
            <a:endParaRPr lang="en-US" altLang="zh-CN" dirty="0"/>
          </a:p>
          <a:p>
            <a:endParaRPr lang="zh-CN" altLang="en-US" dirty="0"/>
          </a:p>
        </p:txBody>
      </p:sp>
      <p:pic>
        <p:nvPicPr>
          <p:cNvPr id="1026" name="Picture 2" descr="http://image2.beareyes.com.cn/2/lib/200109/11/129/11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3" y="4005064"/>
            <a:ext cx="2776339" cy="2379719"/>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File:KL Intel Pentium P54C 20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5316" y="1268760"/>
            <a:ext cx="2234131" cy="231916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02916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欧洲阿丽亚娜</a:t>
            </a:r>
            <a:r>
              <a:rPr lang="en-US" altLang="zh-CN" dirty="0"/>
              <a:t>5</a:t>
            </a:r>
            <a:r>
              <a:rPr lang="zh-CN" altLang="en-US" dirty="0"/>
              <a:t>型火箭</a:t>
            </a:r>
          </a:p>
        </p:txBody>
      </p:sp>
      <p:sp>
        <p:nvSpPr>
          <p:cNvPr id="3" name="内容占位符 2"/>
          <p:cNvSpPr>
            <a:spLocks noGrp="1"/>
          </p:cNvSpPr>
          <p:nvPr>
            <p:ph idx="1"/>
          </p:nvPr>
        </p:nvSpPr>
        <p:spPr/>
        <p:txBody>
          <a:bodyPr/>
          <a:lstStyle/>
          <a:p>
            <a:pPr marL="0" indent="0">
              <a:buNone/>
            </a:pPr>
            <a:r>
              <a:rPr lang="en-US" altLang="zh-CN" dirty="0"/>
              <a:t>1996</a:t>
            </a:r>
            <a:r>
              <a:rPr lang="zh-CN" altLang="en-US" dirty="0"/>
              <a:t>年</a:t>
            </a:r>
            <a:r>
              <a:rPr lang="en-US" altLang="zh-CN" dirty="0"/>
              <a:t>6</a:t>
            </a:r>
            <a:r>
              <a:rPr lang="zh-CN" altLang="en-US" dirty="0"/>
              <a:t>月</a:t>
            </a:r>
            <a:r>
              <a:rPr lang="en-US" altLang="zh-CN" dirty="0"/>
              <a:t>4</a:t>
            </a:r>
            <a:r>
              <a:rPr lang="zh-CN" altLang="en-US" dirty="0"/>
              <a:t>日</a:t>
            </a:r>
          </a:p>
          <a:p>
            <a:pPr marL="0" indent="0">
              <a:buNone/>
            </a:pPr>
            <a:r>
              <a:rPr lang="zh-CN" altLang="en-US" dirty="0"/>
              <a:t>因软件失效在</a:t>
            </a:r>
          </a:p>
          <a:p>
            <a:pPr marL="0" indent="0">
              <a:buNone/>
            </a:pPr>
            <a:r>
              <a:rPr lang="zh-CN" altLang="en-US" dirty="0"/>
              <a:t>发射</a:t>
            </a:r>
            <a:r>
              <a:rPr lang="en-US" altLang="zh-CN" dirty="0"/>
              <a:t>40</a:t>
            </a:r>
            <a:r>
              <a:rPr lang="zh-CN" altLang="en-US" dirty="0"/>
              <a:t>秒后爆</a:t>
            </a:r>
          </a:p>
          <a:p>
            <a:pPr marL="0" indent="0">
              <a:buNone/>
            </a:pPr>
            <a:r>
              <a:rPr lang="zh-CN" altLang="en-US" dirty="0"/>
              <a:t>炸，原因是惯</a:t>
            </a:r>
          </a:p>
          <a:p>
            <a:pPr marL="0" indent="0">
              <a:buNone/>
            </a:pPr>
            <a:r>
              <a:rPr lang="zh-CN" altLang="en-US" dirty="0"/>
              <a:t>性参考系统</a:t>
            </a:r>
          </a:p>
          <a:p>
            <a:pPr marL="0" indent="0">
              <a:buNone/>
            </a:pPr>
            <a:r>
              <a:rPr lang="zh-CN" altLang="en-US" b="1" dirty="0"/>
              <a:t>软件的数据</a:t>
            </a:r>
          </a:p>
          <a:p>
            <a:pPr marL="0" indent="0">
              <a:buNone/>
            </a:pPr>
            <a:r>
              <a:rPr lang="zh-CN" altLang="en-US" b="1" dirty="0"/>
              <a:t>转换异常</a:t>
            </a:r>
            <a:r>
              <a:rPr lang="zh-CN" altLang="en-US" dirty="0"/>
              <a:t>造</a:t>
            </a:r>
          </a:p>
          <a:p>
            <a:pPr marL="0" indent="0">
              <a:buNone/>
            </a:pPr>
            <a:r>
              <a:rPr lang="zh-CN" altLang="en-US" dirty="0"/>
              <a:t>成的失效。</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2014110"/>
            <a:ext cx="2232248" cy="30575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5423" y="2022328"/>
            <a:ext cx="2311330" cy="30492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41135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美国</a:t>
            </a:r>
            <a:r>
              <a:rPr lang="en-US" altLang="zh-CN" dirty="0"/>
              <a:t>F-22</a:t>
            </a:r>
            <a:r>
              <a:rPr lang="zh-CN" altLang="en-US" dirty="0"/>
              <a:t>猛禽战斗</a:t>
            </a:r>
            <a:r>
              <a:rPr lang="zh-CN" altLang="en-US" dirty="0" smtClean="0"/>
              <a:t>机</a:t>
            </a:r>
            <a:endParaRPr lang="zh-CN" altLang="en-US" dirty="0"/>
          </a:p>
        </p:txBody>
      </p:sp>
      <p:sp>
        <p:nvSpPr>
          <p:cNvPr id="3" name="内容占位符 2"/>
          <p:cNvSpPr>
            <a:spLocks noGrp="1"/>
          </p:cNvSpPr>
          <p:nvPr>
            <p:ph idx="1"/>
          </p:nvPr>
        </p:nvSpPr>
        <p:spPr/>
        <p:txBody>
          <a:bodyPr/>
          <a:lstStyle/>
          <a:p>
            <a:pPr marL="0" indent="0">
              <a:buNone/>
            </a:pPr>
            <a:r>
              <a:rPr lang="en-US" altLang="zh-CN" dirty="0"/>
              <a:t>2004</a:t>
            </a:r>
            <a:r>
              <a:rPr lang="zh-CN" altLang="en-US" dirty="0"/>
              <a:t>年</a:t>
            </a:r>
            <a:r>
              <a:rPr lang="en-US" altLang="zh-CN" dirty="0"/>
              <a:t>12</a:t>
            </a:r>
            <a:r>
              <a:rPr lang="zh-CN" altLang="en-US" dirty="0"/>
              <a:t>月</a:t>
            </a:r>
            <a:r>
              <a:rPr lang="en-US" altLang="zh-CN" dirty="0"/>
              <a:t>20</a:t>
            </a:r>
            <a:r>
              <a:rPr lang="zh-CN" altLang="en-US" dirty="0"/>
              <a:t>日，美空军第</a:t>
            </a:r>
            <a:r>
              <a:rPr lang="en-US" altLang="zh-CN" dirty="0"/>
              <a:t>422</a:t>
            </a:r>
            <a:r>
              <a:rPr lang="zh-CN" altLang="en-US" dirty="0"/>
              <a:t>测试评估大队的一架</a:t>
            </a:r>
            <a:r>
              <a:rPr lang="en-US" altLang="zh-CN" dirty="0"/>
              <a:t>F-22</a:t>
            </a:r>
            <a:r>
              <a:rPr lang="zh-CN" altLang="en-US" dirty="0"/>
              <a:t>战斗机因软件问题在起飞过程中失控坠毁。</a:t>
            </a:r>
          </a:p>
          <a:p>
            <a:pPr marL="0" indent="0">
              <a:buNone/>
            </a:pPr>
            <a:endParaRPr lang="en-US" altLang="zh-CN" dirty="0" smtClean="0"/>
          </a:p>
          <a:p>
            <a:pPr marL="0" indent="0">
              <a:buNone/>
            </a:pPr>
            <a:endParaRPr lang="en-US" altLang="zh-CN" dirty="0"/>
          </a:p>
          <a:p>
            <a:pPr marL="0" indent="0">
              <a:buNone/>
            </a:pPr>
            <a:r>
              <a:rPr lang="en-US" altLang="zh-CN" dirty="0" smtClean="0"/>
              <a:t>2007</a:t>
            </a:r>
            <a:r>
              <a:rPr lang="zh-CN" altLang="en-US" dirty="0"/>
              <a:t>年</a:t>
            </a:r>
            <a:r>
              <a:rPr lang="en-US" altLang="zh-CN" dirty="0"/>
              <a:t>2</a:t>
            </a:r>
            <a:r>
              <a:rPr lang="zh-CN" altLang="en-US" dirty="0"/>
              <a:t>月</a:t>
            </a:r>
            <a:r>
              <a:rPr lang="en-US" altLang="zh-CN" dirty="0"/>
              <a:t>9</a:t>
            </a:r>
          </a:p>
          <a:p>
            <a:pPr marL="0" indent="0">
              <a:buNone/>
            </a:pPr>
            <a:r>
              <a:rPr lang="zh-CN" altLang="en-US" dirty="0"/>
              <a:t>日同样因软</a:t>
            </a:r>
          </a:p>
          <a:p>
            <a:pPr marL="0" indent="0">
              <a:buNone/>
            </a:pPr>
            <a:r>
              <a:rPr lang="zh-CN" altLang="en-US" dirty="0"/>
              <a:t>件问题延迟</a:t>
            </a:r>
          </a:p>
          <a:p>
            <a:pPr marL="0" indent="0">
              <a:buNone/>
            </a:pPr>
            <a:r>
              <a:rPr lang="zh-CN" altLang="en-US" dirty="0"/>
              <a:t>在日本部署</a:t>
            </a:r>
          </a:p>
          <a:p>
            <a:pPr marL="0" indent="0">
              <a:buNone/>
            </a:pPr>
            <a:endParaRPr lang="en-US" altLang="zh-CN" dirty="0" smtClean="0"/>
          </a:p>
          <a:p>
            <a:pPr marL="0" indent="0">
              <a:buNone/>
            </a:pPr>
            <a:endParaRPr lang="en-US" altLang="zh-C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3356992"/>
            <a:ext cx="4333875" cy="2333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12069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8313" y="2564903"/>
            <a:ext cx="8142287" cy="3312021"/>
          </a:xfrm>
        </p:spPr>
        <p:txBody>
          <a:bodyPr/>
          <a:lstStyle/>
          <a:p>
            <a:pPr marL="0" indent="0" algn="ctr">
              <a:buNone/>
            </a:pPr>
            <a:r>
              <a:rPr lang="zh-CN" altLang="en-US" sz="4800" dirty="0"/>
              <a:t>我们的信息基础设施</a:t>
            </a:r>
          </a:p>
          <a:p>
            <a:pPr marL="0" indent="0" algn="ctr">
              <a:buNone/>
            </a:pPr>
            <a:r>
              <a:rPr lang="zh-CN" altLang="en-US" sz="4800" dirty="0"/>
              <a:t>正建立在</a:t>
            </a:r>
            <a:r>
              <a:rPr lang="zh-CN" altLang="en-US" sz="4800" dirty="0" smtClean="0"/>
              <a:t>脆弱的软硬件之上</a:t>
            </a:r>
            <a:endParaRPr lang="zh-CN" altLang="en-US" sz="4800" dirty="0"/>
          </a:p>
        </p:txBody>
      </p:sp>
    </p:spTree>
    <p:extLst>
      <p:ext uri="{BB962C8B-B14F-4D97-AF65-F5344CB8AC3E}">
        <p14:creationId xmlns:p14="http://schemas.microsoft.com/office/powerpoint/2010/main" val="16088495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r>
              <a:rPr lang="zh-CN" altLang="en-US"/>
              <a:t>提高系统可靠性</a:t>
            </a:r>
          </a:p>
        </p:txBody>
      </p:sp>
      <p:sp>
        <p:nvSpPr>
          <p:cNvPr id="249859" name="Rectangle 3"/>
          <p:cNvSpPr>
            <a:spLocks noChangeArrowheads="1"/>
          </p:cNvSpPr>
          <p:nvPr/>
        </p:nvSpPr>
        <p:spPr bwMode="auto">
          <a:xfrm>
            <a:off x="381000" y="1752600"/>
            <a:ext cx="7772400" cy="1981200"/>
          </a:xfrm>
          <a:prstGeom prst="rect">
            <a:avLst/>
          </a:prstGeom>
          <a:noFill/>
          <a:ln w="9525">
            <a:noFill/>
            <a:miter lim="800000"/>
            <a:headEnd/>
            <a:tailEnd/>
          </a:ln>
          <a:effectLst/>
        </p:spPr>
        <p:txBody>
          <a:bodyPr lIns="92075" tIns="46038" rIns="92075" bIns="46038"/>
          <a:lstStyle/>
          <a:p>
            <a:pPr marL="342900" indent="-342900">
              <a:spcBef>
                <a:spcPct val="20000"/>
              </a:spcBef>
              <a:buFontTx/>
              <a:buChar char="•"/>
            </a:pPr>
            <a:endParaRPr lang="zh-CN" altLang="zh-CN" sz="2800" b="1"/>
          </a:p>
        </p:txBody>
      </p:sp>
      <p:sp>
        <p:nvSpPr>
          <p:cNvPr id="249860" name="Rectangle 4"/>
          <p:cNvSpPr>
            <a:spLocks noChangeArrowheads="1"/>
          </p:cNvSpPr>
          <p:nvPr/>
        </p:nvSpPr>
        <p:spPr bwMode="auto">
          <a:xfrm>
            <a:off x="238156" y="1571612"/>
            <a:ext cx="8763000" cy="5029200"/>
          </a:xfrm>
          <a:prstGeom prst="rect">
            <a:avLst/>
          </a:prstGeom>
          <a:noFill/>
          <a:ln w="9525">
            <a:noFill/>
            <a:miter lim="800000"/>
            <a:headEnd/>
            <a:tailEnd/>
          </a:ln>
          <a:effectLst/>
        </p:spPr>
        <p:txBody>
          <a:bodyPr lIns="92075" tIns="46038" rIns="92075" bIns="46038"/>
          <a:lstStyle/>
          <a:p>
            <a:pPr marL="342900" indent="-342900">
              <a:spcBef>
                <a:spcPct val="20000"/>
              </a:spcBef>
              <a:buFontTx/>
              <a:buChar char="•"/>
            </a:pPr>
            <a:r>
              <a:rPr lang="zh-CN" altLang="en-US" sz="2400" dirty="0"/>
              <a:t>质量管理</a:t>
            </a:r>
          </a:p>
          <a:p>
            <a:pPr marL="342900" indent="-342900">
              <a:spcBef>
                <a:spcPct val="20000"/>
              </a:spcBef>
            </a:pPr>
            <a:r>
              <a:rPr lang="zh-CN" altLang="en-US" sz="2400" dirty="0"/>
              <a:t>   在系统开发过程中加强管理，防止可能出现的错误。  </a:t>
            </a:r>
            <a:endParaRPr lang="zh-CN" altLang="en-US" sz="2400" b="1" dirty="0"/>
          </a:p>
          <a:p>
            <a:pPr marL="342900" indent="-342900">
              <a:spcBef>
                <a:spcPct val="20000"/>
              </a:spcBef>
              <a:buFontTx/>
              <a:buChar char="•"/>
            </a:pPr>
            <a:endParaRPr lang="en-US" altLang="zh-CN" sz="2400" dirty="0" smtClean="0"/>
          </a:p>
          <a:p>
            <a:pPr marL="342900" indent="-342900">
              <a:spcBef>
                <a:spcPct val="20000"/>
              </a:spcBef>
              <a:buFontTx/>
              <a:buChar char="•"/>
            </a:pPr>
            <a:r>
              <a:rPr lang="zh-CN" altLang="en-US" sz="2400" dirty="0" smtClean="0"/>
              <a:t>测试（</a:t>
            </a:r>
            <a:r>
              <a:rPr lang="en-US" altLang="zh-CN" sz="2400" dirty="0" smtClean="0"/>
              <a:t>testing</a:t>
            </a:r>
            <a:r>
              <a:rPr lang="zh-CN" altLang="en-US" sz="2400" dirty="0" smtClean="0"/>
              <a:t>）或 仿真（</a:t>
            </a:r>
            <a:r>
              <a:rPr lang="en-US" altLang="zh-CN" sz="2400" dirty="0" smtClean="0"/>
              <a:t>simulation</a:t>
            </a:r>
            <a:r>
              <a:rPr lang="zh-CN" altLang="en-US" sz="2400" dirty="0" smtClean="0"/>
              <a:t>）</a:t>
            </a:r>
          </a:p>
          <a:p>
            <a:pPr marL="342900" indent="-342900">
              <a:spcBef>
                <a:spcPct val="20000"/>
              </a:spcBef>
            </a:pPr>
            <a:r>
              <a:rPr lang="zh-CN" altLang="en-US" sz="2400" dirty="0" smtClean="0"/>
              <a:t>    以运行系统（模型）为主要手段发现系统错误。</a:t>
            </a:r>
          </a:p>
          <a:p>
            <a:pPr marL="342900" indent="-342900">
              <a:spcBef>
                <a:spcPct val="20000"/>
              </a:spcBef>
            </a:pPr>
            <a:endParaRPr lang="zh-CN" altLang="en-US" sz="2400" dirty="0"/>
          </a:p>
          <a:p>
            <a:pPr marL="342900" indent="-342900">
              <a:spcBef>
                <a:spcPct val="20000"/>
              </a:spcBef>
              <a:buFontTx/>
              <a:buChar char="•"/>
            </a:pPr>
            <a:r>
              <a:rPr lang="zh-CN" altLang="en-US" sz="2400" dirty="0"/>
              <a:t>验证（</a:t>
            </a:r>
            <a:r>
              <a:rPr lang="en-US" altLang="zh-CN" sz="2400" dirty="0"/>
              <a:t>Verification</a:t>
            </a:r>
            <a:r>
              <a:rPr lang="zh-CN" altLang="en-US" sz="2400" dirty="0"/>
              <a:t>）</a:t>
            </a:r>
          </a:p>
          <a:p>
            <a:pPr marL="342900" indent="-342900">
              <a:spcBef>
                <a:spcPct val="20000"/>
              </a:spcBef>
            </a:pPr>
            <a:r>
              <a:rPr lang="zh-CN" altLang="en-US" sz="2400" dirty="0"/>
              <a:t>    建立系统模型，确认系统模型是否存在错误。</a:t>
            </a:r>
          </a:p>
          <a:p>
            <a:pPr marL="342900" indent="-342900">
              <a:spcBef>
                <a:spcPct val="20000"/>
              </a:spcBef>
            </a:pPr>
            <a:endParaRPr lang="zh-CN" altLang="en-US" sz="2400" dirty="0"/>
          </a:p>
        </p:txBody>
      </p:sp>
      <p:sp>
        <p:nvSpPr>
          <p:cNvPr id="249861" name="Rectangle 5" descr="25%"/>
          <p:cNvSpPr>
            <a:spLocks noChangeArrowheads="1"/>
          </p:cNvSpPr>
          <p:nvPr/>
        </p:nvSpPr>
        <p:spPr bwMode="auto">
          <a:xfrm>
            <a:off x="251520" y="4077072"/>
            <a:ext cx="7162800" cy="1295400"/>
          </a:xfrm>
          <a:prstGeom prst="rect">
            <a:avLst/>
          </a:prstGeom>
          <a:noFill/>
          <a:ln w="57150" cap="sq">
            <a:solidFill>
              <a:srgbClr val="FF0000"/>
            </a:solidFill>
            <a:miter lim="800000"/>
            <a:headEnd/>
            <a:tailEnd/>
          </a:ln>
          <a:effectLst/>
        </p:spPr>
        <p:txBody>
          <a:bodyPr wrap="none" anchor="ctr">
            <a:spAutoFit/>
          </a:bodyPr>
          <a:lstStyle/>
          <a:p>
            <a:endParaRPr lang="zh-CN" altLang="en-US"/>
          </a:p>
        </p:txBody>
      </p:sp>
    </p:spTree>
    <p:extLst>
      <p:ext uri="{BB962C8B-B14F-4D97-AF65-F5344CB8AC3E}">
        <p14:creationId xmlns:p14="http://schemas.microsoft.com/office/powerpoint/2010/main" val="185616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98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1026"/>
          <p:cNvSpPr>
            <a:spLocks noGrp="1" noChangeArrowheads="1"/>
          </p:cNvSpPr>
          <p:nvPr>
            <p:ph type="title"/>
          </p:nvPr>
        </p:nvSpPr>
        <p:spPr/>
        <p:txBody>
          <a:bodyPr/>
          <a:lstStyle/>
          <a:p>
            <a:r>
              <a:rPr lang="zh-CN" altLang="en-US"/>
              <a:t>提高可信度的途径</a:t>
            </a:r>
          </a:p>
        </p:txBody>
      </p:sp>
      <p:sp>
        <p:nvSpPr>
          <p:cNvPr id="257027" name="Rectangle 1027"/>
          <p:cNvSpPr>
            <a:spLocks noGrp="1" noChangeArrowheads="1"/>
          </p:cNvSpPr>
          <p:nvPr>
            <p:ph type="body" idx="1"/>
          </p:nvPr>
        </p:nvSpPr>
        <p:spPr/>
        <p:txBody>
          <a:bodyPr/>
          <a:lstStyle/>
          <a:p>
            <a:r>
              <a:rPr lang="zh-CN" altLang="en-US" dirty="0"/>
              <a:t>测试（</a:t>
            </a:r>
            <a:r>
              <a:rPr lang="en-US" altLang="zh-CN" dirty="0"/>
              <a:t>testing</a:t>
            </a:r>
            <a:r>
              <a:rPr lang="zh-CN" altLang="en-US" dirty="0"/>
              <a:t>）或 仿真（</a:t>
            </a:r>
            <a:r>
              <a:rPr lang="en-US" altLang="zh-CN" dirty="0"/>
              <a:t>simulation</a:t>
            </a:r>
            <a:r>
              <a:rPr lang="zh-CN" altLang="en-US" dirty="0"/>
              <a:t>）</a:t>
            </a:r>
          </a:p>
          <a:p>
            <a:pPr>
              <a:buFontTx/>
              <a:buNone/>
            </a:pPr>
            <a:r>
              <a:rPr lang="zh-CN" altLang="en-US" sz="2800" dirty="0"/>
              <a:t>    </a:t>
            </a:r>
          </a:p>
          <a:p>
            <a:pPr>
              <a:buFontTx/>
              <a:buNone/>
            </a:pPr>
            <a:r>
              <a:rPr lang="zh-CN" altLang="en-US" sz="2800" dirty="0"/>
              <a:t>    </a:t>
            </a:r>
            <a:r>
              <a:rPr lang="zh-CN" altLang="en-US" sz="2400" dirty="0"/>
              <a:t>无法回答系统一定没有错误这样一类问题</a:t>
            </a:r>
          </a:p>
          <a:p>
            <a:endParaRPr lang="zh-CN" altLang="en-US" dirty="0"/>
          </a:p>
          <a:p>
            <a:r>
              <a:rPr lang="zh-CN" altLang="en-US" dirty="0" smtClean="0"/>
              <a:t>形式化验证（</a:t>
            </a:r>
            <a:r>
              <a:rPr lang="en-US" altLang="zh-CN" dirty="0" smtClean="0"/>
              <a:t>Formal Verification</a:t>
            </a:r>
            <a:r>
              <a:rPr lang="zh-CN" altLang="en-US" dirty="0"/>
              <a:t>）</a:t>
            </a:r>
          </a:p>
          <a:p>
            <a:pPr>
              <a:buFontTx/>
              <a:buNone/>
            </a:pPr>
            <a:r>
              <a:rPr lang="zh-CN" altLang="en-US" sz="2800" dirty="0"/>
              <a:t>    </a:t>
            </a:r>
          </a:p>
          <a:p>
            <a:pPr>
              <a:buFontTx/>
              <a:buNone/>
            </a:pPr>
            <a:r>
              <a:rPr lang="zh-CN" altLang="en-US" sz="2800" dirty="0"/>
              <a:t>    </a:t>
            </a:r>
            <a:r>
              <a:rPr lang="zh-CN" altLang="en-US" sz="2400" dirty="0"/>
              <a:t>可以从某一个角度回答系统一定没有错误这样一类问题，从而进一步提高我们对系统可靠性的可信度</a:t>
            </a:r>
          </a:p>
        </p:txBody>
      </p:sp>
    </p:spTree>
    <p:extLst>
      <p:ext uri="{BB962C8B-B14F-4D97-AF65-F5344CB8AC3E}">
        <p14:creationId xmlns:p14="http://schemas.microsoft.com/office/powerpoint/2010/main" val="23835688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1026"/>
          <p:cNvSpPr>
            <a:spLocks noGrp="1" noChangeArrowheads="1"/>
          </p:cNvSpPr>
          <p:nvPr>
            <p:ph type="title"/>
          </p:nvPr>
        </p:nvSpPr>
        <p:spPr/>
        <p:txBody>
          <a:bodyPr/>
          <a:lstStyle/>
          <a:p>
            <a:r>
              <a:rPr lang="zh-CN" altLang="en-US"/>
              <a:t>形式化方法</a:t>
            </a:r>
          </a:p>
        </p:txBody>
      </p:sp>
      <p:sp>
        <p:nvSpPr>
          <p:cNvPr id="256003" name="Rectangle 1027"/>
          <p:cNvSpPr>
            <a:spLocks noGrp="1" noChangeArrowheads="1"/>
          </p:cNvSpPr>
          <p:nvPr>
            <p:ph type="body" idx="1"/>
          </p:nvPr>
        </p:nvSpPr>
        <p:spPr/>
        <p:txBody>
          <a:bodyPr>
            <a:normAutofit fontScale="92500" lnSpcReduction="10000"/>
          </a:bodyPr>
          <a:lstStyle/>
          <a:p>
            <a:r>
              <a:rPr lang="zh-CN" altLang="en-US" sz="3000" dirty="0"/>
              <a:t>形式化方法是指为说明和验证复杂计算机系统所采用的基于数学的语言、技术和工具。</a:t>
            </a:r>
          </a:p>
          <a:p>
            <a:endParaRPr lang="en-US" altLang="zh-CN" sz="3000" dirty="0" smtClean="0"/>
          </a:p>
          <a:p>
            <a:r>
              <a:rPr lang="zh-CN" altLang="en-US" sz="3200" dirty="0"/>
              <a:t>形式化方法包括</a:t>
            </a:r>
            <a:r>
              <a:rPr lang="zh-CN" altLang="en-US" sz="3200" dirty="0" smtClean="0"/>
              <a:t>：</a:t>
            </a:r>
            <a:endParaRPr lang="en-US" altLang="zh-CN" sz="3200" dirty="0" smtClean="0"/>
          </a:p>
          <a:p>
            <a:pPr lvl="1"/>
            <a:r>
              <a:rPr lang="zh-CN" altLang="en-US" dirty="0" smtClean="0"/>
              <a:t>规约</a:t>
            </a:r>
            <a:r>
              <a:rPr lang="zh-CN" altLang="en-US" dirty="0"/>
              <a:t>（</a:t>
            </a:r>
            <a:r>
              <a:rPr lang="en-US" altLang="zh-CN" dirty="0"/>
              <a:t>specification</a:t>
            </a:r>
            <a:r>
              <a:rPr lang="zh-CN" altLang="en-US" dirty="0" smtClean="0"/>
              <a:t>）</a:t>
            </a:r>
            <a:endParaRPr lang="en-US" altLang="zh-CN" dirty="0"/>
          </a:p>
          <a:p>
            <a:pPr lvl="1"/>
            <a:r>
              <a:rPr lang="zh-CN" altLang="en-US" dirty="0"/>
              <a:t>验证（</a:t>
            </a:r>
            <a:r>
              <a:rPr lang="en-US" altLang="zh-CN" dirty="0"/>
              <a:t>verification</a:t>
            </a:r>
            <a:r>
              <a:rPr lang="zh-CN" altLang="en-US" dirty="0"/>
              <a:t>）</a:t>
            </a:r>
          </a:p>
          <a:p>
            <a:endParaRPr lang="zh-CN" altLang="en-US" sz="3200" dirty="0"/>
          </a:p>
          <a:p>
            <a:r>
              <a:rPr lang="zh-CN" altLang="en-US" sz="3200" dirty="0"/>
              <a:t>形式验证包括</a:t>
            </a:r>
            <a:r>
              <a:rPr lang="zh-CN" altLang="en-US" sz="3200" dirty="0" smtClean="0"/>
              <a:t>：</a:t>
            </a:r>
            <a:endParaRPr lang="en-US" altLang="zh-CN" sz="3200" dirty="0" smtClean="0"/>
          </a:p>
          <a:p>
            <a:pPr lvl="1"/>
            <a:r>
              <a:rPr lang="zh-CN" altLang="en-US" dirty="0" smtClean="0"/>
              <a:t>定理证</a:t>
            </a:r>
            <a:r>
              <a:rPr lang="zh-CN" altLang="en-US" dirty="0"/>
              <a:t>明（</a:t>
            </a:r>
            <a:r>
              <a:rPr lang="en-US" altLang="zh-CN" dirty="0"/>
              <a:t>theorem proving</a:t>
            </a:r>
            <a:r>
              <a:rPr lang="zh-CN" altLang="en-US" dirty="0" smtClean="0"/>
              <a:t>）</a:t>
            </a:r>
            <a:endParaRPr lang="en-US" altLang="zh-CN" dirty="0" smtClean="0"/>
          </a:p>
          <a:p>
            <a:pPr lvl="1"/>
            <a:r>
              <a:rPr lang="zh-CN" altLang="en-US" dirty="0"/>
              <a:t>模型检验（</a:t>
            </a:r>
            <a:r>
              <a:rPr lang="en-US" altLang="zh-CN" dirty="0"/>
              <a:t>model checking</a:t>
            </a:r>
            <a:r>
              <a:rPr lang="zh-CN" altLang="en-US" dirty="0"/>
              <a:t>）</a:t>
            </a:r>
          </a:p>
          <a:p>
            <a:pPr>
              <a:buFontTx/>
              <a:buNone/>
            </a:pPr>
            <a:endParaRPr lang="zh-CN" altLang="en-US" sz="3200" dirty="0"/>
          </a:p>
          <a:p>
            <a:endParaRPr lang="zh-CN" altLang="en-US" sz="3000" dirty="0"/>
          </a:p>
        </p:txBody>
      </p:sp>
    </p:spTree>
    <p:extLst>
      <p:ext uri="{BB962C8B-B14F-4D97-AF65-F5344CB8AC3E}">
        <p14:creationId xmlns:p14="http://schemas.microsoft.com/office/powerpoint/2010/main" val="16592991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zh-CN" altLang="en-US"/>
              <a:t>模型检验</a:t>
            </a:r>
          </a:p>
        </p:txBody>
      </p:sp>
      <p:sp>
        <p:nvSpPr>
          <p:cNvPr id="192515" name="Rectangle 3"/>
          <p:cNvSpPr>
            <a:spLocks noGrp="1" noChangeArrowheads="1"/>
          </p:cNvSpPr>
          <p:nvPr>
            <p:ph type="body" idx="1"/>
          </p:nvPr>
        </p:nvSpPr>
        <p:spPr/>
        <p:txBody>
          <a:bodyPr/>
          <a:lstStyle/>
          <a:p>
            <a:pPr>
              <a:lnSpc>
                <a:spcPct val="90000"/>
              </a:lnSpc>
            </a:pPr>
            <a:r>
              <a:rPr lang="zh-CN" altLang="en-US" sz="2800" dirty="0"/>
              <a:t>模型检验是一种自动验证有穷状态系统的技术。</a:t>
            </a:r>
          </a:p>
          <a:p>
            <a:pPr>
              <a:lnSpc>
                <a:spcPct val="90000"/>
              </a:lnSpc>
            </a:pPr>
            <a:endParaRPr lang="zh-CN" altLang="en-US" sz="2800" dirty="0"/>
          </a:p>
          <a:p>
            <a:pPr>
              <a:lnSpc>
                <a:spcPct val="90000"/>
              </a:lnSpc>
            </a:pPr>
            <a:r>
              <a:rPr lang="zh-CN" altLang="en-US" sz="2800" dirty="0"/>
              <a:t>模型检验的基本思想是通过遍历系统模型的状态空间来检验系统模型是否满足给定的性质。</a:t>
            </a:r>
          </a:p>
          <a:p>
            <a:pPr>
              <a:lnSpc>
                <a:spcPct val="90000"/>
              </a:lnSpc>
            </a:pPr>
            <a:endParaRPr lang="zh-CN" altLang="en-US" sz="2800" dirty="0">
              <a:ea typeface="华文宋体" pitchFamily="2" charset="-122"/>
            </a:endParaRPr>
          </a:p>
          <a:p>
            <a:pPr>
              <a:lnSpc>
                <a:spcPct val="90000"/>
              </a:lnSpc>
            </a:pPr>
            <a:r>
              <a:rPr lang="zh-CN" altLang="en-US" sz="2800" dirty="0"/>
              <a:t>模型检验技术的创始人（</a:t>
            </a:r>
            <a:r>
              <a:rPr lang="en-US" altLang="zh-CN" sz="2800" dirty="0"/>
              <a:t>1981</a:t>
            </a:r>
            <a:r>
              <a:rPr lang="zh-CN" altLang="en-US" sz="2800" dirty="0"/>
              <a:t>）：</a:t>
            </a:r>
            <a:endParaRPr lang="zh-CN" altLang="en-US" sz="2800" dirty="0">
              <a:ea typeface="华文宋体" pitchFamily="2" charset="-122"/>
            </a:endParaRPr>
          </a:p>
          <a:p>
            <a:pPr lvl="1">
              <a:lnSpc>
                <a:spcPct val="90000"/>
              </a:lnSpc>
            </a:pPr>
            <a:r>
              <a:rPr lang="en-US" altLang="zh-CN" sz="2400" dirty="0" smtClean="0">
                <a:ea typeface="华文宋体" pitchFamily="2" charset="-122"/>
              </a:rPr>
              <a:t>E.M. Clarke       </a:t>
            </a:r>
            <a:r>
              <a:rPr lang="en-US" altLang="zh-CN" dirty="0" smtClean="0">
                <a:ea typeface="华文宋体" pitchFamily="2" charset="-122"/>
              </a:rPr>
              <a:t>(CMU,US)</a:t>
            </a:r>
            <a:endParaRPr lang="en-US" altLang="zh-CN" sz="2400" dirty="0" smtClean="0">
              <a:ea typeface="华文宋体" pitchFamily="2" charset="-122"/>
            </a:endParaRPr>
          </a:p>
          <a:p>
            <a:pPr lvl="1">
              <a:lnSpc>
                <a:spcPct val="90000"/>
              </a:lnSpc>
            </a:pPr>
            <a:r>
              <a:rPr lang="en-US" altLang="zh-CN" dirty="0" smtClean="0">
                <a:ea typeface="华文宋体" pitchFamily="2" charset="-122"/>
              </a:rPr>
              <a:t>E.A. </a:t>
            </a:r>
            <a:r>
              <a:rPr lang="en-US" altLang="zh-CN" dirty="0">
                <a:ea typeface="华文宋体" pitchFamily="2" charset="-122"/>
              </a:rPr>
              <a:t>Emerson   </a:t>
            </a:r>
            <a:r>
              <a:rPr lang="en-US" altLang="zh-CN" dirty="0" smtClean="0">
                <a:ea typeface="华文宋体" pitchFamily="2" charset="-122"/>
              </a:rPr>
              <a:t>(UT Austin, US)</a:t>
            </a:r>
            <a:endParaRPr lang="en-US" altLang="zh-CN" dirty="0">
              <a:ea typeface="华文宋体" pitchFamily="2" charset="-122"/>
            </a:endParaRPr>
          </a:p>
          <a:p>
            <a:pPr lvl="1">
              <a:lnSpc>
                <a:spcPct val="90000"/>
              </a:lnSpc>
            </a:pPr>
            <a:r>
              <a:rPr lang="en-US" altLang="zh-CN" dirty="0" smtClean="0">
                <a:ea typeface="华文宋体" pitchFamily="2" charset="-122"/>
              </a:rPr>
              <a:t>J. </a:t>
            </a:r>
            <a:r>
              <a:rPr lang="en-US" altLang="zh-CN" dirty="0" err="1">
                <a:ea typeface="华文宋体" pitchFamily="2" charset="-122"/>
              </a:rPr>
              <a:t>Sifakis</a:t>
            </a:r>
            <a:r>
              <a:rPr lang="en-US" altLang="zh-CN" dirty="0">
                <a:ea typeface="华文宋体" pitchFamily="2" charset="-122"/>
              </a:rPr>
              <a:t>           </a:t>
            </a:r>
            <a:r>
              <a:rPr lang="en-US" altLang="zh-CN" dirty="0" smtClean="0">
                <a:ea typeface="华文宋体" pitchFamily="2" charset="-122"/>
              </a:rPr>
              <a:t>(</a:t>
            </a:r>
            <a:r>
              <a:rPr lang="en-US" altLang="zh-CN" dirty="0" err="1" smtClean="0">
                <a:ea typeface="华文宋体" pitchFamily="2" charset="-122"/>
              </a:rPr>
              <a:t>Verimag</a:t>
            </a:r>
            <a:r>
              <a:rPr lang="en-US" altLang="zh-CN" dirty="0" smtClean="0">
                <a:ea typeface="华文宋体" pitchFamily="2" charset="-122"/>
              </a:rPr>
              <a:t>, France</a:t>
            </a:r>
            <a:r>
              <a:rPr lang="en-US" altLang="zh-CN" dirty="0">
                <a:ea typeface="华文宋体" pitchFamily="2" charset="-122"/>
              </a:rPr>
              <a:t>)</a:t>
            </a:r>
          </a:p>
        </p:txBody>
      </p:sp>
    </p:spTree>
    <p:extLst>
      <p:ext uri="{BB962C8B-B14F-4D97-AF65-F5344CB8AC3E}">
        <p14:creationId xmlns:p14="http://schemas.microsoft.com/office/powerpoint/2010/main" val="37513841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在硬件，协议设计上巨大成功</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23528" y="1556792"/>
                <a:ext cx="8142287" cy="4392612"/>
              </a:xfrm>
            </p:spPr>
            <p:txBody>
              <a:bodyPr/>
              <a:lstStyle/>
              <a:p>
                <a:r>
                  <a:rPr lang="zh-CN" altLang="en-US" dirty="0" smtClean="0"/>
                  <a:t>现有手段：测试、仿真</a:t>
                </a:r>
                <a:endParaRPr lang="en-US" altLang="zh-CN" dirty="0" smtClean="0"/>
              </a:p>
              <a:p>
                <a:pPr lvl="1"/>
                <a:r>
                  <a:rPr lang="zh-CN" altLang="en-US" dirty="0" smtClean="0"/>
                  <a:t>太多可能、慢、无法穷尽、没有保障</a:t>
                </a:r>
                <a:endParaRPr lang="en-US" altLang="zh-CN" dirty="0" smtClean="0"/>
              </a:p>
              <a:p>
                <a:pPr lvl="1"/>
                <a:r>
                  <a:rPr lang="zh-CN" altLang="en-US" dirty="0" smtClean="0"/>
                  <a:t>举例：加法器测试：</a:t>
                </a:r>
                <a14:m>
                  <m:oMath xmlns:m="http://schemas.openxmlformats.org/officeDocument/2006/math">
                    <m:sSup>
                      <m:sSupPr>
                        <m:ctrlPr>
                          <a:rPr lang="en-US" altLang="zh-CN" i="1" smtClean="0">
                            <a:latin typeface="Cambria Math" charset="0"/>
                          </a:rPr>
                        </m:ctrlPr>
                      </m:sSupPr>
                      <m:e>
                        <m:r>
                          <a:rPr lang="en-US" altLang="zh-CN" b="0" i="1" smtClean="0">
                            <a:latin typeface="Cambria Math"/>
                          </a:rPr>
                          <m:t>2</m:t>
                        </m:r>
                      </m:e>
                      <m:sup>
                        <m:r>
                          <a:rPr lang="en-US" altLang="zh-CN" b="0" i="1" smtClean="0">
                            <a:latin typeface="Cambria Math"/>
                          </a:rPr>
                          <m:t>160</m:t>
                        </m:r>
                      </m:sup>
                    </m:sSup>
                  </m:oMath>
                </a14:m>
                <a:r>
                  <a:rPr lang="zh-CN" altLang="en-US" dirty="0" smtClean="0"/>
                  <a:t>个浮点数对</a:t>
                </a:r>
                <a:r>
                  <a:rPr lang="en-US" altLang="zh-CN" dirty="0" smtClean="0"/>
                  <a:t>…</a:t>
                </a:r>
              </a:p>
              <a:p>
                <a:pPr marL="449262" lvl="1" indent="0">
                  <a:buNone/>
                </a:pPr>
                <a:endParaRPr lang="en-US" altLang="zh-CN" dirty="0" smtClean="0"/>
              </a:p>
              <a:p>
                <a:pPr marL="465137" indent="-457200"/>
                <a:r>
                  <a:rPr lang="zh-CN" altLang="en-US" dirty="0" smtClean="0"/>
                  <a:t>形式化方法</a:t>
                </a:r>
                <a:endParaRPr lang="en-US" altLang="zh-CN" dirty="0" smtClean="0"/>
              </a:p>
              <a:p>
                <a:pPr marL="906462" lvl="1" indent="-457200"/>
                <a:r>
                  <a:rPr lang="zh-CN" altLang="en-US" dirty="0" smtClean="0"/>
                  <a:t>自动证明、确定性结果</a:t>
                </a:r>
                <a:endParaRPr lang="en-US" altLang="zh-CN" dirty="0" smtClean="0"/>
              </a:p>
              <a:p>
                <a:pPr marL="906462" lvl="1" indent="-457200"/>
                <a:r>
                  <a:rPr lang="zh-CN" altLang="en-US" dirty="0" smtClean="0"/>
                  <a:t>奔</a:t>
                </a:r>
                <a:r>
                  <a:rPr lang="en-US" altLang="zh-CN" dirty="0" smtClean="0"/>
                  <a:t>4 </a:t>
                </a:r>
                <a:r>
                  <a:rPr lang="zh-CN" altLang="en-US" dirty="0" smtClean="0"/>
                  <a:t>浮点数计算部 牛刀小试：</a:t>
                </a:r>
                <a:endParaRPr lang="en-US" altLang="zh-CN" dirty="0" smtClean="0"/>
              </a:p>
              <a:p>
                <a:pPr marL="906462" lvl="1" indent="-457200"/>
                <a:endParaRPr lang="en-US" altLang="zh-CN" dirty="0"/>
              </a:p>
              <a:p>
                <a:pPr marL="906462" lvl="1" indent="-457200"/>
                <a:endParaRPr lang="en-US" altLang="zh-CN" dirty="0" smtClean="0"/>
              </a:p>
              <a:p>
                <a:pPr marL="906462" lvl="1" indent="-457200"/>
                <a:r>
                  <a:rPr lang="en-US" altLang="zh-CN" dirty="0" smtClean="0"/>
                  <a:t>Can we do more</a:t>
                </a:r>
                <a:r>
                  <a:rPr lang="zh-CN" altLang="en-US" dirty="0" smtClean="0"/>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23528" y="1556792"/>
                <a:ext cx="8142287" cy="4392612"/>
              </a:xfrm>
              <a:blipFill rotWithShape="1">
                <a:blip r:embed="rId2"/>
                <a:stretch>
                  <a:fillRect b="-3190"/>
                </a:stretch>
              </a:blipFill>
            </p:spPr>
            <p:txBody>
              <a:bodyPr/>
              <a:lstStyle/>
              <a:p>
                <a:r>
                  <a:rPr lang="en-US">
                    <a:noFill/>
                  </a:rPr>
                  <a:t> </a:t>
                </a:r>
              </a:p>
            </p:txBody>
          </p:sp>
        </mc:Fallback>
      </mc:AlternateContent>
      <p:sp>
        <p:nvSpPr>
          <p:cNvPr id="4" name="TextBox 3"/>
          <p:cNvSpPr txBox="1"/>
          <p:nvPr/>
        </p:nvSpPr>
        <p:spPr>
          <a:xfrm>
            <a:off x="179512" y="4809346"/>
            <a:ext cx="8640960" cy="707886"/>
          </a:xfrm>
          <a:prstGeom prst="rect">
            <a:avLst/>
          </a:prstGeom>
          <a:noFill/>
        </p:spPr>
        <p:txBody>
          <a:bodyPr wrap="square" rtlCol="0">
            <a:spAutoFit/>
          </a:bodyPr>
          <a:lstStyle/>
          <a:p>
            <a:pPr algn="ctr"/>
            <a:r>
              <a:rPr lang="en-US" altLang="zh-CN" sz="2000" b="1" dirty="0" smtClean="0">
                <a:solidFill>
                  <a:srgbClr val="FF0000"/>
                </a:solidFill>
                <a:latin typeface="Times New Roman" pitchFamily="18" charset="0"/>
                <a:cs typeface="Times New Roman" pitchFamily="18" charset="0"/>
              </a:rPr>
              <a:t>2003</a:t>
            </a:r>
            <a:r>
              <a:rPr lang="zh-CN" altLang="en-US" sz="2000" b="1" dirty="0" smtClean="0">
                <a:solidFill>
                  <a:srgbClr val="FF0000"/>
                </a:solidFill>
                <a:latin typeface="Times New Roman" pitchFamily="18" charset="0"/>
                <a:cs typeface="Times New Roman" pitchFamily="18" charset="0"/>
              </a:rPr>
              <a:t>：</a:t>
            </a:r>
            <a:r>
              <a:rPr lang="en-US" altLang="zh-CN" sz="2000" b="1" dirty="0" smtClean="0">
                <a:solidFill>
                  <a:srgbClr val="FF0000"/>
                </a:solidFill>
                <a:latin typeface="Times New Roman" pitchFamily="18" charset="0"/>
                <a:cs typeface="Times New Roman" pitchFamily="18" charset="0"/>
              </a:rPr>
              <a:t>FV found many high-quality bugs in P4 and veriﬁed “20%” of design</a:t>
            </a:r>
          </a:p>
          <a:p>
            <a:pPr algn="ctr"/>
            <a:r>
              <a:rPr lang="en-US" altLang="zh-CN" sz="2000" b="1" dirty="0" smtClean="0">
                <a:solidFill>
                  <a:srgbClr val="FF0000"/>
                </a:solidFill>
                <a:latin typeface="Times New Roman" pitchFamily="18" charset="0"/>
                <a:cs typeface="Times New Roman" pitchFamily="18" charset="0"/>
              </a:rPr>
              <a:t>FV is now standard practice in the ﬂoating-point domain</a:t>
            </a:r>
            <a:endParaRPr lang="zh-CN" altLang="en-US" sz="2000" b="1" dirty="0">
              <a:solidFill>
                <a:srgbClr val="FF0000"/>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5" name="TextBox 4"/>
              <p:cNvSpPr txBox="1"/>
              <p:nvPr/>
            </p:nvSpPr>
            <p:spPr>
              <a:xfrm>
                <a:off x="251520" y="6021288"/>
                <a:ext cx="8424936" cy="1021177"/>
              </a:xfrm>
              <a:prstGeom prst="rect">
                <a:avLst/>
              </a:prstGeom>
              <a:noFill/>
            </p:spPr>
            <p:txBody>
              <a:bodyPr wrap="square" rtlCol="0">
                <a:spAutoFit/>
              </a:bodyPr>
              <a:lstStyle/>
              <a:p>
                <a:pPr algn="ctr"/>
                <a:r>
                  <a:rPr lang="en-US" altLang="zh-CN" sz="2000" b="1" dirty="0" smtClean="0">
                    <a:solidFill>
                      <a:srgbClr val="FF0000"/>
                    </a:solidFill>
                    <a:latin typeface="Times New Roman" pitchFamily="18" charset="0"/>
                    <a:cs typeface="Times New Roman" pitchFamily="18" charset="0"/>
                  </a:rPr>
                  <a:t>2009</a:t>
                </a:r>
                <a:r>
                  <a:rPr lang="zh-CN" altLang="en-US" sz="2000" b="1" dirty="0" smtClean="0">
                    <a:solidFill>
                      <a:srgbClr val="FF0000"/>
                    </a:solidFill>
                    <a:latin typeface="Times New Roman" pitchFamily="18" charset="0"/>
                    <a:cs typeface="Times New Roman" pitchFamily="18" charset="0"/>
                  </a:rPr>
                  <a:t>：</a:t>
                </a:r>
                <a:r>
                  <a:rPr lang="en-US" altLang="zh-CN" sz="2000" b="1" dirty="0">
                    <a:solidFill>
                      <a:srgbClr val="FF0000"/>
                    </a:solidFill>
                    <a:latin typeface="Times New Roman" pitchFamily="18" charset="0"/>
                    <a:cs typeface="Times New Roman" pitchFamily="18" charset="0"/>
                  </a:rPr>
                  <a:t>Replacing Testing with Formal Verification in Intel </a:t>
                </a:r>
                <a:r>
                  <a:rPr lang="en-US" altLang="zh-CN" sz="2000" dirty="0" smtClean="0"/>
                  <a:t> </a:t>
                </a:r>
                <a14:m>
                  <m:oMath xmlns:m="http://schemas.openxmlformats.org/officeDocument/2006/math">
                    <m:sSup>
                      <m:sSupPr>
                        <m:ctrlPr>
                          <a:rPr lang="en-US" altLang="zh-CN" sz="2000" b="1" i="1" smtClean="0">
                            <a:solidFill>
                              <a:srgbClr val="FF0000"/>
                            </a:solidFill>
                            <a:latin typeface="Cambria Math" charset="0"/>
                          </a:rPr>
                        </m:ctrlPr>
                      </m:sSupPr>
                      <m:e>
                        <m:r>
                          <a:rPr lang="en-US" altLang="zh-CN" sz="2000" b="1" i="0">
                            <a:solidFill>
                              <a:srgbClr val="FF0000"/>
                            </a:solidFill>
                            <a:latin typeface="Cambria Math"/>
                          </a:rPr>
                          <m:t>𝐂𝐨𝐫𝐞</m:t>
                        </m:r>
                      </m:e>
                      <m:sup>
                        <m:r>
                          <a:rPr lang="en-US" altLang="zh-CN" sz="2000" b="1" i="0">
                            <a:solidFill>
                              <a:srgbClr val="FF0000"/>
                            </a:solidFill>
                            <a:latin typeface="Cambria Math"/>
                          </a:rPr>
                          <m:t>𝐓𝐌</m:t>
                        </m:r>
                      </m:sup>
                    </m:sSup>
                    <m:r>
                      <a:rPr lang="en-US" altLang="zh-CN" sz="1600" b="1" i="0" smtClean="0">
                        <a:solidFill>
                          <a:srgbClr val="FF0000"/>
                        </a:solidFill>
                        <a:latin typeface="Cambria Math"/>
                      </a:rPr>
                      <m:t> </m:t>
                    </m:r>
                  </m:oMath>
                </a14:m>
                <a:r>
                  <a:rPr lang="en-US" altLang="zh-CN" sz="2000" b="1" dirty="0">
                    <a:solidFill>
                      <a:srgbClr val="FF0000"/>
                    </a:solidFill>
                    <a:latin typeface="Times New Roman" pitchFamily="18" charset="0"/>
                    <a:cs typeface="Times New Roman" pitchFamily="18" charset="0"/>
                  </a:rPr>
                  <a:t> i7 Processor Execution Engine </a:t>
                </a:r>
                <a:r>
                  <a:rPr lang="en-US" altLang="zh-CN" sz="2000" b="1" dirty="0" smtClean="0">
                    <a:solidFill>
                      <a:srgbClr val="FF0000"/>
                    </a:solidFill>
                    <a:latin typeface="Times New Roman" pitchFamily="18" charset="0"/>
                    <a:cs typeface="Times New Roman" pitchFamily="18" charset="0"/>
                  </a:rPr>
                  <a:t>Validation @ CAV09</a:t>
                </a:r>
                <a:endParaRPr lang="en-US" altLang="zh-CN" sz="2000" b="1" dirty="0">
                  <a:solidFill>
                    <a:srgbClr val="FF0000"/>
                  </a:solidFill>
                  <a:latin typeface="Times New Roman" pitchFamily="18" charset="0"/>
                  <a:cs typeface="Times New Roman" pitchFamily="18" charset="0"/>
                </a:endParaRPr>
              </a:p>
              <a:p>
                <a:pPr algn="ctr"/>
                <a:endParaRPr lang="zh-CN" altLang="en-US" sz="2000" b="1" dirty="0">
                  <a:solidFill>
                    <a:srgbClr val="FF0000"/>
                  </a:solidFill>
                  <a:latin typeface="Times New Roman" pitchFamily="18" charset="0"/>
                  <a:cs typeface="Times New Roman"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51520" y="6021288"/>
                <a:ext cx="8424936" cy="1021177"/>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249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en-US" altLang="zh-CN" smtClean="0"/>
              <a:t>07 Turing Award!</a:t>
            </a:r>
            <a:endParaRPr lang="zh-CN" altLang="en-US" smtClean="0"/>
          </a:p>
        </p:txBody>
      </p:sp>
      <p:sp>
        <p:nvSpPr>
          <p:cNvPr id="12291" name="内容占位符 2"/>
          <p:cNvSpPr>
            <a:spLocks noGrp="1"/>
          </p:cNvSpPr>
          <p:nvPr>
            <p:ph idx="1"/>
          </p:nvPr>
        </p:nvSpPr>
        <p:spPr/>
        <p:txBody>
          <a:bodyPr/>
          <a:lstStyle/>
          <a:p>
            <a:endParaRPr lang="zh-CN" altLang="en-US" smtClean="0"/>
          </a:p>
        </p:txBody>
      </p:sp>
      <p:pic>
        <p:nvPicPr>
          <p:cNvPr id="12292" name="图片 3" descr="Turing_awards_2008.jpg"/>
          <p:cNvPicPr>
            <a:picLocks noChangeAspect="1"/>
          </p:cNvPicPr>
          <p:nvPr/>
        </p:nvPicPr>
        <p:blipFill>
          <a:blip r:embed="rId2" cstate="print"/>
          <a:srcRect/>
          <a:stretch>
            <a:fillRect/>
          </a:stretch>
        </p:blipFill>
        <p:spPr bwMode="auto">
          <a:xfrm>
            <a:off x="0" y="1214422"/>
            <a:ext cx="9144000" cy="5153025"/>
          </a:xfrm>
          <a:prstGeom prst="rect">
            <a:avLst/>
          </a:prstGeom>
          <a:noFill/>
          <a:ln w="9525">
            <a:noFill/>
            <a:miter lim="800000"/>
            <a:headEnd/>
            <a:tailEnd/>
          </a:ln>
        </p:spPr>
      </p:pic>
    </p:spTree>
    <p:extLst>
      <p:ext uri="{BB962C8B-B14F-4D97-AF65-F5344CB8AC3E}">
        <p14:creationId xmlns:p14="http://schemas.microsoft.com/office/powerpoint/2010/main" val="40778842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1026"/>
          <p:cNvSpPr>
            <a:spLocks noGrp="1" noChangeArrowheads="1"/>
          </p:cNvSpPr>
          <p:nvPr>
            <p:ph type="title"/>
          </p:nvPr>
        </p:nvSpPr>
        <p:spPr/>
        <p:txBody>
          <a:bodyPr/>
          <a:lstStyle/>
          <a:p>
            <a:r>
              <a:rPr lang="zh-CN" altLang="en-US"/>
              <a:t>模型检验的过程</a:t>
            </a:r>
          </a:p>
        </p:txBody>
      </p:sp>
      <p:sp>
        <p:nvSpPr>
          <p:cNvPr id="274435" name="Rectangle 1027"/>
          <p:cNvSpPr>
            <a:spLocks noGrp="1" noChangeArrowheads="1"/>
          </p:cNvSpPr>
          <p:nvPr>
            <p:ph type="body" idx="1"/>
          </p:nvPr>
        </p:nvSpPr>
        <p:spPr/>
        <p:txBody>
          <a:bodyPr/>
          <a:lstStyle/>
          <a:p>
            <a:r>
              <a:rPr lang="zh-CN" altLang="en-US"/>
              <a:t>建模（</a:t>
            </a:r>
            <a:r>
              <a:rPr lang="en-US" altLang="zh-CN"/>
              <a:t>Modeling</a:t>
            </a:r>
            <a:r>
              <a:rPr lang="zh-CN" altLang="en-US"/>
              <a:t>）</a:t>
            </a:r>
          </a:p>
          <a:p>
            <a:endParaRPr lang="zh-CN" altLang="en-US"/>
          </a:p>
          <a:p>
            <a:r>
              <a:rPr lang="zh-CN" altLang="en-US"/>
              <a:t>规约（</a:t>
            </a:r>
            <a:r>
              <a:rPr lang="en-US" altLang="zh-CN"/>
              <a:t>Specification</a:t>
            </a:r>
            <a:r>
              <a:rPr lang="zh-CN" altLang="en-US"/>
              <a:t>）</a:t>
            </a:r>
          </a:p>
          <a:p>
            <a:endParaRPr lang="zh-CN" altLang="en-US"/>
          </a:p>
          <a:p>
            <a:r>
              <a:rPr lang="zh-CN" altLang="en-US"/>
              <a:t>验证（</a:t>
            </a:r>
            <a:r>
              <a:rPr lang="en-US" altLang="zh-CN"/>
              <a:t>Verification</a:t>
            </a:r>
            <a:r>
              <a:rPr lang="zh-CN" altLang="en-US"/>
              <a:t>）</a:t>
            </a:r>
          </a:p>
        </p:txBody>
      </p:sp>
    </p:spTree>
    <p:extLst>
      <p:ext uri="{BB962C8B-B14F-4D97-AF65-F5344CB8AC3E}">
        <p14:creationId xmlns:p14="http://schemas.microsoft.com/office/powerpoint/2010/main" val="1249495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zh-CN" altLang="en-US"/>
              <a:t>模型检验</a:t>
            </a:r>
          </a:p>
        </p:txBody>
      </p:sp>
      <p:sp>
        <p:nvSpPr>
          <p:cNvPr id="193539" name="Rectangle 3"/>
          <p:cNvSpPr>
            <a:spLocks noGrp="1" noChangeArrowheads="1"/>
          </p:cNvSpPr>
          <p:nvPr>
            <p:ph type="body" idx="1"/>
          </p:nvPr>
        </p:nvSpPr>
        <p:spPr/>
        <p:txBody>
          <a:bodyPr/>
          <a:lstStyle/>
          <a:p>
            <a:r>
              <a:rPr lang="zh-CN" altLang="en-US" dirty="0"/>
              <a:t>在模型检验中涉及两种形式说明语言：</a:t>
            </a:r>
          </a:p>
          <a:p>
            <a:pPr>
              <a:buFontTx/>
              <a:buNone/>
            </a:pPr>
            <a:r>
              <a:rPr lang="zh-CN" altLang="en-US" dirty="0"/>
              <a:t>    </a:t>
            </a:r>
            <a:r>
              <a:rPr lang="zh-CN" altLang="en-US" dirty="0" smtClean="0"/>
              <a:t> </a:t>
            </a:r>
            <a:r>
              <a:rPr lang="zh-CN" altLang="en-US" sz="2800" dirty="0" smtClean="0"/>
              <a:t>性质</a:t>
            </a:r>
            <a:r>
              <a:rPr lang="zh-CN" altLang="en-US" sz="2800" dirty="0"/>
              <a:t>说明语言用于描述系统的性质</a:t>
            </a:r>
            <a:r>
              <a:rPr lang="en-US" altLang="zh-CN" sz="2800" dirty="0"/>
              <a:t>;</a:t>
            </a:r>
          </a:p>
          <a:p>
            <a:pPr>
              <a:buFontTx/>
              <a:buNone/>
            </a:pPr>
            <a:r>
              <a:rPr lang="en-US" altLang="zh-CN" sz="2800" dirty="0"/>
              <a:t>     </a:t>
            </a:r>
            <a:r>
              <a:rPr lang="zh-CN" altLang="en-US" sz="2800" dirty="0"/>
              <a:t>模型描述语言用于描述系统的模型。</a:t>
            </a:r>
          </a:p>
          <a:p>
            <a:pPr>
              <a:buFontTx/>
              <a:buNone/>
            </a:pPr>
            <a:endParaRPr lang="zh-CN" altLang="en-US" dirty="0"/>
          </a:p>
          <a:p>
            <a:r>
              <a:rPr lang="zh-CN" altLang="en-US" dirty="0"/>
              <a:t>模型检验技术用于检验由模型描述语言描述的系统模型是否满足由性质说明语言描述的系统性质。</a:t>
            </a:r>
          </a:p>
        </p:txBody>
      </p:sp>
    </p:spTree>
    <p:extLst>
      <p:ext uri="{BB962C8B-B14F-4D97-AF65-F5344CB8AC3E}">
        <p14:creationId xmlns:p14="http://schemas.microsoft.com/office/powerpoint/2010/main" val="23117916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r>
              <a:rPr lang="zh-CN" altLang="en-US"/>
              <a:t>模型检验</a:t>
            </a:r>
          </a:p>
        </p:txBody>
      </p:sp>
      <p:sp>
        <p:nvSpPr>
          <p:cNvPr id="251907" name="Oval 3"/>
          <p:cNvSpPr>
            <a:spLocks noChangeArrowheads="1"/>
          </p:cNvSpPr>
          <p:nvPr/>
        </p:nvSpPr>
        <p:spPr bwMode="auto">
          <a:xfrm>
            <a:off x="3962400" y="3352800"/>
            <a:ext cx="1905000" cy="990600"/>
          </a:xfrm>
          <a:prstGeom prst="ellipse">
            <a:avLst/>
          </a:prstGeom>
          <a:solidFill>
            <a:schemeClr val="hlink"/>
          </a:solidFill>
          <a:ln w="9525">
            <a:solidFill>
              <a:schemeClr val="tx1"/>
            </a:solidFill>
            <a:round/>
            <a:headEnd/>
            <a:tailEnd/>
          </a:ln>
          <a:effectLst/>
        </p:spPr>
        <p:txBody>
          <a:bodyPr wrap="none" anchor="ctr"/>
          <a:lstStyle/>
          <a:p>
            <a:endParaRPr lang="zh-CN" altLang="en-US"/>
          </a:p>
        </p:txBody>
      </p:sp>
      <p:sp>
        <p:nvSpPr>
          <p:cNvPr id="251908" name="Line 4"/>
          <p:cNvSpPr>
            <a:spLocks noChangeShapeType="1"/>
          </p:cNvSpPr>
          <p:nvPr/>
        </p:nvSpPr>
        <p:spPr bwMode="auto">
          <a:xfrm>
            <a:off x="2743200" y="2895600"/>
            <a:ext cx="1295400" cy="685800"/>
          </a:xfrm>
          <a:prstGeom prst="line">
            <a:avLst/>
          </a:prstGeom>
          <a:noFill/>
          <a:ln w="38100">
            <a:solidFill>
              <a:schemeClr val="accent2"/>
            </a:solidFill>
            <a:round/>
            <a:headEnd/>
            <a:tailEnd type="triangle" w="med" len="med"/>
          </a:ln>
          <a:effectLst/>
        </p:spPr>
        <p:txBody>
          <a:bodyPr/>
          <a:lstStyle/>
          <a:p>
            <a:endParaRPr lang="zh-CN" altLang="en-US"/>
          </a:p>
        </p:txBody>
      </p:sp>
      <p:sp>
        <p:nvSpPr>
          <p:cNvPr id="251909" name="Line 5"/>
          <p:cNvSpPr>
            <a:spLocks noChangeShapeType="1"/>
          </p:cNvSpPr>
          <p:nvPr/>
        </p:nvSpPr>
        <p:spPr bwMode="auto">
          <a:xfrm flipV="1">
            <a:off x="2819400" y="4114800"/>
            <a:ext cx="1219200" cy="914400"/>
          </a:xfrm>
          <a:prstGeom prst="line">
            <a:avLst/>
          </a:prstGeom>
          <a:noFill/>
          <a:ln w="38100">
            <a:solidFill>
              <a:schemeClr val="accent2"/>
            </a:solidFill>
            <a:round/>
            <a:headEnd/>
            <a:tailEnd type="triangle" w="med" len="med"/>
          </a:ln>
          <a:effectLst/>
        </p:spPr>
        <p:txBody>
          <a:bodyPr/>
          <a:lstStyle/>
          <a:p>
            <a:endParaRPr lang="zh-CN" altLang="en-US"/>
          </a:p>
        </p:txBody>
      </p:sp>
      <p:sp>
        <p:nvSpPr>
          <p:cNvPr id="251910" name="Text Box 6"/>
          <p:cNvSpPr txBox="1">
            <a:spLocks noChangeArrowheads="1"/>
          </p:cNvSpPr>
          <p:nvPr/>
        </p:nvSpPr>
        <p:spPr bwMode="auto">
          <a:xfrm>
            <a:off x="762000" y="3352800"/>
            <a:ext cx="2608263" cy="457200"/>
          </a:xfrm>
          <a:prstGeom prst="rect">
            <a:avLst/>
          </a:prstGeom>
          <a:noFill/>
          <a:ln w="9525">
            <a:noFill/>
            <a:miter lim="800000"/>
            <a:headEnd/>
            <a:tailEnd/>
          </a:ln>
          <a:effectLst/>
        </p:spPr>
        <p:txBody>
          <a:bodyPr wrap="none">
            <a:spAutoFit/>
          </a:bodyPr>
          <a:lstStyle/>
          <a:p>
            <a:r>
              <a:rPr lang="en-US" altLang="zh-CN" sz="2400">
                <a:latin typeface="Arial" pitchFamily="34" charset="0"/>
              </a:rPr>
              <a:t>Finite-state model</a:t>
            </a:r>
          </a:p>
        </p:txBody>
      </p:sp>
      <p:sp>
        <p:nvSpPr>
          <p:cNvPr id="251911" name="AutoShape 7"/>
          <p:cNvSpPr>
            <a:spLocks noChangeArrowheads="1"/>
          </p:cNvSpPr>
          <p:nvPr/>
        </p:nvSpPr>
        <p:spPr bwMode="auto">
          <a:xfrm>
            <a:off x="1943100" y="17653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2" name="AutoShape 8"/>
          <p:cNvSpPr>
            <a:spLocks noChangeArrowheads="1"/>
          </p:cNvSpPr>
          <p:nvPr/>
        </p:nvSpPr>
        <p:spPr bwMode="auto">
          <a:xfrm>
            <a:off x="1597025" y="19050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3" name="AutoShape 9"/>
          <p:cNvSpPr>
            <a:spLocks noChangeArrowheads="1"/>
          </p:cNvSpPr>
          <p:nvPr/>
        </p:nvSpPr>
        <p:spPr bwMode="auto">
          <a:xfrm>
            <a:off x="2022475" y="20637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4" name="AutoShape 10"/>
          <p:cNvSpPr>
            <a:spLocks noChangeArrowheads="1"/>
          </p:cNvSpPr>
          <p:nvPr/>
        </p:nvSpPr>
        <p:spPr bwMode="auto">
          <a:xfrm>
            <a:off x="1527175" y="22987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5" name="AutoShape 11"/>
          <p:cNvSpPr>
            <a:spLocks noChangeArrowheads="1"/>
          </p:cNvSpPr>
          <p:nvPr/>
        </p:nvSpPr>
        <p:spPr bwMode="auto">
          <a:xfrm>
            <a:off x="1800225" y="22987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6" name="AutoShape 12"/>
          <p:cNvSpPr>
            <a:spLocks noChangeArrowheads="1"/>
          </p:cNvSpPr>
          <p:nvPr/>
        </p:nvSpPr>
        <p:spPr bwMode="auto">
          <a:xfrm>
            <a:off x="2060575" y="22987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7" name="AutoShape 13"/>
          <p:cNvSpPr>
            <a:spLocks noChangeArrowheads="1"/>
          </p:cNvSpPr>
          <p:nvPr/>
        </p:nvSpPr>
        <p:spPr bwMode="auto">
          <a:xfrm>
            <a:off x="2254250" y="22987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8" name="AutoShape 14"/>
          <p:cNvSpPr>
            <a:spLocks noChangeArrowheads="1"/>
          </p:cNvSpPr>
          <p:nvPr/>
        </p:nvSpPr>
        <p:spPr bwMode="auto">
          <a:xfrm>
            <a:off x="1679575" y="25209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9" name="AutoShape 15"/>
          <p:cNvSpPr>
            <a:spLocks noChangeArrowheads="1"/>
          </p:cNvSpPr>
          <p:nvPr/>
        </p:nvSpPr>
        <p:spPr bwMode="auto">
          <a:xfrm>
            <a:off x="2136775" y="25209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0" name="AutoShape 16"/>
          <p:cNvSpPr>
            <a:spLocks noChangeArrowheads="1"/>
          </p:cNvSpPr>
          <p:nvPr/>
        </p:nvSpPr>
        <p:spPr bwMode="auto">
          <a:xfrm>
            <a:off x="1876425" y="25209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1" name="AutoShape 17"/>
          <p:cNvSpPr>
            <a:spLocks noChangeArrowheads="1"/>
          </p:cNvSpPr>
          <p:nvPr/>
        </p:nvSpPr>
        <p:spPr bwMode="auto">
          <a:xfrm>
            <a:off x="2060575" y="27368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2" name="AutoShape 18"/>
          <p:cNvSpPr>
            <a:spLocks noChangeArrowheads="1"/>
          </p:cNvSpPr>
          <p:nvPr/>
        </p:nvSpPr>
        <p:spPr bwMode="auto">
          <a:xfrm>
            <a:off x="1755775" y="27368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3" name="AutoShape 19"/>
          <p:cNvSpPr>
            <a:spLocks noChangeArrowheads="1"/>
          </p:cNvSpPr>
          <p:nvPr/>
        </p:nvSpPr>
        <p:spPr bwMode="auto">
          <a:xfrm>
            <a:off x="1876425" y="29337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4" name="AutoShape 20"/>
          <p:cNvSpPr>
            <a:spLocks noChangeArrowheads="1"/>
          </p:cNvSpPr>
          <p:nvPr/>
        </p:nvSpPr>
        <p:spPr bwMode="auto">
          <a:xfrm>
            <a:off x="1485900" y="27368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5" name="AutoShape 21"/>
          <p:cNvSpPr>
            <a:spLocks noChangeArrowheads="1"/>
          </p:cNvSpPr>
          <p:nvPr/>
        </p:nvSpPr>
        <p:spPr bwMode="auto">
          <a:xfrm>
            <a:off x="2254250" y="27368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6" name="Line 22"/>
          <p:cNvSpPr>
            <a:spLocks noChangeShapeType="1"/>
          </p:cNvSpPr>
          <p:nvPr/>
        </p:nvSpPr>
        <p:spPr bwMode="auto">
          <a:xfrm flipH="1">
            <a:off x="1552575" y="1987550"/>
            <a:ext cx="50800" cy="3238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27" name="Line 23"/>
          <p:cNvSpPr>
            <a:spLocks noChangeShapeType="1"/>
          </p:cNvSpPr>
          <p:nvPr/>
        </p:nvSpPr>
        <p:spPr bwMode="auto">
          <a:xfrm>
            <a:off x="1603375" y="2374900"/>
            <a:ext cx="76200" cy="1460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28" name="Line 24"/>
          <p:cNvSpPr>
            <a:spLocks noChangeShapeType="1"/>
          </p:cNvSpPr>
          <p:nvPr/>
        </p:nvSpPr>
        <p:spPr bwMode="auto">
          <a:xfrm flipH="1">
            <a:off x="1527175" y="2374900"/>
            <a:ext cx="34925" cy="3619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29" name="Line 25"/>
          <p:cNvSpPr>
            <a:spLocks noChangeShapeType="1"/>
          </p:cNvSpPr>
          <p:nvPr/>
        </p:nvSpPr>
        <p:spPr bwMode="auto">
          <a:xfrm>
            <a:off x="1800225" y="2813050"/>
            <a:ext cx="76200" cy="120650"/>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30" name="Line 26"/>
          <p:cNvSpPr>
            <a:spLocks noChangeShapeType="1"/>
          </p:cNvSpPr>
          <p:nvPr/>
        </p:nvSpPr>
        <p:spPr bwMode="auto">
          <a:xfrm>
            <a:off x="1654175" y="1987550"/>
            <a:ext cx="177800" cy="3111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31" name="Line 27"/>
          <p:cNvSpPr>
            <a:spLocks noChangeShapeType="1"/>
          </p:cNvSpPr>
          <p:nvPr/>
        </p:nvSpPr>
        <p:spPr bwMode="auto">
          <a:xfrm>
            <a:off x="1851025" y="2381250"/>
            <a:ext cx="50800" cy="13970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32" name="Line 28"/>
          <p:cNvSpPr>
            <a:spLocks noChangeShapeType="1"/>
          </p:cNvSpPr>
          <p:nvPr/>
        </p:nvSpPr>
        <p:spPr bwMode="auto">
          <a:xfrm>
            <a:off x="1727200" y="2606675"/>
            <a:ext cx="47625" cy="123825"/>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33" name="Line 29"/>
          <p:cNvSpPr>
            <a:spLocks noChangeShapeType="1"/>
          </p:cNvSpPr>
          <p:nvPr/>
        </p:nvSpPr>
        <p:spPr bwMode="auto">
          <a:xfrm>
            <a:off x="1917700" y="2606675"/>
            <a:ext cx="0" cy="3111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34" name="Line 30"/>
          <p:cNvSpPr>
            <a:spLocks noChangeShapeType="1"/>
          </p:cNvSpPr>
          <p:nvPr/>
        </p:nvSpPr>
        <p:spPr bwMode="auto">
          <a:xfrm>
            <a:off x="2524125" y="2333625"/>
            <a:ext cx="12700" cy="24130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35" name="Line 31"/>
          <p:cNvSpPr>
            <a:spLocks noChangeShapeType="1"/>
          </p:cNvSpPr>
          <p:nvPr/>
        </p:nvSpPr>
        <p:spPr bwMode="auto">
          <a:xfrm>
            <a:off x="2057400" y="2146300"/>
            <a:ext cx="47625" cy="155575"/>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36" name="Line 32"/>
          <p:cNvSpPr>
            <a:spLocks noChangeShapeType="1"/>
          </p:cNvSpPr>
          <p:nvPr/>
        </p:nvSpPr>
        <p:spPr bwMode="auto">
          <a:xfrm>
            <a:off x="2101850" y="2124075"/>
            <a:ext cx="174625" cy="1841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37" name="Line 33"/>
          <p:cNvSpPr>
            <a:spLocks noChangeShapeType="1"/>
          </p:cNvSpPr>
          <p:nvPr/>
        </p:nvSpPr>
        <p:spPr bwMode="auto">
          <a:xfrm flipH="1">
            <a:off x="2190750" y="2381250"/>
            <a:ext cx="79375" cy="139700"/>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38" name="Line 34"/>
          <p:cNvSpPr>
            <a:spLocks noChangeShapeType="1"/>
          </p:cNvSpPr>
          <p:nvPr/>
        </p:nvSpPr>
        <p:spPr bwMode="auto">
          <a:xfrm>
            <a:off x="2184400" y="2609850"/>
            <a:ext cx="92075" cy="1333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39" name="Line 35"/>
          <p:cNvSpPr>
            <a:spLocks noChangeShapeType="1"/>
          </p:cNvSpPr>
          <p:nvPr/>
        </p:nvSpPr>
        <p:spPr bwMode="auto">
          <a:xfrm flipH="1">
            <a:off x="2108200" y="2606675"/>
            <a:ext cx="47625" cy="120650"/>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40" name="Line 36"/>
          <p:cNvSpPr>
            <a:spLocks noChangeShapeType="1"/>
          </p:cNvSpPr>
          <p:nvPr/>
        </p:nvSpPr>
        <p:spPr bwMode="auto">
          <a:xfrm flipH="1">
            <a:off x="1946275" y="2816225"/>
            <a:ext cx="130175" cy="123825"/>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41" name="Line 37"/>
          <p:cNvSpPr>
            <a:spLocks noChangeShapeType="1"/>
          </p:cNvSpPr>
          <p:nvPr/>
        </p:nvSpPr>
        <p:spPr bwMode="auto">
          <a:xfrm flipH="1">
            <a:off x="1663700" y="1844675"/>
            <a:ext cx="285750" cy="79375"/>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42" name="Line 38"/>
          <p:cNvSpPr>
            <a:spLocks noChangeShapeType="1"/>
          </p:cNvSpPr>
          <p:nvPr/>
        </p:nvSpPr>
        <p:spPr bwMode="auto">
          <a:xfrm>
            <a:off x="2012950" y="1841500"/>
            <a:ext cx="44450" cy="212725"/>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43" name="AutoShape 39"/>
          <p:cNvSpPr>
            <a:spLocks noChangeArrowheads="1"/>
          </p:cNvSpPr>
          <p:nvPr/>
        </p:nvSpPr>
        <p:spPr bwMode="auto">
          <a:xfrm>
            <a:off x="1597025" y="30924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4" name="AutoShape 40"/>
          <p:cNvSpPr>
            <a:spLocks noChangeArrowheads="1"/>
          </p:cNvSpPr>
          <p:nvPr/>
        </p:nvSpPr>
        <p:spPr bwMode="auto">
          <a:xfrm>
            <a:off x="2124075" y="3140075"/>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5" name="AutoShape 41"/>
          <p:cNvSpPr>
            <a:spLocks noChangeArrowheads="1"/>
          </p:cNvSpPr>
          <p:nvPr/>
        </p:nvSpPr>
        <p:spPr bwMode="auto">
          <a:xfrm>
            <a:off x="2025650" y="33274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6" name="AutoShape 42"/>
          <p:cNvSpPr>
            <a:spLocks noChangeArrowheads="1"/>
          </p:cNvSpPr>
          <p:nvPr/>
        </p:nvSpPr>
        <p:spPr bwMode="auto">
          <a:xfrm>
            <a:off x="1851025" y="31305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7" name="AutoShape 43"/>
          <p:cNvSpPr>
            <a:spLocks noChangeArrowheads="1"/>
          </p:cNvSpPr>
          <p:nvPr/>
        </p:nvSpPr>
        <p:spPr bwMode="auto">
          <a:xfrm>
            <a:off x="2495550" y="25654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8" name="Line 44"/>
          <p:cNvSpPr>
            <a:spLocks noChangeShapeType="1"/>
          </p:cNvSpPr>
          <p:nvPr/>
        </p:nvSpPr>
        <p:spPr bwMode="auto">
          <a:xfrm>
            <a:off x="1530350" y="2816225"/>
            <a:ext cx="79375" cy="276225"/>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49" name="Line 45"/>
          <p:cNvSpPr>
            <a:spLocks noChangeShapeType="1"/>
          </p:cNvSpPr>
          <p:nvPr/>
        </p:nvSpPr>
        <p:spPr bwMode="auto">
          <a:xfrm flipH="1">
            <a:off x="2355850" y="3003550"/>
            <a:ext cx="85725" cy="10160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50" name="Line 46"/>
          <p:cNvSpPr>
            <a:spLocks noChangeShapeType="1"/>
          </p:cNvSpPr>
          <p:nvPr/>
        </p:nvSpPr>
        <p:spPr bwMode="auto">
          <a:xfrm>
            <a:off x="1660525" y="3175000"/>
            <a:ext cx="349250" cy="187325"/>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51" name="Line 47"/>
          <p:cNvSpPr>
            <a:spLocks noChangeShapeType="1"/>
          </p:cNvSpPr>
          <p:nvPr/>
        </p:nvSpPr>
        <p:spPr bwMode="auto">
          <a:xfrm flipH="1">
            <a:off x="1898650" y="3013075"/>
            <a:ext cx="9525" cy="123825"/>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52" name="Line 48"/>
          <p:cNvSpPr>
            <a:spLocks noChangeShapeType="1"/>
          </p:cNvSpPr>
          <p:nvPr/>
        </p:nvSpPr>
        <p:spPr bwMode="auto">
          <a:xfrm flipH="1">
            <a:off x="2168525" y="2828925"/>
            <a:ext cx="123825" cy="301625"/>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53" name="Line 49"/>
          <p:cNvSpPr>
            <a:spLocks noChangeShapeType="1"/>
          </p:cNvSpPr>
          <p:nvPr/>
        </p:nvSpPr>
        <p:spPr bwMode="auto">
          <a:xfrm flipH="1">
            <a:off x="2085975" y="3219450"/>
            <a:ext cx="44450" cy="111125"/>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54" name="Line 50"/>
          <p:cNvSpPr>
            <a:spLocks noChangeShapeType="1"/>
          </p:cNvSpPr>
          <p:nvPr/>
        </p:nvSpPr>
        <p:spPr bwMode="auto">
          <a:xfrm>
            <a:off x="1889125" y="3213100"/>
            <a:ext cx="158750" cy="136525"/>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55" name="Line 51"/>
          <p:cNvSpPr>
            <a:spLocks noChangeShapeType="1"/>
          </p:cNvSpPr>
          <p:nvPr/>
        </p:nvSpPr>
        <p:spPr bwMode="auto">
          <a:xfrm>
            <a:off x="2371725" y="1984375"/>
            <a:ext cx="149225" cy="2730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56" name="AutoShape 52"/>
          <p:cNvSpPr>
            <a:spLocks noChangeArrowheads="1"/>
          </p:cNvSpPr>
          <p:nvPr/>
        </p:nvSpPr>
        <p:spPr bwMode="auto">
          <a:xfrm flipV="1">
            <a:off x="2489200" y="22479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57" name="AutoShape 53"/>
          <p:cNvSpPr>
            <a:spLocks noChangeArrowheads="1"/>
          </p:cNvSpPr>
          <p:nvPr/>
        </p:nvSpPr>
        <p:spPr bwMode="auto">
          <a:xfrm>
            <a:off x="2324100" y="191770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58" name="Line 54"/>
          <p:cNvSpPr>
            <a:spLocks noChangeShapeType="1"/>
          </p:cNvSpPr>
          <p:nvPr/>
        </p:nvSpPr>
        <p:spPr bwMode="auto">
          <a:xfrm>
            <a:off x="2028825" y="1809750"/>
            <a:ext cx="288925" cy="1206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59" name="Line 55"/>
          <p:cNvSpPr>
            <a:spLocks noChangeShapeType="1"/>
          </p:cNvSpPr>
          <p:nvPr/>
        </p:nvSpPr>
        <p:spPr bwMode="auto">
          <a:xfrm>
            <a:off x="2092325" y="2378075"/>
            <a:ext cx="63500" cy="15240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60" name="AutoShape 56"/>
          <p:cNvSpPr>
            <a:spLocks noChangeArrowheads="1"/>
          </p:cNvSpPr>
          <p:nvPr/>
        </p:nvSpPr>
        <p:spPr bwMode="auto">
          <a:xfrm>
            <a:off x="2428875" y="29273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61" name="Line 57"/>
          <p:cNvSpPr>
            <a:spLocks noChangeShapeType="1"/>
          </p:cNvSpPr>
          <p:nvPr/>
        </p:nvSpPr>
        <p:spPr bwMode="auto">
          <a:xfrm flipH="1">
            <a:off x="2473325" y="2644775"/>
            <a:ext cx="50800" cy="273050"/>
          </a:xfrm>
          <a:prstGeom prst="line">
            <a:avLst/>
          </a:prstGeom>
          <a:noFill/>
          <a:ln w="12700" cap="sq">
            <a:solidFill>
              <a:schemeClr val="tx1"/>
            </a:solidFill>
            <a:round/>
            <a:headEnd type="none" w="sm" len="sm"/>
            <a:tailEnd/>
          </a:ln>
          <a:effectLst/>
        </p:spPr>
        <p:txBody>
          <a:bodyPr wrap="none" anchor="ctr"/>
          <a:lstStyle/>
          <a:p>
            <a:endParaRPr lang="zh-CN" altLang="en-US"/>
          </a:p>
        </p:txBody>
      </p:sp>
      <p:sp>
        <p:nvSpPr>
          <p:cNvPr id="251962" name="AutoShape 58"/>
          <p:cNvSpPr>
            <a:spLocks noChangeArrowheads="1"/>
          </p:cNvSpPr>
          <p:nvPr/>
        </p:nvSpPr>
        <p:spPr bwMode="auto">
          <a:xfrm>
            <a:off x="2289175" y="3105150"/>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63" name="Line 59"/>
          <p:cNvSpPr>
            <a:spLocks noChangeShapeType="1"/>
          </p:cNvSpPr>
          <p:nvPr/>
        </p:nvSpPr>
        <p:spPr bwMode="auto">
          <a:xfrm flipV="1">
            <a:off x="2105025" y="3171825"/>
            <a:ext cx="203200" cy="187325"/>
          </a:xfrm>
          <a:prstGeom prst="line">
            <a:avLst/>
          </a:prstGeom>
          <a:noFill/>
          <a:ln w="12700" cap="sq">
            <a:solidFill>
              <a:schemeClr val="tx1"/>
            </a:solidFill>
            <a:round/>
            <a:headEnd/>
            <a:tailEnd/>
          </a:ln>
          <a:effectLst/>
        </p:spPr>
        <p:txBody>
          <a:bodyPr wrap="none" anchor="ctr"/>
          <a:lstStyle/>
          <a:p>
            <a:endParaRPr lang="zh-CN" altLang="en-US"/>
          </a:p>
        </p:txBody>
      </p:sp>
      <p:sp>
        <p:nvSpPr>
          <p:cNvPr id="251964" name="Freeform 60"/>
          <p:cNvSpPr>
            <a:spLocks/>
          </p:cNvSpPr>
          <p:nvPr/>
        </p:nvSpPr>
        <p:spPr bwMode="auto">
          <a:xfrm>
            <a:off x="1393825" y="2343150"/>
            <a:ext cx="200025" cy="817563"/>
          </a:xfrm>
          <a:custGeom>
            <a:avLst/>
            <a:gdLst/>
            <a:ahLst/>
            <a:cxnLst>
              <a:cxn ang="0">
                <a:pos x="126" y="504"/>
              </a:cxn>
              <a:cxn ang="0">
                <a:pos x="34" y="460"/>
              </a:cxn>
              <a:cxn ang="0">
                <a:pos x="18" y="424"/>
              </a:cxn>
              <a:cxn ang="0">
                <a:pos x="10" y="400"/>
              </a:cxn>
              <a:cxn ang="0">
                <a:pos x="6" y="88"/>
              </a:cxn>
              <a:cxn ang="0">
                <a:pos x="42" y="24"/>
              </a:cxn>
              <a:cxn ang="0">
                <a:pos x="78" y="0"/>
              </a:cxn>
            </a:cxnLst>
            <a:rect l="0" t="0" r="r" b="b"/>
            <a:pathLst>
              <a:path w="126" h="515">
                <a:moveTo>
                  <a:pt x="126" y="504"/>
                </a:moveTo>
                <a:cubicBezTo>
                  <a:pt x="93" y="515"/>
                  <a:pt x="48" y="493"/>
                  <a:pt x="34" y="460"/>
                </a:cubicBezTo>
                <a:cubicBezTo>
                  <a:pt x="30" y="451"/>
                  <a:pt x="22" y="434"/>
                  <a:pt x="18" y="424"/>
                </a:cubicBezTo>
                <a:cubicBezTo>
                  <a:pt x="15" y="416"/>
                  <a:pt x="10" y="400"/>
                  <a:pt x="10" y="400"/>
                </a:cubicBezTo>
                <a:cubicBezTo>
                  <a:pt x="0" y="295"/>
                  <a:pt x="0" y="195"/>
                  <a:pt x="6" y="88"/>
                </a:cubicBezTo>
                <a:cubicBezTo>
                  <a:pt x="7" y="69"/>
                  <a:pt x="24" y="30"/>
                  <a:pt x="42" y="24"/>
                </a:cubicBezTo>
                <a:cubicBezTo>
                  <a:pt x="54" y="6"/>
                  <a:pt x="65" y="13"/>
                  <a:pt x="78" y="0"/>
                </a:cubicBezTo>
              </a:path>
            </a:pathLst>
          </a:custGeom>
          <a:noFill/>
          <a:ln w="12700" cap="sq" cmpd="sng">
            <a:solidFill>
              <a:schemeClr val="tx1"/>
            </a:solidFill>
            <a:prstDash val="solid"/>
            <a:round/>
            <a:headEnd type="none" w="sm" len="sm"/>
            <a:tailEnd type="none" w="sm" len="sm"/>
          </a:ln>
          <a:effectLst/>
        </p:spPr>
        <p:txBody>
          <a:bodyPr wrap="none" anchor="ctr"/>
          <a:lstStyle/>
          <a:p>
            <a:endParaRPr lang="zh-CN" altLang="en-US"/>
          </a:p>
        </p:txBody>
      </p:sp>
      <p:sp>
        <p:nvSpPr>
          <p:cNvPr id="251965" name="Freeform 61"/>
          <p:cNvSpPr>
            <a:spLocks/>
          </p:cNvSpPr>
          <p:nvPr/>
        </p:nvSpPr>
        <p:spPr bwMode="auto">
          <a:xfrm>
            <a:off x="2495550" y="2292350"/>
            <a:ext cx="180975" cy="666750"/>
          </a:xfrm>
          <a:custGeom>
            <a:avLst/>
            <a:gdLst/>
            <a:ahLst/>
            <a:cxnLst>
              <a:cxn ang="0">
                <a:pos x="0" y="420"/>
              </a:cxn>
              <a:cxn ang="0">
                <a:pos x="76" y="360"/>
              </a:cxn>
              <a:cxn ang="0">
                <a:pos x="108" y="68"/>
              </a:cxn>
              <a:cxn ang="0">
                <a:pos x="40" y="0"/>
              </a:cxn>
            </a:cxnLst>
            <a:rect l="0" t="0" r="r" b="b"/>
            <a:pathLst>
              <a:path w="114" h="420">
                <a:moveTo>
                  <a:pt x="0" y="420"/>
                </a:moveTo>
                <a:cubicBezTo>
                  <a:pt x="29" y="419"/>
                  <a:pt x="58" y="419"/>
                  <a:pt x="76" y="360"/>
                </a:cubicBezTo>
                <a:cubicBezTo>
                  <a:pt x="94" y="301"/>
                  <a:pt x="114" y="128"/>
                  <a:pt x="108" y="68"/>
                </a:cubicBezTo>
                <a:cubicBezTo>
                  <a:pt x="102" y="8"/>
                  <a:pt x="71" y="4"/>
                  <a:pt x="40" y="0"/>
                </a:cubicBezTo>
              </a:path>
            </a:pathLst>
          </a:custGeom>
          <a:noFill/>
          <a:ln w="12700" cap="sq" cmpd="sng">
            <a:solidFill>
              <a:schemeClr val="tx1"/>
            </a:solidFill>
            <a:prstDash val="solid"/>
            <a:round/>
            <a:headEnd type="none" w="sm" len="sm"/>
            <a:tailEnd type="none" w="sm" len="sm"/>
          </a:ln>
          <a:effectLst/>
        </p:spPr>
        <p:txBody>
          <a:bodyPr wrap="none" anchor="ctr"/>
          <a:lstStyle/>
          <a:p>
            <a:endParaRPr lang="zh-CN" altLang="en-US"/>
          </a:p>
        </p:txBody>
      </p:sp>
      <p:sp>
        <p:nvSpPr>
          <p:cNvPr id="251966" name="Text Box 62"/>
          <p:cNvSpPr txBox="1">
            <a:spLocks noChangeArrowheads="1"/>
          </p:cNvSpPr>
          <p:nvPr/>
        </p:nvSpPr>
        <p:spPr bwMode="auto">
          <a:xfrm>
            <a:off x="406400" y="5359400"/>
            <a:ext cx="3287713" cy="457200"/>
          </a:xfrm>
          <a:prstGeom prst="rect">
            <a:avLst/>
          </a:prstGeom>
          <a:noFill/>
          <a:ln w="9525">
            <a:noFill/>
            <a:miter lim="800000"/>
            <a:headEnd/>
            <a:tailEnd/>
          </a:ln>
          <a:effectLst/>
        </p:spPr>
        <p:txBody>
          <a:bodyPr wrap="none">
            <a:spAutoFit/>
          </a:bodyPr>
          <a:lstStyle/>
          <a:p>
            <a:r>
              <a:rPr lang="en-US" altLang="zh-CN" sz="2400">
                <a:latin typeface="Arial" pitchFamily="34" charset="0"/>
              </a:rPr>
              <a:t>Temporal logic formula</a:t>
            </a:r>
          </a:p>
        </p:txBody>
      </p:sp>
      <p:sp>
        <p:nvSpPr>
          <p:cNvPr id="251967" name="Rectangle 63"/>
          <p:cNvSpPr>
            <a:spLocks noChangeArrowheads="1"/>
          </p:cNvSpPr>
          <p:nvPr/>
        </p:nvSpPr>
        <p:spPr bwMode="auto">
          <a:xfrm>
            <a:off x="876300" y="4724400"/>
            <a:ext cx="1790700" cy="546100"/>
          </a:xfrm>
          <a:prstGeom prst="rect">
            <a:avLst/>
          </a:prstGeom>
          <a:noFill/>
          <a:ln w="28575">
            <a:solidFill>
              <a:schemeClr val="tx1"/>
            </a:solidFill>
            <a:miter lim="800000"/>
            <a:headEnd/>
            <a:tailEnd/>
          </a:ln>
          <a:effectLst/>
        </p:spPr>
        <p:txBody>
          <a:bodyPr wrap="none" anchor="ctr"/>
          <a:lstStyle/>
          <a:p>
            <a:endParaRPr lang="zh-CN" altLang="en-US"/>
          </a:p>
        </p:txBody>
      </p:sp>
      <p:sp>
        <p:nvSpPr>
          <p:cNvPr id="251968" name="Text Box 64"/>
          <p:cNvSpPr txBox="1">
            <a:spLocks noChangeArrowheads="1"/>
          </p:cNvSpPr>
          <p:nvPr/>
        </p:nvSpPr>
        <p:spPr bwMode="auto">
          <a:xfrm>
            <a:off x="3962400" y="4419600"/>
            <a:ext cx="2236788" cy="457200"/>
          </a:xfrm>
          <a:prstGeom prst="rect">
            <a:avLst/>
          </a:prstGeom>
          <a:noFill/>
          <a:ln w="9525">
            <a:noFill/>
            <a:miter lim="800000"/>
            <a:headEnd/>
            <a:tailEnd/>
          </a:ln>
          <a:effectLst/>
        </p:spPr>
        <p:txBody>
          <a:bodyPr wrap="none">
            <a:spAutoFit/>
          </a:bodyPr>
          <a:lstStyle/>
          <a:p>
            <a:r>
              <a:rPr lang="en-US" altLang="zh-CN" sz="2400">
                <a:latin typeface="Arial" pitchFamily="34" charset="0"/>
              </a:rPr>
              <a:t>Model Checker</a:t>
            </a:r>
          </a:p>
        </p:txBody>
      </p:sp>
      <p:sp>
        <p:nvSpPr>
          <p:cNvPr id="251969" name="Text Box 65"/>
          <p:cNvSpPr txBox="1">
            <a:spLocks noChangeArrowheads="1"/>
          </p:cNvSpPr>
          <p:nvPr/>
        </p:nvSpPr>
        <p:spPr bwMode="auto">
          <a:xfrm>
            <a:off x="990600" y="4822825"/>
            <a:ext cx="1455738" cy="366713"/>
          </a:xfrm>
          <a:prstGeom prst="rect">
            <a:avLst/>
          </a:prstGeom>
          <a:solidFill>
            <a:srgbClr val="292929">
              <a:alpha val="50000"/>
            </a:srgbClr>
          </a:solidFill>
          <a:ln w="12700" cap="sq">
            <a:noFill/>
            <a:miter lim="800000"/>
            <a:headEnd type="none" w="sm" len="sm"/>
            <a:tailEnd type="none" w="sm" len="sm"/>
          </a:ln>
          <a:effectLst/>
        </p:spPr>
        <p:txBody>
          <a:bodyPr>
            <a:spAutoFit/>
          </a:bodyPr>
          <a:lstStyle/>
          <a:p>
            <a:r>
              <a:rPr lang="en-US" altLang="zh-CN" sz="1800">
                <a:latin typeface="Symbol" pitchFamily="18" charset="2"/>
              </a:rPr>
              <a:t>  (F         W)</a:t>
            </a:r>
          </a:p>
        </p:txBody>
      </p:sp>
      <p:sp>
        <p:nvSpPr>
          <p:cNvPr id="251970" name="Rectangle 66"/>
          <p:cNvSpPr>
            <a:spLocks noChangeArrowheads="1"/>
          </p:cNvSpPr>
          <p:nvPr/>
        </p:nvSpPr>
        <p:spPr bwMode="auto">
          <a:xfrm>
            <a:off x="1016000" y="4927600"/>
            <a:ext cx="114300" cy="152400"/>
          </a:xfrm>
          <a:prstGeom prst="rect">
            <a:avLst/>
          </a:prstGeom>
          <a:noFill/>
          <a:ln w="12700" cap="sq">
            <a:solidFill>
              <a:schemeClr val="tx1"/>
            </a:solidFill>
            <a:miter lim="800000"/>
            <a:headEnd type="none" w="sm" len="sm"/>
            <a:tailEnd type="none" w="sm" len="sm"/>
          </a:ln>
          <a:effectLst/>
        </p:spPr>
        <p:txBody>
          <a:bodyPr wrap="none" anchor="ctr"/>
          <a:lstStyle/>
          <a:p>
            <a:endParaRPr lang="zh-CN" altLang="en-US"/>
          </a:p>
        </p:txBody>
      </p:sp>
      <p:sp>
        <p:nvSpPr>
          <p:cNvPr id="251971" name="Line 67"/>
          <p:cNvSpPr>
            <a:spLocks noChangeShapeType="1"/>
          </p:cNvSpPr>
          <p:nvPr/>
        </p:nvSpPr>
        <p:spPr bwMode="auto">
          <a:xfrm>
            <a:off x="1511300" y="5016500"/>
            <a:ext cx="152400" cy="0"/>
          </a:xfrm>
          <a:prstGeom prst="line">
            <a:avLst/>
          </a:prstGeom>
          <a:noFill/>
          <a:ln w="12700" cap="sq">
            <a:solidFill>
              <a:schemeClr val="tx1"/>
            </a:solidFill>
            <a:round/>
            <a:headEnd type="none" w="sm" len="sm"/>
            <a:tailEnd type="triangle" w="sm" len="sm"/>
          </a:ln>
          <a:effectLst/>
        </p:spPr>
        <p:txBody>
          <a:bodyPr wrap="none" anchor="ctr"/>
          <a:lstStyle/>
          <a:p>
            <a:endParaRPr lang="zh-CN" altLang="en-US"/>
          </a:p>
        </p:txBody>
      </p:sp>
      <p:sp>
        <p:nvSpPr>
          <p:cNvPr id="251972" name="AutoShape 68"/>
          <p:cNvSpPr>
            <a:spLocks noChangeArrowheads="1"/>
          </p:cNvSpPr>
          <p:nvPr/>
        </p:nvSpPr>
        <p:spPr bwMode="auto">
          <a:xfrm>
            <a:off x="1689100" y="4914900"/>
            <a:ext cx="198438" cy="223838"/>
          </a:xfrm>
          <a:prstGeom prst="diamond">
            <a:avLst/>
          </a:prstGeom>
          <a:noFill/>
          <a:ln w="12700" cap="sq">
            <a:solidFill>
              <a:schemeClr val="tx1"/>
            </a:solidFill>
            <a:miter lim="800000"/>
            <a:headEnd type="none" w="sm" len="sm"/>
            <a:tailEnd type="none" w="sm" len="sm"/>
          </a:ln>
          <a:effectLst/>
        </p:spPr>
        <p:txBody>
          <a:bodyPr wrap="none" anchor="ctr"/>
          <a:lstStyle/>
          <a:p>
            <a:endParaRPr lang="zh-CN" altLang="en-US"/>
          </a:p>
        </p:txBody>
      </p:sp>
      <p:grpSp>
        <p:nvGrpSpPr>
          <p:cNvPr id="2" name="Group 69"/>
          <p:cNvGrpSpPr>
            <a:grpSpLocks/>
          </p:cNvGrpSpPr>
          <p:nvPr/>
        </p:nvGrpSpPr>
        <p:grpSpPr bwMode="auto">
          <a:xfrm>
            <a:off x="5791200" y="2971800"/>
            <a:ext cx="2514600" cy="3527425"/>
            <a:chOff x="3648" y="1872"/>
            <a:chExt cx="1584" cy="2222"/>
          </a:xfrm>
        </p:grpSpPr>
        <p:sp>
          <p:nvSpPr>
            <p:cNvPr id="251974" name="Text Box 70"/>
            <p:cNvSpPr txBox="1">
              <a:spLocks noChangeArrowheads="1"/>
            </p:cNvSpPr>
            <p:nvPr/>
          </p:nvSpPr>
          <p:spPr bwMode="auto">
            <a:xfrm>
              <a:off x="4176" y="1872"/>
              <a:ext cx="399" cy="294"/>
            </a:xfrm>
            <a:prstGeom prst="rect">
              <a:avLst/>
            </a:prstGeom>
            <a:noFill/>
            <a:ln w="9525">
              <a:solidFill>
                <a:schemeClr val="accent2"/>
              </a:solidFill>
              <a:miter lim="800000"/>
              <a:headEnd/>
              <a:tailEnd/>
            </a:ln>
            <a:effectLst/>
          </p:spPr>
          <p:txBody>
            <a:bodyPr wrap="none">
              <a:spAutoFit/>
            </a:bodyPr>
            <a:lstStyle/>
            <a:p>
              <a:r>
                <a:rPr lang="en-US" altLang="zh-CN" sz="2400">
                  <a:latin typeface="Arial" pitchFamily="34" charset="0"/>
                </a:rPr>
                <a:t>OK</a:t>
              </a:r>
            </a:p>
          </p:txBody>
        </p:sp>
        <p:sp>
          <p:nvSpPr>
            <p:cNvPr id="251975" name="Text Box 71"/>
            <p:cNvSpPr txBox="1">
              <a:spLocks noChangeArrowheads="1"/>
            </p:cNvSpPr>
            <p:nvPr/>
          </p:nvSpPr>
          <p:spPr bwMode="auto">
            <a:xfrm>
              <a:off x="4128" y="2736"/>
              <a:ext cx="1029" cy="294"/>
            </a:xfrm>
            <a:prstGeom prst="rect">
              <a:avLst/>
            </a:prstGeom>
            <a:noFill/>
            <a:ln w="9525">
              <a:solidFill>
                <a:schemeClr val="accent2"/>
              </a:solidFill>
              <a:miter lim="800000"/>
              <a:headEnd/>
              <a:tailEnd/>
            </a:ln>
            <a:effectLst/>
          </p:spPr>
          <p:txBody>
            <a:bodyPr wrap="none">
              <a:spAutoFit/>
            </a:bodyPr>
            <a:lstStyle/>
            <a:p>
              <a:r>
                <a:rPr lang="en-US" altLang="zh-CN" sz="2400">
                  <a:latin typeface="Arial" pitchFamily="34" charset="0"/>
                </a:rPr>
                <a:t>Error trace</a:t>
              </a:r>
            </a:p>
          </p:txBody>
        </p:sp>
        <p:sp>
          <p:nvSpPr>
            <p:cNvPr id="251976" name="Line 72"/>
            <p:cNvSpPr>
              <a:spLocks noChangeShapeType="1"/>
            </p:cNvSpPr>
            <p:nvPr/>
          </p:nvSpPr>
          <p:spPr bwMode="auto">
            <a:xfrm flipV="1">
              <a:off x="3648" y="2064"/>
              <a:ext cx="480" cy="240"/>
            </a:xfrm>
            <a:prstGeom prst="line">
              <a:avLst/>
            </a:prstGeom>
            <a:noFill/>
            <a:ln w="38100">
              <a:solidFill>
                <a:schemeClr val="accent2"/>
              </a:solidFill>
              <a:round/>
              <a:headEnd/>
              <a:tailEnd type="triangle" w="med" len="med"/>
            </a:ln>
            <a:effectLst/>
          </p:spPr>
          <p:txBody>
            <a:bodyPr/>
            <a:lstStyle/>
            <a:p>
              <a:endParaRPr lang="zh-CN" altLang="en-US"/>
            </a:p>
          </p:txBody>
        </p:sp>
        <p:sp>
          <p:nvSpPr>
            <p:cNvPr id="251977" name="Line 73"/>
            <p:cNvSpPr>
              <a:spLocks noChangeShapeType="1"/>
            </p:cNvSpPr>
            <p:nvPr/>
          </p:nvSpPr>
          <p:spPr bwMode="auto">
            <a:xfrm>
              <a:off x="3696" y="2544"/>
              <a:ext cx="432" cy="240"/>
            </a:xfrm>
            <a:prstGeom prst="line">
              <a:avLst/>
            </a:prstGeom>
            <a:noFill/>
            <a:ln w="38100">
              <a:solidFill>
                <a:schemeClr val="accent2"/>
              </a:solidFill>
              <a:round/>
              <a:headEnd/>
              <a:tailEnd type="triangle" w="med" len="med"/>
            </a:ln>
            <a:effectLst/>
          </p:spPr>
          <p:txBody>
            <a:bodyPr/>
            <a:lstStyle/>
            <a:p>
              <a:endParaRPr lang="zh-CN" altLang="en-US"/>
            </a:p>
          </p:txBody>
        </p:sp>
        <p:sp>
          <p:nvSpPr>
            <p:cNvPr id="251978" name="Text Box 74"/>
            <p:cNvSpPr txBox="1">
              <a:spLocks noChangeArrowheads="1"/>
            </p:cNvSpPr>
            <p:nvPr/>
          </p:nvSpPr>
          <p:spPr bwMode="auto">
            <a:xfrm>
              <a:off x="3830" y="2233"/>
              <a:ext cx="293" cy="294"/>
            </a:xfrm>
            <a:prstGeom prst="rect">
              <a:avLst/>
            </a:prstGeom>
            <a:noFill/>
            <a:ln w="9525">
              <a:solidFill>
                <a:schemeClr val="accent2"/>
              </a:solidFill>
              <a:miter lim="800000"/>
              <a:headEnd/>
              <a:tailEnd/>
            </a:ln>
            <a:effectLst/>
          </p:spPr>
          <p:txBody>
            <a:bodyPr wrap="none">
              <a:spAutoFit/>
            </a:bodyPr>
            <a:lstStyle/>
            <a:p>
              <a:r>
                <a:rPr lang="en-US" altLang="zh-CN" sz="2400">
                  <a:latin typeface="Arial" pitchFamily="34" charset="0"/>
                </a:rPr>
                <a:t>or</a:t>
              </a:r>
            </a:p>
          </p:txBody>
        </p:sp>
        <p:sp>
          <p:nvSpPr>
            <p:cNvPr id="251979" name="AutoShape 75"/>
            <p:cNvSpPr>
              <a:spLocks noChangeArrowheads="1"/>
            </p:cNvSpPr>
            <p:nvPr/>
          </p:nvSpPr>
          <p:spPr bwMode="auto">
            <a:xfrm>
              <a:off x="4176" y="2976"/>
              <a:ext cx="1056" cy="9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0000"/>
            </a:solidFill>
            <a:ln w="12700" cap="sq">
              <a:solidFill>
                <a:schemeClr val="accent2"/>
              </a:solidFill>
              <a:miter lim="800000"/>
              <a:headEnd type="none" w="sm" len="sm"/>
              <a:tailEnd type="none" w="sm" len="sm"/>
            </a:ln>
            <a:effectLst/>
          </p:spPr>
          <p:txBody>
            <a:bodyPr wrap="none" anchor="ctr"/>
            <a:lstStyle/>
            <a:p>
              <a:endParaRPr lang="zh-CN" altLang="en-US"/>
            </a:p>
          </p:txBody>
        </p:sp>
        <p:sp>
          <p:nvSpPr>
            <p:cNvPr id="251980" name="Rectangle 76"/>
            <p:cNvSpPr>
              <a:spLocks noChangeArrowheads="1"/>
            </p:cNvSpPr>
            <p:nvPr/>
          </p:nvSpPr>
          <p:spPr bwMode="auto">
            <a:xfrm>
              <a:off x="4272" y="3120"/>
              <a:ext cx="614" cy="960"/>
            </a:xfrm>
            <a:prstGeom prst="rect">
              <a:avLst/>
            </a:prstGeom>
            <a:noFill/>
            <a:ln w="28575">
              <a:solidFill>
                <a:schemeClr val="accent2"/>
              </a:solidFill>
              <a:miter lim="800000"/>
              <a:headEnd/>
              <a:tailEnd/>
            </a:ln>
            <a:effectLst/>
          </p:spPr>
          <p:txBody>
            <a:bodyPr wrap="none" anchor="ctr"/>
            <a:lstStyle/>
            <a:p>
              <a:endParaRPr lang="zh-CN" altLang="en-US"/>
            </a:p>
          </p:txBody>
        </p:sp>
        <p:sp>
          <p:nvSpPr>
            <p:cNvPr id="251981" name="Text Box 77"/>
            <p:cNvSpPr txBox="1">
              <a:spLocks noChangeArrowheads="1"/>
            </p:cNvSpPr>
            <p:nvPr/>
          </p:nvSpPr>
          <p:spPr bwMode="auto">
            <a:xfrm>
              <a:off x="4272" y="3168"/>
              <a:ext cx="554" cy="926"/>
            </a:xfrm>
            <a:prstGeom prst="rect">
              <a:avLst/>
            </a:prstGeom>
            <a:solidFill>
              <a:srgbClr val="292929">
                <a:alpha val="50000"/>
              </a:srgbClr>
            </a:solidFill>
            <a:ln w="12700" cap="sq">
              <a:solidFill>
                <a:schemeClr val="accent2"/>
              </a:solidFill>
              <a:miter lim="800000"/>
              <a:headEnd type="none" w="sm" len="sm"/>
              <a:tailEnd type="none" w="sm" len="sm"/>
            </a:ln>
            <a:effectLst/>
          </p:spPr>
          <p:txBody>
            <a:bodyPr wrap="none">
              <a:spAutoFit/>
            </a:bodyPr>
            <a:lstStyle/>
            <a:p>
              <a:r>
                <a:rPr lang="en-US" altLang="zh-CN" sz="900">
                  <a:latin typeface="Lucida Console" pitchFamily="49" charset="0"/>
                </a:rPr>
                <a:t>Line 5: …</a:t>
              </a:r>
            </a:p>
            <a:p>
              <a:r>
                <a:rPr lang="en-US" altLang="zh-CN" sz="900">
                  <a:latin typeface="Lucida Console" pitchFamily="49" charset="0"/>
                </a:rPr>
                <a:t>Line 12: …</a:t>
              </a:r>
            </a:p>
            <a:p>
              <a:r>
                <a:rPr lang="en-US" altLang="zh-CN" sz="900">
                  <a:latin typeface="Lucida Console" pitchFamily="49" charset="0"/>
                </a:rPr>
                <a:t>Line 15:…</a:t>
              </a:r>
            </a:p>
            <a:p>
              <a:r>
                <a:rPr lang="en-US" altLang="zh-CN" sz="900">
                  <a:latin typeface="Lucida Console" pitchFamily="49" charset="0"/>
                </a:rPr>
                <a:t>Line 21:…</a:t>
              </a:r>
            </a:p>
            <a:p>
              <a:r>
                <a:rPr lang="en-US" altLang="zh-CN" sz="900">
                  <a:latin typeface="Lucida Console" pitchFamily="49" charset="0"/>
                </a:rPr>
                <a:t>Line 25:…</a:t>
              </a:r>
            </a:p>
            <a:p>
              <a:r>
                <a:rPr lang="en-US" altLang="zh-CN" sz="900">
                  <a:latin typeface="Lucida Console" pitchFamily="49" charset="0"/>
                </a:rPr>
                <a:t>Line 27:…</a:t>
              </a:r>
            </a:p>
            <a:p>
              <a:r>
                <a:rPr lang="en-US" altLang="zh-CN" sz="900">
                  <a:latin typeface="Lucida Console" pitchFamily="49" charset="0"/>
                </a:rPr>
                <a:t>   …</a:t>
              </a:r>
            </a:p>
            <a:p>
              <a:r>
                <a:rPr lang="en-US" altLang="zh-CN" sz="900">
                  <a:latin typeface="Lucida Console" pitchFamily="49" charset="0"/>
                </a:rPr>
                <a:t>Line 41:…</a:t>
              </a:r>
            </a:p>
            <a:p>
              <a:r>
                <a:rPr lang="en-US" altLang="zh-CN" sz="900">
                  <a:latin typeface="Lucida Console" pitchFamily="49" charset="0"/>
                </a:rPr>
                <a:t>Line 47:…</a:t>
              </a:r>
            </a:p>
            <a:p>
              <a:endParaRPr lang="en-US" altLang="zh-CN" sz="900">
                <a:latin typeface="Lucida Console" pitchFamily="49" charset="0"/>
              </a:endParaRPr>
            </a:p>
          </p:txBody>
        </p:sp>
      </p:grpSp>
    </p:spTree>
    <p:extLst>
      <p:ext uri="{BB962C8B-B14F-4D97-AF65-F5344CB8AC3E}">
        <p14:creationId xmlns:p14="http://schemas.microsoft.com/office/powerpoint/2010/main" val="122937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190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5190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8" grpId="0" animBg="1"/>
      <p:bldP spid="25190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smtClean="0">
                <a:latin typeface="Arial" charset="0"/>
              </a:rPr>
              <a:t>模型：</a:t>
            </a:r>
            <a:r>
              <a:rPr lang="en-US" altLang="zh-CN" dirty="0" err="1" smtClean="0">
                <a:latin typeface="Arial" charset="0"/>
              </a:rPr>
              <a:t>Kripke</a:t>
            </a:r>
            <a:r>
              <a:rPr lang="en-US" altLang="zh-CN" dirty="0" smtClean="0">
                <a:latin typeface="Arial" charset="0"/>
              </a:rPr>
              <a:t> </a:t>
            </a:r>
            <a:r>
              <a:rPr lang="en-US" altLang="zh-CN" dirty="0">
                <a:latin typeface="Arial" charset="0"/>
              </a:rPr>
              <a:t>Model</a:t>
            </a:r>
          </a:p>
        </p:txBody>
      </p:sp>
      <p:sp>
        <p:nvSpPr>
          <p:cNvPr id="9219" name="Rectangle 3"/>
          <p:cNvSpPr>
            <a:spLocks noGrp="1" noChangeArrowheads="1"/>
          </p:cNvSpPr>
          <p:nvPr>
            <p:ph type="body" idx="1"/>
          </p:nvPr>
        </p:nvSpPr>
        <p:spPr/>
        <p:txBody>
          <a:bodyPr/>
          <a:lstStyle/>
          <a:p>
            <a:r>
              <a:rPr lang="en-US" altLang="zh-CN" sz="2800" dirty="0" err="1">
                <a:latin typeface="Arial" charset="0"/>
                <a:cs typeface="Arial" charset="0"/>
              </a:rPr>
              <a:t>Kripke</a:t>
            </a:r>
            <a:r>
              <a:rPr lang="en-US" altLang="zh-CN" sz="2800" dirty="0">
                <a:latin typeface="Arial" charset="0"/>
                <a:cs typeface="Arial" charset="0"/>
              </a:rPr>
              <a:t> Structure + Labeling Function</a:t>
            </a:r>
          </a:p>
          <a:p>
            <a:pPr lvl="1"/>
            <a:r>
              <a:rPr lang="en-US" altLang="zh-CN" sz="2400" dirty="0" smtClean="0">
                <a:latin typeface="Arial" charset="0"/>
                <a:cs typeface="Arial" charset="0"/>
              </a:rPr>
              <a:t>Atomic Proposition</a:t>
            </a:r>
            <a:r>
              <a:rPr lang="zh-CN" altLang="en-US" dirty="0" smtClean="0">
                <a:latin typeface="Arial" charset="0"/>
                <a:cs typeface="Arial" charset="0"/>
              </a:rPr>
              <a:t>，</a:t>
            </a:r>
            <a:r>
              <a:rPr lang="en-US" altLang="zh-CN" dirty="0" smtClean="0">
                <a:latin typeface="Arial" charset="0"/>
                <a:cs typeface="Arial" charset="0"/>
              </a:rPr>
              <a:t>AP</a:t>
            </a:r>
            <a:r>
              <a:rPr lang="zh-CN" altLang="en-US" sz="2400" dirty="0" smtClean="0">
                <a:latin typeface="Arial" charset="0"/>
                <a:cs typeface="Arial" charset="0"/>
              </a:rPr>
              <a:t>为原子命题集合</a:t>
            </a:r>
            <a:r>
              <a:rPr lang="en-US" altLang="zh-CN" sz="2400" dirty="0" smtClean="0">
                <a:latin typeface="Arial" charset="0"/>
                <a:cs typeface="Arial" charset="0"/>
              </a:rPr>
              <a:t>. </a:t>
            </a:r>
            <a:endParaRPr lang="en-US" altLang="zh-CN" sz="2400" dirty="0">
              <a:latin typeface="Arial" charset="0"/>
              <a:cs typeface="Arial" charset="0"/>
            </a:endParaRPr>
          </a:p>
          <a:p>
            <a:pPr lvl="1"/>
            <a:r>
              <a:rPr lang="en-US" altLang="zh-CN" sz="2400" dirty="0" err="1">
                <a:latin typeface="Arial" charset="0"/>
                <a:cs typeface="Arial" charset="0"/>
              </a:rPr>
              <a:t>Kripke</a:t>
            </a:r>
            <a:r>
              <a:rPr lang="en-US" altLang="zh-CN" sz="2400" dirty="0">
                <a:latin typeface="Arial" charset="0"/>
                <a:cs typeface="Arial" charset="0"/>
              </a:rPr>
              <a:t> Model: </a:t>
            </a:r>
            <a:r>
              <a:rPr lang="en-US" altLang="zh-CN" sz="2400" dirty="0">
                <a:effectLst>
                  <a:outerShdw blurRad="38100" dist="38100" dir="2700000" algn="tl">
                    <a:srgbClr val="C0C0C0"/>
                  </a:outerShdw>
                </a:effectLst>
                <a:latin typeface="Arial" charset="0"/>
                <a:cs typeface="Arial" charset="0"/>
              </a:rPr>
              <a:t>M = (S, s</a:t>
            </a:r>
            <a:r>
              <a:rPr lang="en-US" altLang="zh-CN" sz="2400" baseline="-25000" dirty="0">
                <a:effectLst>
                  <a:outerShdw blurRad="38100" dist="38100" dir="2700000" algn="tl">
                    <a:srgbClr val="C0C0C0"/>
                  </a:outerShdw>
                </a:effectLst>
                <a:latin typeface="Arial" charset="0"/>
                <a:cs typeface="Arial" charset="0"/>
              </a:rPr>
              <a:t>0</a:t>
            </a:r>
            <a:r>
              <a:rPr lang="en-US" altLang="zh-CN" sz="2400" dirty="0">
                <a:effectLst>
                  <a:outerShdw blurRad="38100" dist="38100" dir="2700000" algn="tl">
                    <a:srgbClr val="C0C0C0"/>
                  </a:outerShdw>
                </a:effectLst>
                <a:latin typeface="Arial" charset="0"/>
                <a:cs typeface="Arial" charset="0"/>
              </a:rPr>
              <a:t>, R, L)</a:t>
            </a:r>
          </a:p>
          <a:p>
            <a:pPr lvl="2"/>
            <a:endParaRPr lang="en-US" altLang="zh-CN" sz="2000" dirty="0">
              <a:latin typeface="Arial" charset="0"/>
              <a:cs typeface="Arial" charset="0"/>
            </a:endParaRPr>
          </a:p>
          <a:p>
            <a:pPr>
              <a:buFont typeface="Wingdings" pitchFamily="2" charset="2"/>
              <a:buNone/>
            </a:pPr>
            <a:r>
              <a:rPr lang="en-US" altLang="zh-CN" sz="2800" dirty="0">
                <a:latin typeface="Arial" charset="0"/>
                <a:cs typeface="Arial" charset="0"/>
              </a:rPr>
              <a:t>		S			</a:t>
            </a:r>
            <a:r>
              <a:rPr lang="zh-CN" altLang="en-US" dirty="0" smtClean="0">
                <a:latin typeface="Arial" charset="0"/>
                <a:cs typeface="Arial" charset="0"/>
              </a:rPr>
              <a:t>有穷状态集合</a:t>
            </a:r>
            <a:endParaRPr lang="en-US" altLang="zh-CN" sz="2800" dirty="0">
              <a:latin typeface="Arial" charset="0"/>
              <a:cs typeface="Arial" charset="0"/>
            </a:endParaRPr>
          </a:p>
          <a:p>
            <a:pPr>
              <a:buFont typeface="Wingdings" pitchFamily="2" charset="2"/>
              <a:buNone/>
            </a:pPr>
            <a:r>
              <a:rPr lang="en-US" altLang="zh-CN" sz="2800" dirty="0">
                <a:latin typeface="Arial" charset="0"/>
                <a:cs typeface="Arial" charset="0"/>
              </a:rPr>
              <a:t>		s</a:t>
            </a:r>
            <a:r>
              <a:rPr lang="en-US" altLang="zh-CN" sz="2800" baseline="-25000" dirty="0">
                <a:latin typeface="Arial" charset="0"/>
                <a:cs typeface="Arial" charset="0"/>
              </a:rPr>
              <a:t>0</a:t>
            </a:r>
            <a:r>
              <a:rPr lang="en-US" altLang="zh-CN" sz="2800" dirty="0">
                <a:latin typeface="Arial" charset="0"/>
                <a:cs typeface="Arial" charset="0"/>
                <a:sym typeface="Symbol" pitchFamily="18" charset="2"/>
              </a:rPr>
              <a:t></a:t>
            </a:r>
            <a:r>
              <a:rPr lang="en-US" altLang="zh-CN" sz="2800" dirty="0">
                <a:latin typeface="Arial" charset="0"/>
                <a:cs typeface="Arial" charset="0"/>
              </a:rPr>
              <a:t>S			</a:t>
            </a:r>
            <a:r>
              <a:rPr lang="zh-CN" altLang="en-US" sz="2800" dirty="0" smtClean="0">
                <a:latin typeface="Arial" charset="0"/>
                <a:cs typeface="Arial" charset="0"/>
              </a:rPr>
              <a:t>初始状态</a:t>
            </a:r>
            <a:endParaRPr lang="en-US" altLang="zh-CN" sz="2800" dirty="0">
              <a:latin typeface="Arial" charset="0"/>
              <a:cs typeface="Arial" charset="0"/>
            </a:endParaRPr>
          </a:p>
          <a:p>
            <a:pPr>
              <a:buFont typeface="Wingdings" pitchFamily="2" charset="2"/>
              <a:buNone/>
            </a:pPr>
            <a:r>
              <a:rPr lang="en-US" altLang="zh-CN" sz="2800" dirty="0">
                <a:latin typeface="Arial" charset="0"/>
                <a:cs typeface="Arial" charset="0"/>
                <a:sym typeface="Symbol" pitchFamily="18" charset="2"/>
              </a:rPr>
              <a:t>		RS  S	</a:t>
            </a:r>
            <a:r>
              <a:rPr lang="en-US" altLang="zh-CN" sz="2800" dirty="0">
                <a:latin typeface="Arial" charset="0"/>
                <a:cs typeface="Arial" charset="0"/>
              </a:rPr>
              <a:t>	</a:t>
            </a:r>
            <a:r>
              <a:rPr lang="zh-CN" altLang="en-US" sz="2800" dirty="0" smtClean="0">
                <a:latin typeface="Arial" charset="0"/>
                <a:cs typeface="Arial" charset="0"/>
              </a:rPr>
              <a:t>状态迁移</a:t>
            </a:r>
            <a:endParaRPr lang="en-US" altLang="zh-CN" sz="2800" dirty="0">
              <a:latin typeface="Arial" charset="0"/>
              <a:cs typeface="Arial" charset="0"/>
            </a:endParaRPr>
          </a:p>
          <a:p>
            <a:pPr>
              <a:buFont typeface="Wingdings" pitchFamily="2" charset="2"/>
              <a:buNone/>
            </a:pPr>
            <a:r>
              <a:rPr lang="en-US" altLang="zh-CN" sz="2800" dirty="0">
                <a:latin typeface="Arial" charset="0"/>
                <a:cs typeface="Arial" charset="0"/>
              </a:rPr>
              <a:t>		L: S→2</a:t>
            </a:r>
            <a:r>
              <a:rPr lang="en-US" altLang="zh-CN" sz="2800" baseline="30000" dirty="0">
                <a:latin typeface="Arial" charset="0"/>
                <a:cs typeface="Arial" charset="0"/>
              </a:rPr>
              <a:t>AP 	</a:t>
            </a:r>
            <a:r>
              <a:rPr lang="en-US" altLang="zh-CN" sz="2800" dirty="0">
                <a:latin typeface="Arial" charset="0"/>
                <a:cs typeface="Arial" charset="0"/>
              </a:rPr>
              <a:t>	</a:t>
            </a:r>
            <a:r>
              <a:rPr lang="en-US" altLang="zh-CN" dirty="0">
                <a:latin typeface="Arial" charset="0"/>
                <a:cs typeface="Arial" charset="0"/>
              </a:rPr>
              <a:t> </a:t>
            </a:r>
            <a:r>
              <a:rPr lang="en-US" altLang="zh-CN" dirty="0" smtClean="0">
                <a:latin typeface="Arial" charset="0"/>
                <a:cs typeface="Arial" charset="0"/>
              </a:rPr>
              <a:t>         </a:t>
            </a:r>
            <a:r>
              <a:rPr lang="zh-CN" altLang="en-US" dirty="0" smtClean="0">
                <a:latin typeface="Arial" charset="0"/>
                <a:cs typeface="Arial" charset="0"/>
              </a:rPr>
              <a:t>状态上的成真命题</a:t>
            </a:r>
            <a:endParaRPr lang="en-US" altLang="zh-CN" sz="2800" dirty="0">
              <a:latin typeface="Arial" charset="0"/>
            </a:endParaRPr>
          </a:p>
        </p:txBody>
      </p:sp>
    </p:spTree>
    <p:extLst>
      <p:ext uri="{BB962C8B-B14F-4D97-AF65-F5344CB8AC3E}">
        <p14:creationId xmlns:p14="http://schemas.microsoft.com/office/powerpoint/2010/main" val="23970720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Kripke</a:t>
            </a:r>
            <a:r>
              <a:rPr lang="en-US" altLang="zh-CN" dirty="0" smtClean="0"/>
              <a:t> Structure</a:t>
            </a:r>
            <a:endParaRPr lang="zh-CN" alt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691680" y="1412776"/>
            <a:ext cx="5400600" cy="4852831"/>
          </a:xfrm>
          <a:prstGeom prst="rect">
            <a:avLst/>
          </a:prstGeom>
          <a:noFill/>
          <a:ln w="9525">
            <a:noFill/>
            <a:miter lim="800000"/>
            <a:headEnd/>
            <a:tailEnd/>
          </a:ln>
        </p:spPr>
      </p:pic>
    </p:spTree>
    <p:extLst>
      <p:ext uri="{BB962C8B-B14F-4D97-AF65-F5344CB8AC3E}">
        <p14:creationId xmlns:p14="http://schemas.microsoft.com/office/powerpoint/2010/main" val="21371966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a:latin typeface="Arial" charset="0"/>
              </a:rPr>
              <a:t>Temporal Logics</a:t>
            </a:r>
          </a:p>
        </p:txBody>
      </p:sp>
      <p:sp>
        <p:nvSpPr>
          <p:cNvPr id="10243" name="Rectangle 3"/>
          <p:cNvSpPr>
            <a:spLocks noGrp="1" noChangeArrowheads="1"/>
          </p:cNvSpPr>
          <p:nvPr>
            <p:ph type="body" idx="1"/>
          </p:nvPr>
        </p:nvSpPr>
        <p:spPr/>
        <p:txBody>
          <a:bodyPr/>
          <a:lstStyle/>
          <a:p>
            <a:r>
              <a:rPr lang="en-US" altLang="zh-CN">
                <a:latin typeface="Arial" charset="0"/>
              </a:rPr>
              <a:t>Express properties of event orderings in time</a:t>
            </a:r>
          </a:p>
        </p:txBody>
      </p:sp>
      <p:sp>
        <p:nvSpPr>
          <p:cNvPr id="10244" name="Rectangle 4"/>
          <p:cNvSpPr>
            <a:spLocks noChangeArrowheads="1"/>
          </p:cNvSpPr>
          <p:nvPr/>
        </p:nvSpPr>
        <p:spPr bwMode="auto">
          <a:xfrm>
            <a:off x="4768850" y="2348880"/>
            <a:ext cx="4038600" cy="2743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buFont typeface="Wingdings" pitchFamily="2" charset="2"/>
              <a:buChar char="n"/>
            </a:pPr>
            <a:r>
              <a:rPr lang="en-US" altLang="zh-CN" sz="2800" dirty="0">
                <a:latin typeface="Arial" charset="0"/>
              </a:rPr>
              <a:t>Linear Time</a:t>
            </a:r>
          </a:p>
          <a:p>
            <a:pPr marL="742950" lvl="1" indent="-285750">
              <a:spcBef>
                <a:spcPct val="20000"/>
              </a:spcBef>
              <a:buClr>
                <a:schemeClr val="hlink"/>
              </a:buClr>
              <a:buSzPct val="55000"/>
              <a:buFont typeface="Wingdings" pitchFamily="2" charset="2"/>
              <a:buChar char="n"/>
            </a:pPr>
            <a:r>
              <a:rPr lang="en-US" altLang="zh-CN" sz="1600" dirty="0">
                <a:latin typeface="Arial" charset="0"/>
              </a:rPr>
              <a:t>Every moment has a unique successor</a:t>
            </a:r>
          </a:p>
          <a:p>
            <a:pPr marL="742950" lvl="1" indent="-285750">
              <a:spcBef>
                <a:spcPct val="20000"/>
              </a:spcBef>
              <a:buClr>
                <a:schemeClr val="hlink"/>
              </a:buClr>
              <a:buSzPct val="55000"/>
              <a:buFont typeface="Wingdings" pitchFamily="2" charset="2"/>
              <a:buChar char="n"/>
            </a:pPr>
            <a:r>
              <a:rPr lang="en-US" altLang="zh-CN" sz="1600" dirty="0">
                <a:latin typeface="Arial" charset="0"/>
              </a:rPr>
              <a:t>Infinite sequences (words)</a:t>
            </a:r>
          </a:p>
          <a:p>
            <a:pPr marL="742950" lvl="1" indent="-285750">
              <a:spcBef>
                <a:spcPct val="20000"/>
              </a:spcBef>
              <a:buClr>
                <a:schemeClr val="hlink"/>
              </a:buClr>
              <a:buSzPct val="55000"/>
              <a:buFont typeface="Wingdings" pitchFamily="2" charset="2"/>
              <a:buChar char="n"/>
            </a:pPr>
            <a:r>
              <a:rPr lang="en-US" altLang="zh-CN" sz="1600" dirty="0">
                <a:latin typeface="Arial" charset="0"/>
              </a:rPr>
              <a:t>Linear Temporal Logic (LTL)</a:t>
            </a:r>
          </a:p>
        </p:txBody>
      </p:sp>
      <p:sp>
        <p:nvSpPr>
          <p:cNvPr id="10245" name="Rectangle 5"/>
          <p:cNvSpPr>
            <a:spLocks noChangeArrowheads="1"/>
          </p:cNvSpPr>
          <p:nvPr/>
        </p:nvSpPr>
        <p:spPr bwMode="auto">
          <a:xfrm>
            <a:off x="683568" y="2365145"/>
            <a:ext cx="4038600" cy="2743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spcBef>
                <a:spcPct val="20000"/>
              </a:spcBef>
              <a:buClr>
                <a:schemeClr val="folHlink"/>
              </a:buClr>
              <a:buSzPct val="60000"/>
              <a:buFont typeface="Wingdings" pitchFamily="2" charset="2"/>
              <a:buChar char="n"/>
            </a:pPr>
            <a:r>
              <a:rPr lang="en-US" altLang="zh-CN" sz="2800" dirty="0">
                <a:latin typeface="Arial" charset="0"/>
              </a:rPr>
              <a:t>Branching Time</a:t>
            </a:r>
          </a:p>
          <a:p>
            <a:pPr marL="742950" lvl="1" indent="-285750">
              <a:spcBef>
                <a:spcPct val="20000"/>
              </a:spcBef>
              <a:buClr>
                <a:schemeClr val="hlink"/>
              </a:buClr>
              <a:buSzPct val="55000"/>
              <a:buFont typeface="Wingdings" pitchFamily="2" charset="2"/>
              <a:buChar char="n"/>
            </a:pPr>
            <a:r>
              <a:rPr lang="en-US" altLang="zh-CN" sz="1600" dirty="0">
                <a:latin typeface="Arial" charset="0"/>
              </a:rPr>
              <a:t>Every moment has several successors</a:t>
            </a:r>
          </a:p>
          <a:p>
            <a:pPr marL="742950" lvl="1" indent="-285750">
              <a:spcBef>
                <a:spcPct val="20000"/>
              </a:spcBef>
              <a:buClr>
                <a:schemeClr val="hlink"/>
              </a:buClr>
              <a:buSzPct val="55000"/>
              <a:buFont typeface="Wingdings" pitchFamily="2" charset="2"/>
              <a:buChar char="n"/>
            </a:pPr>
            <a:r>
              <a:rPr lang="en-US" altLang="zh-CN" sz="1600" dirty="0">
                <a:latin typeface="Arial" charset="0"/>
              </a:rPr>
              <a:t>Infinite tree</a:t>
            </a:r>
          </a:p>
          <a:p>
            <a:pPr marL="742950" lvl="1" indent="-285750">
              <a:spcBef>
                <a:spcPct val="20000"/>
              </a:spcBef>
              <a:buClr>
                <a:schemeClr val="hlink"/>
              </a:buClr>
              <a:buSzPct val="55000"/>
              <a:buFont typeface="Wingdings" pitchFamily="2" charset="2"/>
              <a:buChar char="n"/>
            </a:pPr>
            <a:r>
              <a:rPr lang="en-US" altLang="zh-CN" sz="1600" dirty="0">
                <a:latin typeface="Arial" charset="0"/>
              </a:rPr>
              <a:t>Computation Tree Logic (CTL)</a:t>
            </a:r>
          </a:p>
        </p:txBody>
      </p:sp>
      <p:grpSp>
        <p:nvGrpSpPr>
          <p:cNvPr id="10246" name="Group 6"/>
          <p:cNvGrpSpPr>
            <a:grpSpLocks/>
          </p:cNvGrpSpPr>
          <p:nvPr/>
        </p:nvGrpSpPr>
        <p:grpSpPr bwMode="auto">
          <a:xfrm>
            <a:off x="5949950" y="4893511"/>
            <a:ext cx="1676400" cy="1541462"/>
            <a:chOff x="768" y="2688"/>
            <a:chExt cx="1056" cy="971"/>
          </a:xfrm>
        </p:grpSpPr>
        <p:sp>
          <p:nvSpPr>
            <p:cNvPr id="10247" name="Oval 7"/>
            <p:cNvSpPr>
              <a:spLocks noChangeArrowheads="1"/>
            </p:cNvSpPr>
            <p:nvPr/>
          </p:nvSpPr>
          <p:spPr bwMode="auto">
            <a:xfrm>
              <a:off x="768" y="2688"/>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48" name="Oval 8"/>
            <p:cNvSpPr>
              <a:spLocks noChangeArrowheads="1"/>
            </p:cNvSpPr>
            <p:nvPr/>
          </p:nvSpPr>
          <p:spPr bwMode="auto">
            <a:xfrm>
              <a:off x="768"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49" name="Oval 9"/>
            <p:cNvSpPr>
              <a:spLocks noChangeArrowheads="1"/>
            </p:cNvSpPr>
            <p:nvPr/>
          </p:nvSpPr>
          <p:spPr bwMode="auto">
            <a:xfrm>
              <a:off x="768" y="3168"/>
              <a:ext cx="96" cy="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50" name="Oval 10"/>
            <p:cNvSpPr>
              <a:spLocks noChangeArrowheads="1"/>
            </p:cNvSpPr>
            <p:nvPr/>
          </p:nvSpPr>
          <p:spPr bwMode="auto">
            <a:xfrm>
              <a:off x="768" y="3408"/>
              <a:ext cx="96" cy="96"/>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cxnSp>
          <p:nvCxnSpPr>
            <p:cNvPr id="10251" name="AutoShape 11"/>
            <p:cNvCxnSpPr>
              <a:cxnSpLocks noChangeShapeType="1"/>
              <a:stCxn id="10247" idx="4"/>
              <a:endCxn id="10248" idx="0"/>
            </p:cNvCxnSpPr>
            <p:nvPr/>
          </p:nvCxnSpPr>
          <p:spPr bwMode="auto">
            <a:xfrm>
              <a:off x="816" y="2784"/>
              <a:ext cx="0" cy="14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52" name="AutoShape 12"/>
            <p:cNvCxnSpPr>
              <a:cxnSpLocks noChangeShapeType="1"/>
              <a:stCxn id="10248" idx="4"/>
              <a:endCxn id="10249" idx="0"/>
            </p:cNvCxnSpPr>
            <p:nvPr/>
          </p:nvCxnSpPr>
          <p:spPr bwMode="auto">
            <a:xfrm>
              <a:off x="816" y="3024"/>
              <a:ext cx="0" cy="14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53" name="AutoShape 13"/>
            <p:cNvCxnSpPr>
              <a:cxnSpLocks noChangeShapeType="1"/>
              <a:stCxn id="10249" idx="4"/>
              <a:endCxn id="10250" idx="0"/>
            </p:cNvCxnSpPr>
            <p:nvPr/>
          </p:nvCxnSpPr>
          <p:spPr bwMode="auto">
            <a:xfrm>
              <a:off x="816" y="3264"/>
              <a:ext cx="0" cy="14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254" name="Line 14"/>
            <p:cNvSpPr>
              <a:spLocks noChangeShapeType="1"/>
            </p:cNvSpPr>
            <p:nvPr/>
          </p:nvSpPr>
          <p:spPr bwMode="auto">
            <a:xfrm>
              <a:off x="816" y="3504"/>
              <a:ext cx="0" cy="15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55" name="Oval 15"/>
            <p:cNvSpPr>
              <a:spLocks noChangeArrowheads="1"/>
            </p:cNvSpPr>
            <p:nvPr/>
          </p:nvSpPr>
          <p:spPr bwMode="auto">
            <a:xfrm>
              <a:off x="1248" y="2688"/>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56" name="Oval 16"/>
            <p:cNvSpPr>
              <a:spLocks noChangeArrowheads="1"/>
            </p:cNvSpPr>
            <p:nvPr/>
          </p:nvSpPr>
          <p:spPr bwMode="auto">
            <a:xfrm>
              <a:off x="1248"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57" name="Oval 17"/>
            <p:cNvSpPr>
              <a:spLocks noChangeArrowheads="1"/>
            </p:cNvSpPr>
            <p:nvPr/>
          </p:nvSpPr>
          <p:spPr bwMode="auto">
            <a:xfrm>
              <a:off x="1248" y="3168"/>
              <a:ext cx="96" cy="96"/>
            </a:xfrm>
            <a:prstGeom prst="ellipse">
              <a:avLst/>
            </a:prstGeom>
            <a:solidFill>
              <a:srgbClr val="6633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58" name="Oval 18"/>
            <p:cNvSpPr>
              <a:spLocks noChangeArrowheads="1"/>
            </p:cNvSpPr>
            <p:nvPr/>
          </p:nvSpPr>
          <p:spPr bwMode="auto">
            <a:xfrm>
              <a:off x="1248" y="3408"/>
              <a:ext cx="96" cy="96"/>
            </a:xfrm>
            <a:prstGeom prst="ellipse">
              <a:avLst/>
            </a:prstGeom>
            <a:solidFill>
              <a:srgbClr val="808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cxnSp>
          <p:nvCxnSpPr>
            <p:cNvPr id="10259" name="AutoShape 19"/>
            <p:cNvCxnSpPr>
              <a:cxnSpLocks noChangeShapeType="1"/>
              <a:stCxn id="10255" idx="4"/>
              <a:endCxn id="10256" idx="0"/>
            </p:cNvCxnSpPr>
            <p:nvPr/>
          </p:nvCxnSpPr>
          <p:spPr bwMode="auto">
            <a:xfrm>
              <a:off x="1296" y="2784"/>
              <a:ext cx="0" cy="14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60" name="AutoShape 20"/>
            <p:cNvCxnSpPr>
              <a:cxnSpLocks noChangeShapeType="1"/>
              <a:stCxn id="10256" idx="4"/>
              <a:endCxn id="10257" idx="0"/>
            </p:cNvCxnSpPr>
            <p:nvPr/>
          </p:nvCxnSpPr>
          <p:spPr bwMode="auto">
            <a:xfrm>
              <a:off x="1296" y="3024"/>
              <a:ext cx="0" cy="14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61" name="AutoShape 21"/>
            <p:cNvCxnSpPr>
              <a:cxnSpLocks noChangeShapeType="1"/>
              <a:stCxn id="10257" idx="4"/>
              <a:endCxn id="10258" idx="0"/>
            </p:cNvCxnSpPr>
            <p:nvPr/>
          </p:nvCxnSpPr>
          <p:spPr bwMode="auto">
            <a:xfrm>
              <a:off x="1296" y="3264"/>
              <a:ext cx="0" cy="14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262" name="Line 22"/>
            <p:cNvSpPr>
              <a:spLocks noChangeShapeType="1"/>
            </p:cNvSpPr>
            <p:nvPr/>
          </p:nvSpPr>
          <p:spPr bwMode="auto">
            <a:xfrm>
              <a:off x="1296" y="3504"/>
              <a:ext cx="0" cy="15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63" name="Oval 23"/>
            <p:cNvSpPr>
              <a:spLocks noChangeArrowheads="1"/>
            </p:cNvSpPr>
            <p:nvPr/>
          </p:nvSpPr>
          <p:spPr bwMode="auto">
            <a:xfrm>
              <a:off x="1728" y="2688"/>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64" name="Oval 24"/>
            <p:cNvSpPr>
              <a:spLocks noChangeArrowheads="1"/>
            </p:cNvSpPr>
            <p:nvPr/>
          </p:nvSpPr>
          <p:spPr bwMode="auto">
            <a:xfrm>
              <a:off x="1728" y="2928"/>
              <a:ext cx="96" cy="96"/>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65" name="Oval 25"/>
            <p:cNvSpPr>
              <a:spLocks noChangeArrowheads="1"/>
            </p:cNvSpPr>
            <p:nvPr/>
          </p:nvSpPr>
          <p:spPr bwMode="auto">
            <a:xfrm>
              <a:off x="1728" y="31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66" name="Oval 26"/>
            <p:cNvSpPr>
              <a:spLocks noChangeArrowheads="1"/>
            </p:cNvSpPr>
            <p:nvPr/>
          </p:nvSpPr>
          <p:spPr bwMode="auto">
            <a:xfrm>
              <a:off x="1728" y="3408"/>
              <a:ext cx="96" cy="96"/>
            </a:xfrm>
            <a:prstGeom prst="ellipse">
              <a:avLst/>
            </a:prstGeom>
            <a:solidFill>
              <a:srgbClr val="9900CC"/>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cxnSp>
          <p:nvCxnSpPr>
            <p:cNvPr id="10267" name="AutoShape 27"/>
            <p:cNvCxnSpPr>
              <a:cxnSpLocks noChangeShapeType="1"/>
              <a:stCxn id="10263" idx="4"/>
              <a:endCxn id="10264" idx="0"/>
            </p:cNvCxnSpPr>
            <p:nvPr/>
          </p:nvCxnSpPr>
          <p:spPr bwMode="auto">
            <a:xfrm>
              <a:off x="1776" y="2784"/>
              <a:ext cx="0" cy="14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68" name="AutoShape 28"/>
            <p:cNvCxnSpPr>
              <a:cxnSpLocks noChangeShapeType="1"/>
              <a:stCxn id="10264" idx="4"/>
              <a:endCxn id="10265" idx="0"/>
            </p:cNvCxnSpPr>
            <p:nvPr/>
          </p:nvCxnSpPr>
          <p:spPr bwMode="auto">
            <a:xfrm>
              <a:off x="1776" y="3024"/>
              <a:ext cx="0" cy="14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69" name="AutoShape 29"/>
            <p:cNvCxnSpPr>
              <a:cxnSpLocks noChangeShapeType="1"/>
              <a:stCxn id="10265" idx="4"/>
              <a:endCxn id="10266" idx="0"/>
            </p:cNvCxnSpPr>
            <p:nvPr/>
          </p:nvCxnSpPr>
          <p:spPr bwMode="auto">
            <a:xfrm>
              <a:off x="1776" y="3264"/>
              <a:ext cx="0" cy="144"/>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270" name="Line 30"/>
            <p:cNvSpPr>
              <a:spLocks noChangeShapeType="1"/>
            </p:cNvSpPr>
            <p:nvPr/>
          </p:nvSpPr>
          <p:spPr bwMode="auto">
            <a:xfrm>
              <a:off x="1776" y="3504"/>
              <a:ext cx="0" cy="15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0271" name="Group 31"/>
          <p:cNvGrpSpPr>
            <a:grpSpLocks/>
          </p:cNvGrpSpPr>
          <p:nvPr/>
        </p:nvGrpSpPr>
        <p:grpSpPr bwMode="auto">
          <a:xfrm>
            <a:off x="1547664" y="4655669"/>
            <a:ext cx="2057400" cy="1676400"/>
            <a:chOff x="3360" y="2688"/>
            <a:chExt cx="1296" cy="1056"/>
          </a:xfrm>
        </p:grpSpPr>
        <p:sp>
          <p:nvSpPr>
            <p:cNvPr id="10272" name="Oval 32"/>
            <p:cNvSpPr>
              <a:spLocks noChangeArrowheads="1"/>
            </p:cNvSpPr>
            <p:nvPr/>
          </p:nvSpPr>
          <p:spPr bwMode="auto">
            <a:xfrm>
              <a:off x="3360" y="3504"/>
              <a:ext cx="96" cy="96"/>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73" name="Oval 33"/>
            <p:cNvSpPr>
              <a:spLocks noChangeArrowheads="1"/>
            </p:cNvSpPr>
            <p:nvPr/>
          </p:nvSpPr>
          <p:spPr bwMode="auto">
            <a:xfrm>
              <a:off x="3936" y="3504"/>
              <a:ext cx="96" cy="96"/>
            </a:xfrm>
            <a:prstGeom prst="ellipse">
              <a:avLst/>
            </a:prstGeom>
            <a:solidFill>
              <a:srgbClr val="808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74" name="Oval 34"/>
            <p:cNvSpPr>
              <a:spLocks noChangeArrowheads="1"/>
            </p:cNvSpPr>
            <p:nvPr/>
          </p:nvSpPr>
          <p:spPr bwMode="auto">
            <a:xfrm>
              <a:off x="4560" y="3504"/>
              <a:ext cx="96" cy="96"/>
            </a:xfrm>
            <a:prstGeom prst="ellipse">
              <a:avLst/>
            </a:prstGeom>
            <a:solidFill>
              <a:srgbClr val="9900CC"/>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75" name="Oval 35"/>
            <p:cNvSpPr>
              <a:spLocks noChangeArrowheads="1"/>
            </p:cNvSpPr>
            <p:nvPr/>
          </p:nvSpPr>
          <p:spPr bwMode="auto">
            <a:xfrm>
              <a:off x="4560" y="316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76" name="Oval 36"/>
            <p:cNvSpPr>
              <a:spLocks noChangeArrowheads="1"/>
            </p:cNvSpPr>
            <p:nvPr/>
          </p:nvSpPr>
          <p:spPr bwMode="auto">
            <a:xfrm>
              <a:off x="3936" y="3168"/>
              <a:ext cx="96" cy="96"/>
            </a:xfrm>
            <a:prstGeom prst="ellipse">
              <a:avLst/>
            </a:prstGeom>
            <a:solidFill>
              <a:srgbClr val="6633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77" name="Oval 37"/>
            <p:cNvSpPr>
              <a:spLocks noChangeArrowheads="1"/>
            </p:cNvSpPr>
            <p:nvPr/>
          </p:nvSpPr>
          <p:spPr bwMode="auto">
            <a:xfrm>
              <a:off x="3360" y="3168"/>
              <a:ext cx="96" cy="9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78" name="Oval 38"/>
            <p:cNvSpPr>
              <a:spLocks noChangeArrowheads="1"/>
            </p:cNvSpPr>
            <p:nvPr/>
          </p:nvSpPr>
          <p:spPr bwMode="auto">
            <a:xfrm>
              <a:off x="4224" y="2928"/>
              <a:ext cx="96" cy="96"/>
            </a:xfrm>
            <a:prstGeom prst="ellipse">
              <a:avLst/>
            </a:prstGeom>
            <a:solidFill>
              <a:srgbClr val="33CC33"/>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79" name="Oval 39"/>
            <p:cNvSpPr>
              <a:spLocks noChangeArrowheads="1"/>
            </p:cNvSpPr>
            <p:nvPr/>
          </p:nvSpPr>
          <p:spPr bwMode="auto">
            <a:xfrm>
              <a:off x="3600"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280" name="Oval 40"/>
            <p:cNvSpPr>
              <a:spLocks noChangeArrowheads="1"/>
            </p:cNvSpPr>
            <p:nvPr/>
          </p:nvSpPr>
          <p:spPr bwMode="auto">
            <a:xfrm>
              <a:off x="3888" y="2688"/>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cxnSp>
          <p:nvCxnSpPr>
            <p:cNvPr id="10281" name="AutoShape 41"/>
            <p:cNvCxnSpPr>
              <a:cxnSpLocks noChangeShapeType="1"/>
              <a:stCxn id="10280" idx="3"/>
              <a:endCxn id="10279" idx="7"/>
            </p:cNvCxnSpPr>
            <p:nvPr/>
          </p:nvCxnSpPr>
          <p:spPr bwMode="auto">
            <a:xfrm flipH="1">
              <a:off x="3682" y="2770"/>
              <a:ext cx="220" cy="17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82" name="AutoShape 42"/>
            <p:cNvCxnSpPr>
              <a:cxnSpLocks noChangeShapeType="1"/>
              <a:stCxn id="10279" idx="3"/>
              <a:endCxn id="10277" idx="7"/>
            </p:cNvCxnSpPr>
            <p:nvPr/>
          </p:nvCxnSpPr>
          <p:spPr bwMode="auto">
            <a:xfrm flipH="1">
              <a:off x="3442" y="3010"/>
              <a:ext cx="172" cy="17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83" name="AutoShape 43"/>
            <p:cNvCxnSpPr>
              <a:cxnSpLocks noChangeShapeType="1"/>
              <a:stCxn id="10277" idx="4"/>
              <a:endCxn id="10272" idx="0"/>
            </p:cNvCxnSpPr>
            <p:nvPr/>
          </p:nvCxnSpPr>
          <p:spPr bwMode="auto">
            <a:xfrm>
              <a:off x="3408" y="3264"/>
              <a:ext cx="0" cy="24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84" name="AutoShape 44"/>
            <p:cNvCxnSpPr>
              <a:cxnSpLocks noChangeShapeType="1"/>
              <a:stCxn id="10276" idx="4"/>
              <a:endCxn id="10273" idx="0"/>
            </p:cNvCxnSpPr>
            <p:nvPr/>
          </p:nvCxnSpPr>
          <p:spPr bwMode="auto">
            <a:xfrm>
              <a:off x="3984" y="3264"/>
              <a:ext cx="0" cy="24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85" name="AutoShape 45"/>
            <p:cNvCxnSpPr>
              <a:cxnSpLocks noChangeShapeType="1"/>
              <a:stCxn id="10275" idx="4"/>
              <a:endCxn id="10274" idx="0"/>
            </p:cNvCxnSpPr>
            <p:nvPr/>
          </p:nvCxnSpPr>
          <p:spPr bwMode="auto">
            <a:xfrm>
              <a:off x="4608" y="3264"/>
              <a:ext cx="0" cy="24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86" name="AutoShape 46"/>
            <p:cNvCxnSpPr>
              <a:cxnSpLocks noChangeShapeType="1"/>
              <a:stCxn id="10279" idx="5"/>
              <a:endCxn id="10276" idx="1"/>
            </p:cNvCxnSpPr>
            <p:nvPr/>
          </p:nvCxnSpPr>
          <p:spPr bwMode="auto">
            <a:xfrm>
              <a:off x="3682" y="3010"/>
              <a:ext cx="268" cy="17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87" name="AutoShape 47"/>
            <p:cNvCxnSpPr>
              <a:cxnSpLocks noChangeShapeType="1"/>
              <a:stCxn id="10280" idx="5"/>
              <a:endCxn id="10278" idx="1"/>
            </p:cNvCxnSpPr>
            <p:nvPr/>
          </p:nvCxnSpPr>
          <p:spPr bwMode="auto">
            <a:xfrm>
              <a:off x="3970" y="2770"/>
              <a:ext cx="268" cy="17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88" name="AutoShape 48"/>
            <p:cNvCxnSpPr>
              <a:cxnSpLocks noChangeShapeType="1"/>
              <a:stCxn id="10278" idx="5"/>
              <a:endCxn id="10275" idx="1"/>
            </p:cNvCxnSpPr>
            <p:nvPr/>
          </p:nvCxnSpPr>
          <p:spPr bwMode="auto">
            <a:xfrm>
              <a:off x="4306" y="3010"/>
              <a:ext cx="268" cy="172"/>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289" name="Line 49"/>
            <p:cNvSpPr>
              <a:spLocks noChangeShapeType="1"/>
            </p:cNvSpPr>
            <p:nvPr/>
          </p:nvSpPr>
          <p:spPr bwMode="auto">
            <a:xfrm>
              <a:off x="3408" y="360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90" name="Line 50"/>
            <p:cNvSpPr>
              <a:spLocks noChangeShapeType="1"/>
            </p:cNvSpPr>
            <p:nvPr/>
          </p:nvSpPr>
          <p:spPr bwMode="auto">
            <a:xfrm>
              <a:off x="3984" y="360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291" name="Line 51"/>
            <p:cNvSpPr>
              <a:spLocks noChangeShapeType="1"/>
            </p:cNvSpPr>
            <p:nvPr/>
          </p:nvSpPr>
          <p:spPr bwMode="auto">
            <a:xfrm>
              <a:off x="4608" y="360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26125467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428625" y="214313"/>
            <a:ext cx="6858000" cy="766762"/>
          </a:xfrm>
        </p:spPr>
        <p:txBody>
          <a:bodyPr/>
          <a:lstStyle/>
          <a:p>
            <a:endParaRPr lang="zh-CN" altLang="en-US" smtClean="0">
              <a:ea typeface="宋体" charset="-122"/>
            </a:endParaRPr>
          </a:p>
        </p:txBody>
      </p:sp>
      <p:sp>
        <p:nvSpPr>
          <p:cNvPr id="8195" name="内容占位符 2"/>
          <p:cNvSpPr>
            <a:spLocks noGrp="1"/>
          </p:cNvSpPr>
          <p:nvPr>
            <p:ph idx="1"/>
          </p:nvPr>
        </p:nvSpPr>
        <p:spPr/>
        <p:txBody>
          <a:bodyPr/>
          <a:lstStyle/>
          <a:p>
            <a:r>
              <a:rPr lang="en-US" altLang="zh-CN" dirty="0" smtClean="0">
                <a:latin typeface="Times New Roman" pitchFamily="18" charset="0"/>
                <a:ea typeface="宋体" charset="-122"/>
                <a:cs typeface="Times New Roman" pitchFamily="18" charset="0"/>
              </a:rPr>
              <a:t>Path quantifiers and Temporal operators</a:t>
            </a:r>
          </a:p>
          <a:p>
            <a:r>
              <a:rPr lang="en-US" altLang="zh-CN" dirty="0" smtClean="0">
                <a:latin typeface="Times New Roman" pitchFamily="18" charset="0"/>
                <a:ea typeface="宋体" charset="-122"/>
                <a:cs typeface="Times New Roman" pitchFamily="18" charset="0"/>
              </a:rPr>
              <a:t>Path quantifiers:</a:t>
            </a:r>
          </a:p>
          <a:p>
            <a:pPr lvl="1"/>
            <a:r>
              <a:rPr lang="en-US" altLang="zh-CN" dirty="0" smtClean="0">
                <a:latin typeface="Times New Roman" pitchFamily="18" charset="0"/>
                <a:ea typeface="宋体" charset="-122"/>
                <a:cs typeface="Times New Roman" pitchFamily="18" charset="0"/>
              </a:rPr>
              <a:t>A ( for all computation path )</a:t>
            </a:r>
          </a:p>
          <a:p>
            <a:pPr lvl="1"/>
            <a:r>
              <a:rPr lang="en-US" altLang="zh-CN" dirty="0" smtClean="0">
                <a:latin typeface="Times New Roman" pitchFamily="18" charset="0"/>
                <a:ea typeface="宋体" charset="-122"/>
                <a:cs typeface="Times New Roman" pitchFamily="18" charset="0"/>
              </a:rPr>
              <a:t>E ( for some computation path )</a:t>
            </a:r>
          </a:p>
          <a:p>
            <a:endParaRPr lang="en-US" altLang="zh-CN" dirty="0" smtClean="0">
              <a:latin typeface="Times New Roman" pitchFamily="18" charset="0"/>
              <a:ea typeface="宋体" charset="-122"/>
              <a:cs typeface="Times New Roman" pitchFamily="18" charset="0"/>
            </a:endParaRPr>
          </a:p>
          <a:p>
            <a:r>
              <a:rPr lang="en-US" altLang="zh-CN" dirty="0" smtClean="0">
                <a:latin typeface="Times New Roman" pitchFamily="18" charset="0"/>
                <a:ea typeface="宋体" charset="-122"/>
                <a:cs typeface="Times New Roman" pitchFamily="18" charset="0"/>
              </a:rPr>
              <a:t>Temporal operators:</a:t>
            </a:r>
          </a:p>
          <a:p>
            <a:pPr lvl="1"/>
            <a:r>
              <a:rPr lang="en-US" altLang="zh-CN" dirty="0" smtClean="0">
                <a:latin typeface="Times New Roman" pitchFamily="18" charset="0"/>
                <a:ea typeface="宋体" charset="-122"/>
                <a:cs typeface="Times New Roman" pitchFamily="18" charset="0"/>
              </a:rPr>
              <a:t>X, F, G, U, R</a:t>
            </a:r>
          </a:p>
        </p:txBody>
      </p:sp>
      <p:sp>
        <p:nvSpPr>
          <p:cNvPr id="4" name="日期占位符 3"/>
          <p:cNvSpPr>
            <a:spLocks noGrp="1"/>
          </p:cNvSpPr>
          <p:nvPr>
            <p:ph type="dt" sz="quarter"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r>
              <a:rPr lang="en-US" altLang="zh-CN"/>
              <a:t>Software Engineering Group</a:t>
            </a:r>
          </a:p>
        </p:txBody>
      </p:sp>
      <p:sp>
        <p:nvSpPr>
          <p:cNvPr id="6" name="灯片编号占位符 5"/>
          <p:cNvSpPr>
            <a:spLocks noGrp="1"/>
          </p:cNvSpPr>
          <p:nvPr>
            <p:ph type="sldNum" sz="quarter" idx="12"/>
          </p:nvPr>
        </p:nvSpPr>
        <p:spPr/>
        <p:txBody>
          <a:bodyPr/>
          <a:lstStyle/>
          <a:p>
            <a:pPr>
              <a:defRPr/>
            </a:pPr>
            <a:fld id="{FF118B68-4C85-4BEE-AF15-606B04E722D2}" type="slidenum">
              <a:rPr lang="en-US" altLang="zh-CN" smtClean="0"/>
              <a:pPr>
                <a:defRPr/>
              </a:pPr>
              <a:t>20</a:t>
            </a:fld>
            <a:endParaRPr lang="en-US" altLang="zh-CN" dirty="0"/>
          </a:p>
        </p:txBody>
      </p:sp>
    </p:spTree>
    <p:extLst>
      <p:ext uri="{BB962C8B-B14F-4D97-AF65-F5344CB8AC3E}">
        <p14:creationId xmlns:p14="http://schemas.microsoft.com/office/powerpoint/2010/main" val="24974043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r>
              <a:rPr lang="en-US" altLang="zh-CN" dirty="0" smtClean="0">
                <a:latin typeface="Times New Roman" pitchFamily="18" charset="0"/>
                <a:cs typeface="Times New Roman" pitchFamily="18" charset="0"/>
              </a:rPr>
              <a:t>X </a:t>
            </a:r>
            <a:r>
              <a:rPr lang="en-US" altLang="zh-CN" dirty="0">
                <a:latin typeface="Times New Roman" pitchFamily="18" charset="0"/>
                <a:cs typeface="Times New Roman" pitchFamily="18" charset="0"/>
              </a:rPr>
              <a:t>(</a:t>
            </a:r>
            <a:r>
              <a:rPr lang="en-US" altLang="zh-CN" dirty="0" smtClean="0">
                <a:latin typeface="Times New Roman" pitchFamily="18" charset="0"/>
                <a:cs typeface="Times New Roman" pitchFamily="18" charset="0"/>
              </a:rPr>
              <a:t>next time) requires the property holds in the second state of the path</a:t>
            </a:r>
          </a:p>
          <a:p>
            <a:r>
              <a:rPr lang="en-US" altLang="zh-CN" dirty="0" smtClean="0">
                <a:latin typeface="Times New Roman" pitchFamily="18" charset="0"/>
                <a:cs typeface="Times New Roman" pitchFamily="18" charset="0"/>
              </a:rPr>
              <a:t>F (eventually) the property will hold at some state on the path</a:t>
            </a:r>
          </a:p>
          <a:p>
            <a:r>
              <a:rPr lang="en-US" altLang="zh-CN" dirty="0" smtClean="0">
                <a:latin typeface="Times New Roman" pitchFamily="18" charset="0"/>
                <a:cs typeface="Times New Roman" pitchFamily="18" charset="0"/>
              </a:rPr>
              <a:t>G (always) the property holds at every state on the path</a:t>
            </a:r>
          </a:p>
          <a:p>
            <a:r>
              <a:rPr lang="en-US" altLang="zh-CN" dirty="0" smtClean="0">
                <a:latin typeface="Times New Roman" pitchFamily="18" charset="0"/>
                <a:cs typeface="Times New Roman" pitchFamily="18" charset="0"/>
              </a:rPr>
              <a:t>U (until) if there is a state on the path where the second property holds, at every preceding state, the first one holds</a:t>
            </a:r>
          </a:p>
          <a:p>
            <a:r>
              <a:rPr lang="en-US" altLang="zh-CN" dirty="0" smtClean="0">
                <a:latin typeface="Times New Roman" pitchFamily="18" charset="0"/>
                <a:cs typeface="Times New Roman" pitchFamily="18" charset="0"/>
              </a:rPr>
              <a:t>R (release) the second property holds along the path up to and including the first state where the first property holds. However, the first property is not required to hold eventually</a:t>
            </a:r>
            <a:endParaRPr lang="zh-CN" alt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243335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428625" y="214313"/>
            <a:ext cx="6858000" cy="766762"/>
          </a:xfrm>
        </p:spPr>
        <p:txBody>
          <a:bodyPr/>
          <a:lstStyle/>
          <a:p>
            <a:r>
              <a:rPr lang="en-US" altLang="zh-CN" smtClean="0">
                <a:ea typeface="宋体" charset="-122"/>
              </a:rPr>
              <a:t>CTL</a:t>
            </a:r>
            <a:endParaRPr lang="zh-CN" altLang="en-US" smtClean="0">
              <a:ea typeface="宋体" charset="-122"/>
            </a:endParaRPr>
          </a:p>
        </p:txBody>
      </p:sp>
      <p:sp>
        <p:nvSpPr>
          <p:cNvPr id="12291" name="内容占位符 2"/>
          <p:cNvSpPr>
            <a:spLocks noGrp="1"/>
          </p:cNvSpPr>
          <p:nvPr>
            <p:ph idx="1"/>
          </p:nvPr>
        </p:nvSpPr>
        <p:spPr/>
        <p:txBody>
          <a:bodyPr/>
          <a:lstStyle/>
          <a:p>
            <a:r>
              <a:rPr lang="en-US" altLang="zh-CN" dirty="0" smtClean="0">
                <a:latin typeface="Times New Roman" pitchFamily="18" charset="0"/>
                <a:ea typeface="宋体" charset="-122"/>
                <a:cs typeface="Times New Roman" pitchFamily="18" charset="0"/>
              </a:rPr>
              <a:t>ten basic CTL operators:</a:t>
            </a:r>
          </a:p>
          <a:p>
            <a:pPr lvl="1"/>
            <a:r>
              <a:rPr lang="en-US" altLang="zh-CN" dirty="0" smtClean="0">
                <a:latin typeface="Times New Roman" pitchFamily="18" charset="0"/>
                <a:ea typeface="宋体" charset="-122"/>
                <a:cs typeface="Times New Roman" pitchFamily="18" charset="0"/>
              </a:rPr>
              <a:t>AX and EX</a:t>
            </a:r>
          </a:p>
          <a:p>
            <a:pPr lvl="1"/>
            <a:r>
              <a:rPr lang="en-US" altLang="zh-CN" dirty="0" smtClean="0">
                <a:latin typeface="Times New Roman" pitchFamily="18" charset="0"/>
                <a:ea typeface="宋体" charset="-122"/>
                <a:cs typeface="Times New Roman" pitchFamily="18" charset="0"/>
              </a:rPr>
              <a:t>AF and EF</a:t>
            </a:r>
          </a:p>
          <a:p>
            <a:pPr lvl="1"/>
            <a:r>
              <a:rPr lang="en-US" altLang="zh-CN" dirty="0" smtClean="0">
                <a:latin typeface="Times New Roman" pitchFamily="18" charset="0"/>
                <a:ea typeface="宋体" charset="-122"/>
                <a:cs typeface="Times New Roman" pitchFamily="18" charset="0"/>
              </a:rPr>
              <a:t>AG and EG</a:t>
            </a:r>
          </a:p>
          <a:p>
            <a:pPr lvl="1"/>
            <a:r>
              <a:rPr lang="en-US" altLang="zh-CN" dirty="0" smtClean="0">
                <a:latin typeface="Times New Roman" pitchFamily="18" charset="0"/>
                <a:ea typeface="宋体" charset="-122"/>
                <a:cs typeface="Times New Roman" pitchFamily="18" charset="0"/>
              </a:rPr>
              <a:t>AU and EU</a:t>
            </a:r>
          </a:p>
          <a:p>
            <a:pPr lvl="1"/>
            <a:r>
              <a:rPr lang="en-US" altLang="zh-CN" dirty="0" smtClean="0">
                <a:latin typeface="Times New Roman" pitchFamily="18" charset="0"/>
                <a:ea typeface="宋体" charset="-122"/>
                <a:cs typeface="Times New Roman" pitchFamily="18" charset="0"/>
              </a:rPr>
              <a:t>AR and ER</a:t>
            </a:r>
          </a:p>
          <a:p>
            <a:pPr lvl="1">
              <a:buFont typeface="Wingdings" pitchFamily="2" charset="2"/>
              <a:buNone/>
            </a:pPr>
            <a:endParaRPr lang="en-US" altLang="zh-CN" dirty="0" smtClean="0">
              <a:ea typeface="宋体" charset="-122"/>
            </a:endParaRPr>
          </a:p>
        </p:txBody>
      </p:sp>
      <p:sp>
        <p:nvSpPr>
          <p:cNvPr id="4" name="日期占位符 3"/>
          <p:cNvSpPr>
            <a:spLocks noGrp="1"/>
          </p:cNvSpPr>
          <p:nvPr>
            <p:ph type="dt" sz="quarter"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r>
              <a:rPr lang="en-US" altLang="zh-CN"/>
              <a:t>Software Engineering Group</a:t>
            </a:r>
          </a:p>
        </p:txBody>
      </p:sp>
      <p:sp>
        <p:nvSpPr>
          <p:cNvPr id="6" name="灯片编号占位符 5"/>
          <p:cNvSpPr>
            <a:spLocks noGrp="1"/>
          </p:cNvSpPr>
          <p:nvPr>
            <p:ph type="sldNum" sz="quarter" idx="12"/>
          </p:nvPr>
        </p:nvSpPr>
        <p:spPr/>
        <p:txBody>
          <a:bodyPr/>
          <a:lstStyle/>
          <a:p>
            <a:pPr>
              <a:defRPr/>
            </a:pPr>
            <a:fld id="{9D619CB3-2046-4204-9504-CCFCBC1F0242}" type="slidenum">
              <a:rPr lang="en-US" altLang="zh-CN" smtClean="0"/>
              <a:pPr>
                <a:defRPr/>
              </a:pPr>
              <a:t>22</a:t>
            </a:fld>
            <a:endParaRPr lang="en-US" altLang="zh-CN" dirty="0"/>
          </a:p>
        </p:txBody>
      </p:sp>
    </p:spTree>
    <p:extLst>
      <p:ext uri="{BB962C8B-B14F-4D97-AF65-F5344CB8AC3E}">
        <p14:creationId xmlns:p14="http://schemas.microsoft.com/office/powerpoint/2010/main" val="23132290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447675" lvl="1" indent="-447675">
              <a:buClr>
                <a:schemeClr val="accent1"/>
              </a:buClr>
              <a:buSzPct val="70000"/>
              <a:buFont typeface="Wingdings" pitchFamily="2" charset="2"/>
              <a:buChar char="n"/>
            </a:pPr>
            <a:r>
              <a:rPr lang="en-US" altLang="zh-CN" sz="2800" dirty="0">
                <a:latin typeface="Times New Roman" pitchFamily="18" charset="0"/>
                <a:ea typeface="宋体" charset="-122"/>
                <a:cs typeface="Times New Roman" pitchFamily="18" charset="0"/>
              </a:rPr>
              <a:t>Each of the ten operators can be expressed in terms of EX, EG and </a:t>
            </a:r>
            <a:r>
              <a:rPr lang="en-US" altLang="zh-CN" sz="2800" dirty="0" smtClean="0">
                <a:latin typeface="Times New Roman" pitchFamily="18" charset="0"/>
                <a:ea typeface="宋体" charset="-122"/>
                <a:cs typeface="Times New Roman" pitchFamily="18" charset="0"/>
              </a:rPr>
              <a:t>EU</a:t>
            </a:r>
            <a:endParaRPr lang="en-US" altLang="zh-CN" sz="2800" dirty="0" smtClean="0">
              <a:latin typeface="Times New Roman" pitchFamily="18" charset="0"/>
              <a:cs typeface="Times New Roman" pitchFamily="18" charset="0"/>
            </a:endParaRPr>
          </a:p>
          <a:p>
            <a:pPr lvl="1"/>
            <a:r>
              <a:rPr lang="en-US" altLang="zh-CN" dirty="0" smtClean="0">
                <a:latin typeface="Times New Roman" pitchFamily="18" charset="0"/>
                <a:cs typeface="Times New Roman" pitchFamily="18" charset="0"/>
              </a:rPr>
              <a:t>AX f= ! EX(!f)</a:t>
            </a:r>
          </a:p>
          <a:p>
            <a:pPr lvl="1"/>
            <a:r>
              <a:rPr lang="en-US" altLang="zh-CN" dirty="0" smtClean="0">
                <a:latin typeface="Times New Roman" pitchFamily="18" charset="0"/>
                <a:cs typeface="Times New Roman" pitchFamily="18" charset="0"/>
              </a:rPr>
              <a:t>EF f= E[True U f]</a:t>
            </a:r>
          </a:p>
          <a:p>
            <a:pPr lvl="1"/>
            <a:r>
              <a:rPr lang="en-US" altLang="zh-CN" dirty="0" smtClean="0">
                <a:latin typeface="Times New Roman" pitchFamily="18" charset="0"/>
                <a:cs typeface="Times New Roman" pitchFamily="18" charset="0"/>
              </a:rPr>
              <a:t>AG f =!EF(!f)</a:t>
            </a:r>
          </a:p>
          <a:p>
            <a:pPr lvl="1"/>
            <a:r>
              <a:rPr lang="en-US" altLang="zh-CN" dirty="0" smtClean="0">
                <a:latin typeface="Times New Roman" pitchFamily="18" charset="0"/>
                <a:cs typeface="Times New Roman" pitchFamily="18" charset="0"/>
              </a:rPr>
              <a:t>AF f= !EG(!f)</a:t>
            </a:r>
          </a:p>
          <a:p>
            <a:pPr lvl="1"/>
            <a:r>
              <a:rPr lang="en-US" altLang="zh-CN" dirty="0" smtClean="0">
                <a:latin typeface="Times New Roman" pitchFamily="18" charset="0"/>
                <a:cs typeface="Times New Roman" pitchFamily="18" charset="0"/>
              </a:rPr>
              <a:t>A[f U g]= !E[!</a:t>
            </a:r>
            <a:r>
              <a:rPr lang="en-US" altLang="zh-CN" dirty="0" err="1" smtClean="0">
                <a:latin typeface="Times New Roman" pitchFamily="18" charset="0"/>
                <a:cs typeface="Times New Roman" pitchFamily="18" charset="0"/>
              </a:rPr>
              <a:t>gU</a:t>
            </a:r>
            <a:r>
              <a:rPr lang="en-US" altLang="zh-CN" dirty="0" smtClean="0">
                <a:latin typeface="Times New Roman" pitchFamily="18" charset="0"/>
                <a:cs typeface="Times New Roman" pitchFamily="18" charset="0"/>
              </a:rPr>
              <a:t>(!f ^ !g)] ^ !EG !g</a:t>
            </a:r>
          </a:p>
          <a:p>
            <a:pPr lvl="1"/>
            <a:r>
              <a:rPr lang="en-US" altLang="zh-CN" dirty="0" smtClean="0">
                <a:latin typeface="Times New Roman" pitchFamily="18" charset="0"/>
                <a:cs typeface="Times New Roman" pitchFamily="18" charset="0"/>
              </a:rPr>
              <a:t>A[f R g] = !E[!f U !g]</a:t>
            </a:r>
          </a:p>
          <a:p>
            <a:pPr lvl="1"/>
            <a:r>
              <a:rPr lang="en-US" altLang="zh-CN" dirty="0" smtClean="0">
                <a:latin typeface="Times New Roman" pitchFamily="18" charset="0"/>
                <a:cs typeface="Times New Roman" pitchFamily="18" charset="0"/>
              </a:rPr>
              <a:t>E[f R g] = !A[!f U !g]</a:t>
            </a:r>
          </a:p>
          <a:p>
            <a:endParaRPr lang="en-US" altLang="zh-CN" dirty="0" smtClean="0">
              <a:latin typeface="Times New Roman" pitchFamily="18" charset="0"/>
              <a:cs typeface="Times New Roman" pitchFamily="18" charset="0"/>
            </a:endParaRPr>
          </a:p>
          <a:p>
            <a:endParaRPr lang="zh-CN" altLang="en-US" dirty="0">
              <a:latin typeface="Times New Roman" pitchFamily="18" charset="0"/>
              <a:cs typeface="Times New Roman" pitchFamily="18" charset="0"/>
            </a:endParaRPr>
          </a:p>
        </p:txBody>
      </p:sp>
    </p:spTree>
    <p:extLst>
      <p:ext uri="{BB962C8B-B14F-4D97-AF65-F5344CB8AC3E}">
        <p14:creationId xmlns:p14="http://schemas.microsoft.com/office/powerpoint/2010/main" val="15056583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428625" y="214313"/>
            <a:ext cx="6858000" cy="766762"/>
          </a:xfrm>
        </p:spPr>
        <p:txBody>
          <a:bodyPr/>
          <a:lstStyle/>
          <a:p>
            <a:r>
              <a:rPr lang="en-US" altLang="zh-CN" smtClean="0">
                <a:ea typeface="宋体" charset="-122"/>
              </a:rPr>
              <a:t>CTL</a:t>
            </a:r>
            <a:endParaRPr lang="zh-CN" altLang="en-US" smtClean="0">
              <a:ea typeface="宋体" charset="-122"/>
            </a:endParaRPr>
          </a:p>
        </p:txBody>
      </p:sp>
      <p:pic>
        <p:nvPicPr>
          <p:cNvPr id="13315" name="内容占位符 6" descr="4.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787400" y="1484313"/>
            <a:ext cx="7504113" cy="4392612"/>
          </a:xfrm>
        </p:spPr>
      </p:pic>
      <p:sp>
        <p:nvSpPr>
          <p:cNvPr id="4" name="日期占位符 3"/>
          <p:cNvSpPr>
            <a:spLocks noGrp="1"/>
          </p:cNvSpPr>
          <p:nvPr>
            <p:ph type="dt" sz="quarter"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r>
              <a:rPr lang="en-US" altLang="zh-CN"/>
              <a:t>Software Engineering Group</a:t>
            </a:r>
          </a:p>
        </p:txBody>
      </p:sp>
      <p:sp>
        <p:nvSpPr>
          <p:cNvPr id="6" name="灯片编号占位符 5"/>
          <p:cNvSpPr>
            <a:spLocks noGrp="1"/>
          </p:cNvSpPr>
          <p:nvPr>
            <p:ph type="sldNum" sz="quarter" idx="12"/>
          </p:nvPr>
        </p:nvSpPr>
        <p:spPr/>
        <p:txBody>
          <a:bodyPr/>
          <a:lstStyle/>
          <a:p>
            <a:pPr>
              <a:defRPr/>
            </a:pPr>
            <a:fld id="{E229CA0A-0663-4C67-A014-396FD7A47D8B}" type="slidenum">
              <a:rPr lang="en-US" altLang="zh-CN" smtClean="0"/>
              <a:pPr>
                <a:defRPr/>
              </a:pPr>
              <a:t>24</a:t>
            </a:fld>
            <a:endParaRPr lang="en-US" altLang="zh-CN" dirty="0"/>
          </a:p>
        </p:txBody>
      </p:sp>
    </p:spTree>
    <p:extLst>
      <p:ext uri="{BB962C8B-B14F-4D97-AF65-F5344CB8AC3E}">
        <p14:creationId xmlns:p14="http://schemas.microsoft.com/office/powerpoint/2010/main" val="20522534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28625" y="214313"/>
            <a:ext cx="6858000" cy="766762"/>
          </a:xfrm>
        </p:spPr>
        <p:txBody>
          <a:bodyPr/>
          <a:lstStyle/>
          <a:p>
            <a:r>
              <a:rPr lang="en-US" altLang="zh-CN" smtClean="0">
                <a:ea typeface="宋体" charset="-122"/>
              </a:rPr>
              <a:t>Examples</a:t>
            </a:r>
            <a:endParaRPr lang="zh-CN" altLang="en-US" smtClean="0">
              <a:ea typeface="宋体" charset="-122"/>
            </a:endParaRPr>
          </a:p>
        </p:txBody>
      </p:sp>
      <p:sp>
        <p:nvSpPr>
          <p:cNvPr id="14339" name="内容占位符 2"/>
          <p:cNvSpPr>
            <a:spLocks noGrp="1"/>
          </p:cNvSpPr>
          <p:nvPr>
            <p:ph idx="1"/>
          </p:nvPr>
        </p:nvSpPr>
        <p:spPr/>
        <p:txBody>
          <a:bodyPr/>
          <a:lstStyle/>
          <a:p>
            <a:pPr>
              <a:lnSpc>
                <a:spcPct val="80000"/>
              </a:lnSpc>
            </a:pPr>
            <a:r>
              <a:rPr lang="en-US" altLang="zh-CN" sz="2400" dirty="0" smtClean="0">
                <a:latin typeface="Times New Roman" pitchFamily="18" charset="0"/>
                <a:ea typeface="宋体" charset="-122"/>
                <a:cs typeface="Times New Roman" pitchFamily="18" charset="0"/>
              </a:rPr>
              <a:t>Let "P" mean "I like chocolate" and Q mean "It's warm outside."</a:t>
            </a:r>
          </a:p>
          <a:p>
            <a:pPr lvl="1">
              <a:lnSpc>
                <a:spcPct val="80000"/>
              </a:lnSpc>
            </a:pPr>
            <a:r>
              <a:rPr lang="en-US" altLang="zh-CN" sz="2000" b="1" dirty="0" smtClean="0">
                <a:latin typeface="Times New Roman" pitchFamily="18" charset="0"/>
                <a:ea typeface="宋体" charset="-122"/>
                <a:cs typeface="Times New Roman" pitchFamily="18" charset="0"/>
              </a:rPr>
              <a:t>AG</a:t>
            </a:r>
            <a:r>
              <a:rPr lang="en-US" altLang="zh-CN" sz="2000" dirty="0" smtClean="0">
                <a:latin typeface="Times New Roman" pitchFamily="18" charset="0"/>
                <a:ea typeface="宋体" charset="-122"/>
                <a:cs typeface="Times New Roman" pitchFamily="18" charset="0"/>
              </a:rPr>
              <a:t>.P  </a:t>
            </a:r>
          </a:p>
          <a:p>
            <a:pPr lvl="1">
              <a:lnSpc>
                <a:spcPct val="80000"/>
              </a:lnSpc>
            </a:pPr>
            <a:r>
              <a:rPr lang="en-US" altLang="zh-CN" sz="2000" dirty="0" smtClean="0">
                <a:latin typeface="Times New Roman" pitchFamily="18" charset="0"/>
                <a:ea typeface="宋体" charset="-122"/>
                <a:cs typeface="Times New Roman" pitchFamily="18" charset="0"/>
              </a:rPr>
              <a:t>"I will like chocolate from now on, no matter what happens.“</a:t>
            </a:r>
          </a:p>
          <a:p>
            <a:pPr lvl="1">
              <a:lnSpc>
                <a:spcPct val="80000"/>
              </a:lnSpc>
            </a:pPr>
            <a:r>
              <a:rPr lang="en-US" altLang="zh-CN" sz="2000" dirty="0" smtClean="0">
                <a:latin typeface="Times New Roman" pitchFamily="18" charset="0"/>
                <a:ea typeface="宋体" charset="-122"/>
                <a:cs typeface="Times New Roman" pitchFamily="18" charset="0"/>
              </a:rPr>
              <a:t> </a:t>
            </a:r>
            <a:r>
              <a:rPr lang="en-US" altLang="zh-CN" sz="2000" b="1" dirty="0" smtClean="0">
                <a:latin typeface="Times New Roman" pitchFamily="18" charset="0"/>
                <a:ea typeface="宋体" charset="-122"/>
                <a:cs typeface="Times New Roman" pitchFamily="18" charset="0"/>
              </a:rPr>
              <a:t>EF</a:t>
            </a:r>
            <a:r>
              <a:rPr lang="en-US" altLang="zh-CN" sz="2000" dirty="0" smtClean="0">
                <a:latin typeface="Times New Roman" pitchFamily="18" charset="0"/>
                <a:ea typeface="宋体" charset="-122"/>
                <a:cs typeface="Times New Roman" pitchFamily="18" charset="0"/>
              </a:rPr>
              <a:t>.P </a:t>
            </a:r>
          </a:p>
          <a:p>
            <a:pPr lvl="1">
              <a:lnSpc>
                <a:spcPct val="80000"/>
              </a:lnSpc>
            </a:pPr>
            <a:r>
              <a:rPr lang="en-US" altLang="zh-CN" sz="2000" dirty="0" smtClean="0">
                <a:latin typeface="Times New Roman" pitchFamily="18" charset="0"/>
                <a:ea typeface="宋体" charset="-122"/>
                <a:cs typeface="Times New Roman" pitchFamily="18" charset="0"/>
              </a:rPr>
              <a:t> "It's possible I may like chocolate some day, at least for one day." </a:t>
            </a:r>
          </a:p>
          <a:p>
            <a:pPr lvl="1">
              <a:lnSpc>
                <a:spcPct val="80000"/>
              </a:lnSpc>
            </a:pPr>
            <a:r>
              <a:rPr lang="en-US" altLang="zh-CN" sz="2000" b="1" dirty="0" smtClean="0">
                <a:latin typeface="Times New Roman" pitchFamily="18" charset="0"/>
                <a:ea typeface="宋体" charset="-122"/>
                <a:cs typeface="Times New Roman" pitchFamily="18" charset="0"/>
              </a:rPr>
              <a:t>AF</a:t>
            </a:r>
            <a:r>
              <a:rPr lang="en-US" altLang="zh-CN" sz="2000" dirty="0" smtClean="0">
                <a:latin typeface="Times New Roman" pitchFamily="18" charset="0"/>
                <a:ea typeface="宋体" charset="-122"/>
                <a:cs typeface="Times New Roman" pitchFamily="18" charset="0"/>
              </a:rPr>
              <a:t>.</a:t>
            </a:r>
            <a:r>
              <a:rPr lang="en-US" altLang="zh-CN" sz="2000" b="1" dirty="0" smtClean="0">
                <a:latin typeface="Times New Roman" pitchFamily="18" charset="0"/>
                <a:ea typeface="宋体" charset="-122"/>
                <a:cs typeface="Times New Roman" pitchFamily="18" charset="0"/>
              </a:rPr>
              <a:t>EG</a:t>
            </a:r>
            <a:r>
              <a:rPr lang="en-US" altLang="zh-CN" sz="2000" dirty="0" smtClean="0">
                <a:latin typeface="Times New Roman" pitchFamily="18" charset="0"/>
                <a:ea typeface="宋体" charset="-122"/>
                <a:cs typeface="Times New Roman" pitchFamily="18" charset="0"/>
              </a:rPr>
              <a:t>.P </a:t>
            </a:r>
          </a:p>
          <a:p>
            <a:pPr lvl="1">
              <a:lnSpc>
                <a:spcPct val="80000"/>
              </a:lnSpc>
            </a:pPr>
            <a:r>
              <a:rPr lang="en-US" altLang="zh-CN" sz="2000" dirty="0" smtClean="0">
                <a:latin typeface="Times New Roman" pitchFamily="18" charset="0"/>
                <a:ea typeface="宋体" charset="-122"/>
                <a:cs typeface="Times New Roman" pitchFamily="18" charset="0"/>
              </a:rPr>
              <a:t>"It's always possible (AF) that I will suddenly start liking chocolate for the rest of time." (Note: not just the rest of my life, since my life is finite, while </a:t>
            </a:r>
            <a:r>
              <a:rPr lang="en-US" altLang="zh-CN" sz="2000" b="1" dirty="0" smtClean="0">
                <a:latin typeface="Times New Roman" pitchFamily="18" charset="0"/>
                <a:ea typeface="宋体" charset="-122"/>
                <a:cs typeface="Times New Roman" pitchFamily="18" charset="0"/>
              </a:rPr>
              <a:t>G</a:t>
            </a:r>
            <a:r>
              <a:rPr lang="en-US" altLang="zh-CN" sz="2000" dirty="0" smtClean="0">
                <a:latin typeface="Times New Roman" pitchFamily="18" charset="0"/>
                <a:ea typeface="宋体" charset="-122"/>
                <a:cs typeface="Times New Roman" pitchFamily="18" charset="0"/>
              </a:rPr>
              <a:t> is infinite). </a:t>
            </a:r>
          </a:p>
          <a:p>
            <a:pPr lvl="1">
              <a:lnSpc>
                <a:spcPct val="80000"/>
              </a:lnSpc>
            </a:pPr>
            <a:r>
              <a:rPr lang="en-US" altLang="zh-CN" sz="2000" b="1" dirty="0" smtClean="0">
                <a:latin typeface="Times New Roman" pitchFamily="18" charset="0"/>
                <a:ea typeface="宋体" charset="-122"/>
                <a:cs typeface="Times New Roman" pitchFamily="18" charset="0"/>
              </a:rPr>
              <a:t>EG</a:t>
            </a:r>
            <a:r>
              <a:rPr lang="en-US" altLang="zh-CN" sz="2000" dirty="0" smtClean="0">
                <a:latin typeface="Times New Roman" pitchFamily="18" charset="0"/>
                <a:ea typeface="宋体" charset="-122"/>
                <a:cs typeface="Times New Roman" pitchFamily="18" charset="0"/>
              </a:rPr>
              <a:t>.</a:t>
            </a:r>
            <a:r>
              <a:rPr lang="en-US" altLang="zh-CN" sz="2000" b="1" dirty="0" smtClean="0">
                <a:latin typeface="Times New Roman" pitchFamily="18" charset="0"/>
                <a:ea typeface="宋体" charset="-122"/>
                <a:cs typeface="Times New Roman" pitchFamily="18" charset="0"/>
              </a:rPr>
              <a:t>AF</a:t>
            </a:r>
            <a:r>
              <a:rPr lang="en-US" altLang="zh-CN" sz="2000" dirty="0" smtClean="0">
                <a:latin typeface="Times New Roman" pitchFamily="18" charset="0"/>
                <a:ea typeface="宋体" charset="-122"/>
                <a:cs typeface="Times New Roman" pitchFamily="18" charset="0"/>
              </a:rPr>
              <a:t>.P </a:t>
            </a:r>
          </a:p>
          <a:p>
            <a:pPr lvl="1">
              <a:lnSpc>
                <a:spcPct val="80000"/>
              </a:lnSpc>
            </a:pPr>
            <a:r>
              <a:rPr lang="en-US" altLang="zh-CN" sz="2000" dirty="0" smtClean="0">
                <a:latin typeface="Times New Roman" pitchFamily="18" charset="0"/>
                <a:ea typeface="宋体" charset="-122"/>
                <a:cs typeface="Times New Roman" pitchFamily="18" charset="0"/>
              </a:rPr>
              <a:t>"This is a critical time in my life. Depending on what happens next (E), it's possible that for the rest of time (G), there will always be some time in the future (AF) when I will like chocolate. However, if the wrong thing happens next, then all bets are off and there's no guarantee about whether I'll ever like chocolate."</a:t>
            </a:r>
            <a:r>
              <a:rPr lang="en-US" altLang="zh-CN" dirty="0" smtClean="0">
                <a:latin typeface="Times New Roman" pitchFamily="18" charset="0"/>
                <a:ea typeface="宋体" charset="-122"/>
                <a:cs typeface="Times New Roman" pitchFamily="18" charset="0"/>
              </a:rPr>
              <a:t> </a:t>
            </a:r>
          </a:p>
        </p:txBody>
      </p:sp>
      <p:sp>
        <p:nvSpPr>
          <p:cNvPr id="4" name="日期占位符 3"/>
          <p:cNvSpPr>
            <a:spLocks noGrp="1"/>
          </p:cNvSpPr>
          <p:nvPr>
            <p:ph type="dt" sz="quarter"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r>
              <a:rPr lang="en-US" altLang="zh-CN"/>
              <a:t>Software Engineering Group</a:t>
            </a:r>
          </a:p>
        </p:txBody>
      </p:sp>
      <p:sp>
        <p:nvSpPr>
          <p:cNvPr id="6" name="灯片编号占位符 5"/>
          <p:cNvSpPr>
            <a:spLocks noGrp="1"/>
          </p:cNvSpPr>
          <p:nvPr>
            <p:ph type="sldNum" sz="quarter" idx="12"/>
          </p:nvPr>
        </p:nvSpPr>
        <p:spPr/>
        <p:txBody>
          <a:bodyPr/>
          <a:lstStyle/>
          <a:p>
            <a:pPr>
              <a:defRPr/>
            </a:pPr>
            <a:fld id="{FC6D1BAE-72D9-45F1-9D8D-D3432414EA46}" type="slidenum">
              <a:rPr lang="en-US" altLang="zh-CN" smtClean="0"/>
              <a:pPr>
                <a:defRPr/>
              </a:pPr>
              <a:t>25</a:t>
            </a:fld>
            <a:endParaRPr lang="en-US" altLang="zh-CN" dirty="0"/>
          </a:p>
        </p:txBody>
      </p:sp>
    </p:spTree>
    <p:extLst>
      <p:ext uri="{BB962C8B-B14F-4D97-AF65-F5344CB8AC3E}">
        <p14:creationId xmlns:p14="http://schemas.microsoft.com/office/powerpoint/2010/main" val="415933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3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33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33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33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33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a:xfrm>
            <a:off x="428625" y="214313"/>
            <a:ext cx="6858000" cy="766762"/>
          </a:xfrm>
        </p:spPr>
        <p:txBody>
          <a:bodyPr/>
          <a:lstStyle/>
          <a:p>
            <a:endParaRPr lang="zh-CN" altLang="en-US" smtClean="0">
              <a:ea typeface="宋体" charset="-122"/>
            </a:endParaRPr>
          </a:p>
        </p:txBody>
      </p:sp>
      <p:sp>
        <p:nvSpPr>
          <p:cNvPr id="15363" name="内容占位符 2"/>
          <p:cNvSpPr>
            <a:spLocks noGrp="1"/>
          </p:cNvSpPr>
          <p:nvPr>
            <p:ph idx="1"/>
          </p:nvPr>
        </p:nvSpPr>
        <p:spPr/>
        <p:txBody>
          <a:bodyPr/>
          <a:lstStyle/>
          <a:p>
            <a:pPr>
              <a:lnSpc>
                <a:spcPct val="90000"/>
              </a:lnSpc>
            </a:pPr>
            <a:r>
              <a:rPr lang="en-US" altLang="zh-CN" sz="2600" b="1" dirty="0" smtClean="0">
                <a:latin typeface="Times New Roman" pitchFamily="18" charset="0"/>
                <a:ea typeface="宋体" charset="-122"/>
                <a:cs typeface="Times New Roman" pitchFamily="18" charset="0"/>
              </a:rPr>
              <a:t>A</a:t>
            </a:r>
            <a:r>
              <a:rPr lang="en-US" altLang="zh-CN" sz="2600" dirty="0" smtClean="0">
                <a:latin typeface="Times New Roman" pitchFamily="18" charset="0"/>
                <a:ea typeface="宋体" charset="-122"/>
                <a:cs typeface="Times New Roman" pitchFamily="18" charset="0"/>
              </a:rPr>
              <a:t>(P</a:t>
            </a:r>
            <a:r>
              <a:rPr lang="en-US" altLang="zh-CN" sz="2600" b="1" dirty="0" smtClean="0">
                <a:latin typeface="Times New Roman" pitchFamily="18" charset="0"/>
                <a:ea typeface="宋体" charset="-122"/>
                <a:cs typeface="Times New Roman" pitchFamily="18" charset="0"/>
              </a:rPr>
              <a:t>U</a:t>
            </a:r>
            <a:r>
              <a:rPr lang="en-US" altLang="zh-CN" sz="2600" dirty="0" smtClean="0">
                <a:latin typeface="Times New Roman" pitchFamily="18" charset="0"/>
                <a:ea typeface="宋体" charset="-122"/>
                <a:cs typeface="Times New Roman" pitchFamily="18" charset="0"/>
              </a:rPr>
              <a:t>Q) </a:t>
            </a:r>
          </a:p>
          <a:p>
            <a:pPr>
              <a:lnSpc>
                <a:spcPct val="90000"/>
              </a:lnSpc>
            </a:pPr>
            <a:r>
              <a:rPr lang="en-US" altLang="zh-CN" sz="2600" dirty="0" smtClean="0">
                <a:latin typeface="Times New Roman" pitchFamily="18" charset="0"/>
                <a:ea typeface="宋体" charset="-122"/>
                <a:cs typeface="Times New Roman" pitchFamily="18" charset="0"/>
              </a:rPr>
              <a:t>"From now until it's warm outside, I will like chocolate every single day. Once it's warm outside, all bets are off as to whether I'll like chocolate anymore. Oh, and it's guaranteed to be warm outside eventually, even if only for a single day." </a:t>
            </a:r>
          </a:p>
          <a:p>
            <a:pPr>
              <a:lnSpc>
                <a:spcPct val="90000"/>
              </a:lnSpc>
            </a:pPr>
            <a:r>
              <a:rPr lang="en-US" altLang="zh-CN" sz="2600" b="1" dirty="0" smtClean="0">
                <a:latin typeface="Times New Roman" pitchFamily="18" charset="0"/>
                <a:ea typeface="宋体" charset="-122"/>
                <a:cs typeface="Times New Roman" pitchFamily="18" charset="0"/>
              </a:rPr>
              <a:t>E</a:t>
            </a:r>
            <a:r>
              <a:rPr lang="en-US" altLang="zh-CN" sz="2600" dirty="0" smtClean="0">
                <a:latin typeface="Times New Roman" pitchFamily="18" charset="0"/>
                <a:ea typeface="宋体" charset="-122"/>
                <a:cs typeface="Times New Roman" pitchFamily="18" charset="0"/>
              </a:rPr>
              <a:t>((</a:t>
            </a:r>
            <a:r>
              <a:rPr lang="en-US" altLang="zh-CN" sz="2600" b="1" dirty="0" smtClean="0">
                <a:latin typeface="Times New Roman" pitchFamily="18" charset="0"/>
                <a:ea typeface="宋体" charset="-122"/>
                <a:cs typeface="Times New Roman" pitchFamily="18" charset="0"/>
              </a:rPr>
              <a:t>EX</a:t>
            </a:r>
            <a:r>
              <a:rPr lang="en-US" altLang="zh-CN" sz="2600" dirty="0" smtClean="0">
                <a:latin typeface="Times New Roman" pitchFamily="18" charset="0"/>
                <a:ea typeface="宋体" charset="-122"/>
                <a:cs typeface="Times New Roman" pitchFamily="18" charset="0"/>
              </a:rPr>
              <a:t>.P)</a:t>
            </a:r>
            <a:r>
              <a:rPr lang="en-US" altLang="zh-CN" sz="2600" b="1" dirty="0" smtClean="0">
                <a:latin typeface="Times New Roman" pitchFamily="18" charset="0"/>
                <a:ea typeface="宋体" charset="-122"/>
                <a:cs typeface="Times New Roman" pitchFamily="18" charset="0"/>
              </a:rPr>
              <a:t>U</a:t>
            </a:r>
            <a:r>
              <a:rPr lang="en-US" altLang="zh-CN" sz="2600" dirty="0" smtClean="0">
                <a:latin typeface="Times New Roman" pitchFamily="18" charset="0"/>
                <a:ea typeface="宋体" charset="-122"/>
                <a:cs typeface="Times New Roman" pitchFamily="18" charset="0"/>
              </a:rPr>
              <a:t>(</a:t>
            </a:r>
            <a:r>
              <a:rPr lang="en-US" altLang="zh-CN" sz="2600" b="1" dirty="0" smtClean="0">
                <a:latin typeface="Times New Roman" pitchFamily="18" charset="0"/>
                <a:ea typeface="宋体" charset="-122"/>
                <a:cs typeface="Times New Roman" pitchFamily="18" charset="0"/>
              </a:rPr>
              <a:t>AG</a:t>
            </a:r>
            <a:r>
              <a:rPr lang="en-US" altLang="zh-CN" sz="2600" dirty="0" smtClean="0">
                <a:latin typeface="Times New Roman" pitchFamily="18" charset="0"/>
                <a:ea typeface="宋体" charset="-122"/>
                <a:cs typeface="Times New Roman" pitchFamily="18" charset="0"/>
              </a:rPr>
              <a:t>.Q)) </a:t>
            </a:r>
          </a:p>
          <a:p>
            <a:pPr>
              <a:lnSpc>
                <a:spcPct val="90000"/>
              </a:lnSpc>
            </a:pPr>
            <a:r>
              <a:rPr lang="en-US" altLang="zh-CN" sz="2600" dirty="0" smtClean="0">
                <a:latin typeface="Times New Roman" pitchFamily="18" charset="0"/>
                <a:ea typeface="宋体" charset="-122"/>
                <a:cs typeface="Times New Roman" pitchFamily="18" charset="0"/>
              </a:rPr>
              <a:t>"It's possible that: there will eventually come a time when it will be warm forever (AG.Q) and that before that time there will always be </a:t>
            </a:r>
            <a:r>
              <a:rPr lang="en-US" altLang="zh-CN" sz="2600" i="1" dirty="0" smtClean="0">
                <a:latin typeface="Times New Roman" pitchFamily="18" charset="0"/>
                <a:ea typeface="宋体" charset="-122"/>
                <a:cs typeface="Times New Roman" pitchFamily="18" charset="0"/>
              </a:rPr>
              <a:t>some</a:t>
            </a:r>
            <a:r>
              <a:rPr lang="en-US" altLang="zh-CN" sz="2600" dirty="0" smtClean="0">
                <a:latin typeface="Times New Roman" pitchFamily="18" charset="0"/>
                <a:ea typeface="宋体" charset="-122"/>
                <a:cs typeface="Times New Roman" pitchFamily="18" charset="0"/>
              </a:rPr>
              <a:t> way to get me to like chocolate the next day (EX.P)."</a:t>
            </a:r>
            <a:endParaRPr lang="zh-CN" altLang="en-US" sz="2600" dirty="0" smtClean="0">
              <a:latin typeface="Times New Roman" pitchFamily="18" charset="0"/>
              <a:ea typeface="宋体" charset="-122"/>
              <a:cs typeface="Times New Roman" pitchFamily="18" charset="0"/>
            </a:endParaRPr>
          </a:p>
          <a:p>
            <a:pPr>
              <a:lnSpc>
                <a:spcPct val="90000"/>
              </a:lnSpc>
            </a:pPr>
            <a:endParaRPr lang="zh-CN" altLang="en-US" sz="2600" dirty="0" smtClean="0">
              <a:ea typeface="宋体" charset="-122"/>
            </a:endParaRPr>
          </a:p>
        </p:txBody>
      </p:sp>
      <p:sp>
        <p:nvSpPr>
          <p:cNvPr id="4" name="日期占位符 3"/>
          <p:cNvSpPr>
            <a:spLocks noGrp="1"/>
          </p:cNvSpPr>
          <p:nvPr>
            <p:ph type="dt" sz="quarter"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r>
              <a:rPr lang="en-US" altLang="zh-CN"/>
              <a:t>Software Engineering Group</a:t>
            </a:r>
          </a:p>
        </p:txBody>
      </p:sp>
      <p:sp>
        <p:nvSpPr>
          <p:cNvPr id="6" name="灯片编号占位符 5"/>
          <p:cNvSpPr>
            <a:spLocks noGrp="1"/>
          </p:cNvSpPr>
          <p:nvPr>
            <p:ph type="sldNum" sz="quarter" idx="12"/>
          </p:nvPr>
        </p:nvSpPr>
        <p:spPr/>
        <p:txBody>
          <a:bodyPr/>
          <a:lstStyle/>
          <a:p>
            <a:pPr>
              <a:defRPr/>
            </a:pPr>
            <a:fld id="{A0E99224-9263-497F-B7AE-5E0674A3B65A}" type="slidenum">
              <a:rPr lang="en-US" altLang="zh-CN" smtClean="0"/>
              <a:pPr>
                <a:defRPr/>
              </a:pPr>
              <a:t>26</a:t>
            </a:fld>
            <a:endParaRPr lang="en-US" altLang="zh-CN" dirty="0"/>
          </a:p>
        </p:txBody>
      </p:sp>
    </p:spTree>
    <p:extLst>
      <p:ext uri="{BB962C8B-B14F-4D97-AF65-F5344CB8AC3E}">
        <p14:creationId xmlns:p14="http://schemas.microsoft.com/office/powerpoint/2010/main" val="58217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428625" y="214313"/>
            <a:ext cx="6858000" cy="766762"/>
          </a:xfrm>
        </p:spPr>
        <p:txBody>
          <a:bodyPr/>
          <a:lstStyle/>
          <a:p>
            <a:r>
              <a:rPr lang="en-US" altLang="zh-CN" smtClean="0">
                <a:ea typeface="宋体" charset="-122"/>
              </a:rPr>
              <a:t>Express Properties</a:t>
            </a:r>
            <a:endParaRPr lang="zh-CN" altLang="en-US" smtClean="0">
              <a:ea typeface="宋体" charset="-122"/>
            </a:endParaRPr>
          </a:p>
        </p:txBody>
      </p:sp>
      <p:sp>
        <p:nvSpPr>
          <p:cNvPr id="16387" name="内容占位符 2"/>
          <p:cNvSpPr>
            <a:spLocks noGrp="1"/>
          </p:cNvSpPr>
          <p:nvPr>
            <p:ph idx="1"/>
          </p:nvPr>
        </p:nvSpPr>
        <p:spPr/>
        <p:txBody>
          <a:bodyPr/>
          <a:lstStyle/>
          <a:p>
            <a:r>
              <a:rPr lang="en-US" altLang="zh-CN" dirty="0" smtClean="0">
                <a:latin typeface="Times New Roman" pitchFamily="18" charset="0"/>
                <a:ea typeface="宋体" charset="-122"/>
                <a:cs typeface="Times New Roman" pitchFamily="18" charset="0"/>
              </a:rPr>
              <a:t>Safety:</a:t>
            </a:r>
            <a:r>
              <a:rPr lang="zh-CN" altLang="en-US" dirty="0" smtClean="0">
                <a:latin typeface="Times New Roman" pitchFamily="18" charset="0"/>
                <a:ea typeface="宋体" charset="-122"/>
                <a:cs typeface="Times New Roman" pitchFamily="18" charset="0"/>
              </a:rPr>
              <a:t> </a:t>
            </a:r>
            <a:r>
              <a:rPr lang="en-US" altLang="zh-CN" dirty="0" smtClean="0">
                <a:latin typeface="Times New Roman" pitchFamily="18" charset="0"/>
                <a:ea typeface="宋体" charset="-122"/>
                <a:cs typeface="Times New Roman" pitchFamily="18" charset="0"/>
              </a:rPr>
              <a:t>something bad will not happen</a:t>
            </a:r>
          </a:p>
          <a:p>
            <a:r>
              <a:rPr lang="en-US" altLang="zh-CN" dirty="0" smtClean="0">
                <a:latin typeface="Times New Roman" pitchFamily="18" charset="0"/>
                <a:ea typeface="宋体" charset="-122"/>
                <a:cs typeface="Times New Roman" pitchFamily="18" charset="0"/>
              </a:rPr>
              <a:t>Typical examples:</a:t>
            </a:r>
          </a:p>
          <a:p>
            <a:pPr lvl="1"/>
            <a:r>
              <a:rPr lang="en-US" altLang="zh-CN" dirty="0" smtClean="0">
                <a:latin typeface="Times New Roman" pitchFamily="18" charset="0"/>
                <a:ea typeface="宋体" charset="-122"/>
                <a:cs typeface="Times New Roman" pitchFamily="18" charset="0"/>
              </a:rPr>
              <a:t>AG ( </a:t>
            </a:r>
            <a:r>
              <a:rPr lang="en-US" altLang="zh-CN" dirty="0" err="1" smtClean="0">
                <a:latin typeface="Times New Roman" pitchFamily="18" charset="0"/>
                <a:ea typeface="宋体" charset="-122"/>
                <a:cs typeface="Times New Roman" pitchFamily="18" charset="0"/>
              </a:rPr>
              <a:t>reactor_temp</a:t>
            </a:r>
            <a:r>
              <a:rPr lang="en-US" altLang="zh-CN" dirty="0" smtClean="0">
                <a:latin typeface="Times New Roman" pitchFamily="18" charset="0"/>
                <a:ea typeface="宋体" charset="-122"/>
                <a:cs typeface="Times New Roman" pitchFamily="18" charset="0"/>
              </a:rPr>
              <a:t> &gt; 1000 )</a:t>
            </a:r>
          </a:p>
          <a:p>
            <a:r>
              <a:rPr lang="en-US" altLang="zh-CN" dirty="0" smtClean="0">
                <a:latin typeface="Times New Roman" pitchFamily="18" charset="0"/>
                <a:ea typeface="宋体" charset="-122"/>
                <a:cs typeface="Times New Roman" pitchFamily="18" charset="0"/>
              </a:rPr>
              <a:t>Usually:</a:t>
            </a:r>
          </a:p>
          <a:p>
            <a:pPr lvl="1"/>
            <a:r>
              <a:rPr lang="en-US" altLang="zh-CN" dirty="0" smtClean="0">
                <a:latin typeface="Times New Roman" pitchFamily="18" charset="0"/>
                <a:ea typeface="宋体" charset="-122"/>
                <a:cs typeface="Times New Roman" pitchFamily="18" charset="0"/>
              </a:rPr>
              <a:t>AG </a:t>
            </a:r>
          </a:p>
        </p:txBody>
      </p:sp>
      <p:sp>
        <p:nvSpPr>
          <p:cNvPr id="4" name="日期占位符 3"/>
          <p:cNvSpPr>
            <a:spLocks noGrp="1"/>
          </p:cNvSpPr>
          <p:nvPr>
            <p:ph type="dt" sz="quarter"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r>
              <a:rPr lang="en-US" altLang="zh-CN"/>
              <a:t>Software Engineering Group</a:t>
            </a:r>
          </a:p>
        </p:txBody>
      </p:sp>
      <p:sp>
        <p:nvSpPr>
          <p:cNvPr id="6" name="灯片编号占位符 5"/>
          <p:cNvSpPr>
            <a:spLocks noGrp="1"/>
          </p:cNvSpPr>
          <p:nvPr>
            <p:ph type="sldNum" sz="quarter" idx="12"/>
          </p:nvPr>
        </p:nvSpPr>
        <p:spPr/>
        <p:txBody>
          <a:bodyPr/>
          <a:lstStyle/>
          <a:p>
            <a:pPr>
              <a:defRPr/>
            </a:pPr>
            <a:fld id="{254B7E50-A6E7-4234-B22C-C4F024C87F4A}" type="slidenum">
              <a:rPr lang="en-US" altLang="zh-CN" smtClean="0"/>
              <a:pPr>
                <a:defRPr/>
              </a:pPr>
              <a:t>27</a:t>
            </a:fld>
            <a:endParaRPr lang="en-US" altLang="zh-CN" dirty="0"/>
          </a:p>
        </p:txBody>
      </p:sp>
    </p:spTree>
    <p:extLst>
      <p:ext uri="{BB962C8B-B14F-4D97-AF65-F5344CB8AC3E}">
        <p14:creationId xmlns:p14="http://schemas.microsoft.com/office/powerpoint/2010/main" val="32429566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428625" y="214313"/>
            <a:ext cx="6858000" cy="766762"/>
          </a:xfrm>
        </p:spPr>
        <p:txBody>
          <a:bodyPr/>
          <a:lstStyle/>
          <a:p>
            <a:r>
              <a:rPr lang="en-US" altLang="zh-CN" smtClean="0">
                <a:ea typeface="宋体" charset="-122"/>
              </a:rPr>
              <a:t>Express Properties</a:t>
            </a:r>
            <a:endParaRPr lang="zh-CN" altLang="en-US" smtClean="0">
              <a:ea typeface="宋体" charset="-122"/>
            </a:endParaRPr>
          </a:p>
        </p:txBody>
      </p:sp>
      <p:sp>
        <p:nvSpPr>
          <p:cNvPr id="17411" name="内容占位符 2"/>
          <p:cNvSpPr>
            <a:spLocks noGrp="1"/>
          </p:cNvSpPr>
          <p:nvPr>
            <p:ph idx="1"/>
          </p:nvPr>
        </p:nvSpPr>
        <p:spPr/>
        <p:txBody>
          <a:bodyPr/>
          <a:lstStyle/>
          <a:p>
            <a:r>
              <a:rPr lang="en-US" altLang="zh-CN" dirty="0" err="1" smtClean="0">
                <a:latin typeface="Times New Roman" pitchFamily="18" charset="0"/>
                <a:ea typeface="宋体" charset="-122"/>
                <a:cs typeface="Times New Roman" pitchFamily="18" charset="0"/>
              </a:rPr>
              <a:t>Liveness</a:t>
            </a:r>
            <a:r>
              <a:rPr lang="en-US" altLang="zh-CN" dirty="0" smtClean="0">
                <a:latin typeface="Times New Roman" pitchFamily="18" charset="0"/>
                <a:ea typeface="宋体" charset="-122"/>
                <a:cs typeface="Times New Roman" pitchFamily="18" charset="0"/>
              </a:rPr>
              <a:t>:</a:t>
            </a:r>
            <a:r>
              <a:rPr lang="zh-CN" altLang="en-US" dirty="0" smtClean="0">
                <a:latin typeface="Times New Roman" pitchFamily="18" charset="0"/>
                <a:ea typeface="宋体" charset="-122"/>
                <a:cs typeface="Times New Roman" pitchFamily="18" charset="0"/>
              </a:rPr>
              <a:t> </a:t>
            </a:r>
            <a:r>
              <a:rPr lang="en-US" altLang="zh-CN" dirty="0" smtClean="0">
                <a:latin typeface="Times New Roman" pitchFamily="18" charset="0"/>
                <a:ea typeface="宋体" charset="-122"/>
                <a:cs typeface="Times New Roman" pitchFamily="18" charset="0"/>
              </a:rPr>
              <a:t>something good will happen</a:t>
            </a:r>
          </a:p>
          <a:p>
            <a:r>
              <a:rPr lang="en-US" altLang="zh-CN" dirty="0" smtClean="0">
                <a:latin typeface="Times New Roman" pitchFamily="18" charset="0"/>
                <a:ea typeface="宋体" charset="-122"/>
                <a:cs typeface="Times New Roman" pitchFamily="18" charset="0"/>
              </a:rPr>
              <a:t>Typical examples:</a:t>
            </a:r>
          </a:p>
          <a:p>
            <a:pPr lvl="1"/>
            <a:r>
              <a:rPr lang="en-US" altLang="zh-CN" dirty="0" smtClean="0">
                <a:latin typeface="Times New Roman" pitchFamily="18" charset="0"/>
                <a:ea typeface="宋体" charset="-122"/>
                <a:cs typeface="Times New Roman" pitchFamily="18" charset="0"/>
              </a:rPr>
              <a:t>AF( rich )</a:t>
            </a:r>
          </a:p>
          <a:p>
            <a:pPr lvl="1"/>
            <a:r>
              <a:rPr lang="en-US" altLang="zh-CN" dirty="0" smtClean="0">
                <a:latin typeface="Times New Roman" pitchFamily="18" charset="0"/>
                <a:ea typeface="宋体" charset="-122"/>
                <a:cs typeface="Times New Roman" pitchFamily="18" charset="0"/>
              </a:rPr>
              <a:t>AF( x &gt; 5 )</a:t>
            </a:r>
          </a:p>
          <a:p>
            <a:pPr lvl="1"/>
            <a:r>
              <a:rPr lang="en-US" altLang="zh-CN" dirty="0" smtClean="0">
                <a:latin typeface="Times New Roman" pitchFamily="18" charset="0"/>
                <a:ea typeface="宋体" charset="-122"/>
                <a:cs typeface="Times New Roman" pitchFamily="18" charset="0"/>
              </a:rPr>
              <a:t>AG( start -&gt; AF terminate )</a:t>
            </a:r>
          </a:p>
          <a:p>
            <a:r>
              <a:rPr lang="en-US" altLang="zh-CN" dirty="0" smtClean="0">
                <a:latin typeface="Times New Roman" pitchFamily="18" charset="0"/>
                <a:ea typeface="宋体" charset="-122"/>
                <a:cs typeface="Times New Roman" pitchFamily="18" charset="0"/>
              </a:rPr>
              <a:t>Usually: </a:t>
            </a:r>
          </a:p>
          <a:p>
            <a:pPr lvl="1"/>
            <a:r>
              <a:rPr lang="en-US" altLang="zh-CN" dirty="0" smtClean="0">
                <a:latin typeface="Times New Roman" pitchFamily="18" charset="0"/>
                <a:ea typeface="宋体" charset="-122"/>
                <a:cs typeface="Times New Roman" pitchFamily="18" charset="0"/>
              </a:rPr>
              <a:t>AF</a:t>
            </a:r>
          </a:p>
        </p:txBody>
      </p:sp>
      <p:sp>
        <p:nvSpPr>
          <p:cNvPr id="4" name="日期占位符 3"/>
          <p:cNvSpPr>
            <a:spLocks noGrp="1"/>
          </p:cNvSpPr>
          <p:nvPr>
            <p:ph type="dt" sz="quarter"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r>
              <a:rPr lang="en-US" altLang="zh-CN"/>
              <a:t>Software Engineering Group</a:t>
            </a:r>
          </a:p>
        </p:txBody>
      </p:sp>
      <p:sp>
        <p:nvSpPr>
          <p:cNvPr id="6" name="灯片编号占位符 5"/>
          <p:cNvSpPr>
            <a:spLocks noGrp="1"/>
          </p:cNvSpPr>
          <p:nvPr>
            <p:ph type="sldNum" sz="quarter" idx="12"/>
          </p:nvPr>
        </p:nvSpPr>
        <p:spPr/>
        <p:txBody>
          <a:bodyPr/>
          <a:lstStyle/>
          <a:p>
            <a:pPr>
              <a:defRPr/>
            </a:pPr>
            <a:fld id="{DB66DA43-B4AC-4487-8D59-C02565414428}" type="slidenum">
              <a:rPr lang="en-US" altLang="zh-CN" smtClean="0"/>
              <a:pPr>
                <a:defRPr/>
              </a:pPr>
              <a:t>28</a:t>
            </a:fld>
            <a:endParaRPr lang="en-US" altLang="zh-CN" dirty="0"/>
          </a:p>
        </p:txBody>
      </p:sp>
    </p:spTree>
    <p:extLst>
      <p:ext uri="{BB962C8B-B14F-4D97-AF65-F5344CB8AC3E}">
        <p14:creationId xmlns:p14="http://schemas.microsoft.com/office/powerpoint/2010/main" val="35269945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428625" y="214313"/>
            <a:ext cx="6858000" cy="766762"/>
          </a:xfrm>
        </p:spPr>
        <p:txBody>
          <a:bodyPr/>
          <a:lstStyle/>
          <a:p>
            <a:r>
              <a:rPr lang="en-US" altLang="zh-CN" smtClean="0">
                <a:ea typeface="宋体" charset="-122"/>
              </a:rPr>
              <a:t>Express Properties</a:t>
            </a:r>
            <a:endParaRPr lang="zh-CN" altLang="en-US" smtClean="0">
              <a:ea typeface="宋体" charset="-122"/>
            </a:endParaRPr>
          </a:p>
        </p:txBody>
      </p:sp>
      <p:sp>
        <p:nvSpPr>
          <p:cNvPr id="18435" name="内容占位符 2"/>
          <p:cNvSpPr>
            <a:spLocks noGrp="1"/>
          </p:cNvSpPr>
          <p:nvPr>
            <p:ph idx="1"/>
          </p:nvPr>
        </p:nvSpPr>
        <p:spPr/>
        <p:txBody>
          <a:bodyPr/>
          <a:lstStyle/>
          <a:p>
            <a:r>
              <a:rPr lang="en-US" altLang="zh-CN" dirty="0" smtClean="0">
                <a:latin typeface="Times New Roman" pitchFamily="18" charset="0"/>
                <a:ea typeface="宋体" charset="-122"/>
                <a:cs typeface="Times New Roman" pitchFamily="18" charset="0"/>
              </a:rPr>
              <a:t>Fairness:</a:t>
            </a:r>
            <a:r>
              <a:rPr lang="zh-CN" altLang="en-US" dirty="0" smtClean="0">
                <a:latin typeface="Times New Roman" pitchFamily="18" charset="0"/>
                <a:ea typeface="宋体" charset="-122"/>
                <a:cs typeface="Times New Roman" pitchFamily="18" charset="0"/>
              </a:rPr>
              <a:t> </a:t>
            </a:r>
            <a:r>
              <a:rPr lang="en-US" altLang="zh-CN" dirty="0" smtClean="0">
                <a:latin typeface="Times New Roman" pitchFamily="18" charset="0"/>
                <a:ea typeface="宋体" charset="-122"/>
                <a:cs typeface="Times New Roman" pitchFamily="18" charset="0"/>
              </a:rPr>
              <a:t>something is successful/allocated </a:t>
            </a:r>
            <a:r>
              <a:rPr lang="en-US" altLang="zh-CN" dirty="0" smtClean="0">
                <a:solidFill>
                  <a:srgbClr val="0070C0"/>
                </a:solidFill>
                <a:latin typeface="Times New Roman" pitchFamily="18" charset="0"/>
                <a:ea typeface="宋体" charset="-122"/>
                <a:cs typeface="Times New Roman" pitchFamily="18" charset="0"/>
              </a:rPr>
              <a:t>infinitely often</a:t>
            </a:r>
            <a:r>
              <a:rPr lang="en-US" altLang="zh-CN" dirty="0" smtClean="0">
                <a:latin typeface="Times New Roman" pitchFamily="18" charset="0"/>
                <a:ea typeface="宋体" charset="-122"/>
                <a:cs typeface="Times New Roman" pitchFamily="18" charset="0"/>
              </a:rPr>
              <a:t>.</a:t>
            </a:r>
          </a:p>
          <a:p>
            <a:r>
              <a:rPr lang="en-US" altLang="zh-CN" dirty="0" smtClean="0">
                <a:latin typeface="Times New Roman" pitchFamily="18" charset="0"/>
                <a:ea typeface="宋体" charset="-122"/>
                <a:cs typeface="Times New Roman" pitchFamily="18" charset="0"/>
              </a:rPr>
              <a:t>Typical examples:</a:t>
            </a:r>
          </a:p>
          <a:p>
            <a:pPr lvl="1"/>
            <a:r>
              <a:rPr lang="en-US" altLang="zh-CN" dirty="0" smtClean="0">
                <a:latin typeface="Times New Roman" pitchFamily="18" charset="0"/>
                <a:ea typeface="宋体" charset="-122"/>
                <a:cs typeface="Times New Roman" pitchFamily="18" charset="0"/>
              </a:rPr>
              <a:t>AGAF ( enabled )</a:t>
            </a:r>
          </a:p>
          <a:p>
            <a:r>
              <a:rPr lang="en-US" altLang="zh-CN" dirty="0" smtClean="0">
                <a:latin typeface="Times New Roman" pitchFamily="18" charset="0"/>
                <a:ea typeface="宋体" charset="-122"/>
                <a:cs typeface="Times New Roman" pitchFamily="18" charset="0"/>
              </a:rPr>
              <a:t>Usually:</a:t>
            </a:r>
          </a:p>
          <a:p>
            <a:pPr lvl="1"/>
            <a:r>
              <a:rPr lang="en-US" altLang="zh-CN" dirty="0" smtClean="0">
                <a:latin typeface="Times New Roman" pitchFamily="18" charset="0"/>
                <a:ea typeface="宋体" charset="-122"/>
                <a:cs typeface="Times New Roman" pitchFamily="18" charset="0"/>
              </a:rPr>
              <a:t>AGAF </a:t>
            </a:r>
          </a:p>
        </p:txBody>
      </p:sp>
      <p:sp>
        <p:nvSpPr>
          <p:cNvPr id="4" name="日期占位符 3"/>
          <p:cNvSpPr>
            <a:spLocks noGrp="1"/>
          </p:cNvSpPr>
          <p:nvPr>
            <p:ph type="dt" sz="quarter"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r>
              <a:rPr lang="en-US" altLang="zh-CN"/>
              <a:t>Software Engineering Group</a:t>
            </a:r>
          </a:p>
        </p:txBody>
      </p:sp>
      <p:sp>
        <p:nvSpPr>
          <p:cNvPr id="6" name="灯片编号占位符 5"/>
          <p:cNvSpPr>
            <a:spLocks noGrp="1"/>
          </p:cNvSpPr>
          <p:nvPr>
            <p:ph type="sldNum" sz="quarter" idx="12"/>
          </p:nvPr>
        </p:nvSpPr>
        <p:spPr/>
        <p:txBody>
          <a:bodyPr/>
          <a:lstStyle/>
          <a:p>
            <a:pPr>
              <a:defRPr/>
            </a:pPr>
            <a:fld id="{A845C2EC-E642-4F3F-A4E8-D0B03A0E64B7}" type="slidenum">
              <a:rPr lang="en-US" altLang="zh-CN" smtClean="0"/>
              <a:pPr>
                <a:defRPr/>
              </a:pPr>
              <a:t>29</a:t>
            </a:fld>
            <a:endParaRPr lang="en-US" altLang="zh-CN" dirty="0"/>
          </a:p>
        </p:txBody>
      </p:sp>
    </p:spTree>
    <p:extLst>
      <p:ext uri="{BB962C8B-B14F-4D97-AF65-F5344CB8AC3E}">
        <p14:creationId xmlns:p14="http://schemas.microsoft.com/office/powerpoint/2010/main" val="10993016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基本验证方法</a:t>
            </a:r>
            <a:endParaRPr lang="en-US" dirty="0"/>
          </a:p>
        </p:txBody>
      </p:sp>
      <p:sp>
        <p:nvSpPr>
          <p:cNvPr id="3" name="Content Placeholder 2"/>
          <p:cNvSpPr>
            <a:spLocks noGrp="1"/>
          </p:cNvSpPr>
          <p:nvPr>
            <p:ph idx="1"/>
          </p:nvPr>
        </p:nvSpPr>
        <p:spPr/>
        <p:txBody>
          <a:bodyPr/>
          <a:lstStyle/>
          <a:p>
            <a:r>
              <a:rPr lang="zh-CN" altLang="en-US" dirty="0" smtClean="0"/>
              <a:t>自动枚举、遍历所有状态</a:t>
            </a:r>
            <a:endParaRPr lang="en-US" dirty="0"/>
          </a:p>
          <a:p>
            <a:endParaRPr lang="en-US" altLang="zh-CN" dirty="0" smtClean="0"/>
          </a:p>
          <a:p>
            <a:r>
              <a:rPr lang="zh-CN" altLang="en-US" dirty="0" smtClean="0"/>
              <a:t>为每个状态标记其满足的性质</a:t>
            </a:r>
            <a:endParaRPr lang="en-US" altLang="zh-CN" dirty="0" smtClean="0"/>
          </a:p>
          <a:p>
            <a:endParaRPr lang="en-US" altLang="zh-CN" dirty="0"/>
          </a:p>
          <a:p>
            <a:r>
              <a:rPr lang="zh-CN" altLang="en-US" dirty="0" smtClean="0"/>
              <a:t>找出标记了目标规约</a:t>
            </a:r>
            <a:r>
              <a:rPr lang="en-US" altLang="zh-CN" dirty="0" smtClean="0"/>
              <a:t>f</a:t>
            </a:r>
            <a:r>
              <a:rPr lang="zh-CN" altLang="en-US" dirty="0" smtClean="0"/>
              <a:t>的状态集</a:t>
            </a:r>
            <a:endParaRPr lang="en-US" altLang="zh-CN" dirty="0" smtClean="0"/>
          </a:p>
          <a:p>
            <a:endParaRPr lang="en-US" altLang="zh-CN" dirty="0"/>
          </a:p>
          <a:p>
            <a:r>
              <a:rPr lang="zh-CN" altLang="en-US" dirty="0" smtClean="0"/>
              <a:t>所有初始状态都在此集合中？</a:t>
            </a:r>
            <a:endParaRPr lang="en-US" altLang="zh-CN" dirty="0" smtClean="0"/>
          </a:p>
          <a:p>
            <a:endParaRPr lang="en-US" altLang="zh-CN" dirty="0" smtClean="0"/>
          </a:p>
          <a:p>
            <a:endParaRPr lang="en-US" dirty="0"/>
          </a:p>
          <a:p>
            <a:endParaRPr lang="en-US" dirty="0"/>
          </a:p>
        </p:txBody>
      </p:sp>
    </p:spTree>
    <p:extLst>
      <p:ext uri="{BB962C8B-B14F-4D97-AF65-F5344CB8AC3E}">
        <p14:creationId xmlns:p14="http://schemas.microsoft.com/office/powerpoint/2010/main" val="24272802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smtClean="0"/>
              <a:t>First find all states labeled with </a:t>
            </a:r>
          </a:p>
          <a:p>
            <a:r>
              <a:rPr lang="en-US" altLang="zh-CN" dirty="0" smtClean="0"/>
              <a:t>Work backwards, find all states that can be reached by a path in which each state is labeled with</a:t>
            </a:r>
          </a:p>
          <a:p>
            <a:r>
              <a:rPr lang="en-US" altLang="zh-CN" dirty="0" smtClean="0"/>
              <a:t>All such states should be labeled with g.</a:t>
            </a:r>
          </a:p>
        </p:txBody>
      </p:sp>
      <p:graphicFrame>
        <p:nvGraphicFramePr>
          <p:cNvPr id="19458" name="Object 2"/>
          <p:cNvGraphicFramePr>
            <a:graphicFrameLocks noChangeAspect="1"/>
          </p:cNvGraphicFramePr>
          <p:nvPr/>
        </p:nvGraphicFramePr>
        <p:xfrm>
          <a:off x="2483768" y="476672"/>
          <a:ext cx="3415880" cy="792088"/>
        </p:xfrm>
        <a:graphic>
          <a:graphicData uri="http://schemas.openxmlformats.org/presentationml/2006/ole">
            <mc:AlternateContent xmlns:mc="http://schemas.openxmlformats.org/markup-compatibility/2006">
              <mc:Choice xmlns:v="urn:schemas-microsoft-com:vml" Requires="v">
                <p:oleObj spid="_x0000_s1028" name="Equation" r:id="rId3" imgW="876240" imgH="203040" progId="Equation.DSMT4">
                  <p:embed/>
                </p:oleObj>
              </mc:Choice>
              <mc:Fallback>
                <p:oleObj name="Equation" r:id="rId3" imgW="876240" imgH="203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3768" y="476672"/>
                        <a:ext cx="3415880"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59" name="Object 3"/>
          <p:cNvGraphicFramePr>
            <a:graphicFrameLocks noChangeAspect="1"/>
          </p:cNvGraphicFramePr>
          <p:nvPr>
            <p:extLst/>
          </p:nvPr>
        </p:nvGraphicFramePr>
        <p:xfrm>
          <a:off x="5940152" y="1556792"/>
          <a:ext cx="432048" cy="432048"/>
        </p:xfrm>
        <a:graphic>
          <a:graphicData uri="http://schemas.openxmlformats.org/presentationml/2006/ole">
            <mc:AlternateContent xmlns:mc="http://schemas.openxmlformats.org/markup-compatibility/2006">
              <mc:Choice xmlns:v="urn:schemas-microsoft-com:vml" Requires="v">
                <p:oleObj spid="_x0000_s1029" name="Equation" r:id="rId5" imgW="203040" imgH="203040" progId="Equation.DSMT4">
                  <p:embed/>
                </p:oleObj>
              </mc:Choice>
              <mc:Fallback>
                <p:oleObj name="Equation" r:id="rId5" imgW="203040" imgH="203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0152" y="1556792"/>
                        <a:ext cx="432048"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61" name="Object 5"/>
          <p:cNvGraphicFramePr>
            <a:graphicFrameLocks noChangeAspect="1"/>
          </p:cNvGraphicFramePr>
          <p:nvPr>
            <p:extLst/>
          </p:nvPr>
        </p:nvGraphicFramePr>
        <p:xfrm>
          <a:off x="2915816" y="2924944"/>
          <a:ext cx="405045" cy="432048"/>
        </p:xfrm>
        <a:graphic>
          <a:graphicData uri="http://schemas.openxmlformats.org/presentationml/2006/ole">
            <mc:AlternateContent xmlns:mc="http://schemas.openxmlformats.org/markup-compatibility/2006">
              <mc:Choice xmlns:v="urn:schemas-microsoft-com:vml" Requires="v">
                <p:oleObj spid="_x0000_s1030" name="Equation" r:id="rId7" imgW="190440" imgH="203040" progId="Equation.DSMT4">
                  <p:embed/>
                </p:oleObj>
              </mc:Choice>
              <mc:Fallback>
                <p:oleObj name="Equation" r:id="rId7" imgW="190440" imgH="2030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5816" y="2924944"/>
                        <a:ext cx="405045"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90525023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p:txBody>
          <a:bodyPr/>
          <a:lstStyle/>
          <a:p>
            <a:r>
              <a:rPr lang="en-US" altLang="zh-CN" dirty="0" smtClean="0"/>
              <a:t>Base on nontrivial strong connected components.</a:t>
            </a:r>
          </a:p>
          <a:p>
            <a:endParaRPr lang="en-US" altLang="zh-CN" dirty="0" smtClean="0"/>
          </a:p>
          <a:p>
            <a:r>
              <a:rPr lang="en-US" altLang="zh-CN" dirty="0" smtClean="0"/>
              <a:t>Nontrivial: has more than one or contain one node with a self-loop.</a:t>
            </a:r>
            <a:endParaRPr lang="zh-CN" altLang="en-US" dirty="0"/>
          </a:p>
        </p:txBody>
      </p:sp>
      <p:graphicFrame>
        <p:nvGraphicFramePr>
          <p:cNvPr id="21506" name="Object 2"/>
          <p:cNvGraphicFramePr>
            <a:graphicFrameLocks noChangeAspect="1"/>
          </p:cNvGraphicFramePr>
          <p:nvPr/>
        </p:nvGraphicFramePr>
        <p:xfrm>
          <a:off x="3275856" y="476672"/>
          <a:ext cx="2160240" cy="843020"/>
        </p:xfrm>
        <a:graphic>
          <a:graphicData uri="http://schemas.openxmlformats.org/presentationml/2006/ole">
            <mc:AlternateContent xmlns:mc="http://schemas.openxmlformats.org/markup-compatibility/2006">
              <mc:Choice xmlns:v="urn:schemas-microsoft-com:vml" Requires="v">
                <p:oleObj spid="_x0000_s17410" name="Equation" r:id="rId3" imgW="520560" imgH="203040" progId="Equation.DSMT4">
                  <p:embed/>
                </p:oleObj>
              </mc:Choice>
              <mc:Fallback>
                <p:oleObj name="Equation" r:id="rId3" imgW="520560" imgH="203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5856" y="476672"/>
                        <a:ext cx="2160240" cy="843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665779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zh-CN">
                <a:latin typeface="Arial" charset="0"/>
              </a:rPr>
              <a:t>LTL</a:t>
            </a:r>
          </a:p>
        </p:txBody>
      </p:sp>
      <p:sp>
        <p:nvSpPr>
          <p:cNvPr id="12291" name="Rectangle 3"/>
          <p:cNvSpPr>
            <a:spLocks noGrp="1" noChangeArrowheads="1"/>
          </p:cNvSpPr>
          <p:nvPr>
            <p:ph type="body" idx="1"/>
          </p:nvPr>
        </p:nvSpPr>
        <p:spPr/>
        <p:txBody>
          <a:bodyPr/>
          <a:lstStyle/>
          <a:p>
            <a:pPr>
              <a:lnSpc>
                <a:spcPct val="90000"/>
              </a:lnSpc>
            </a:pPr>
            <a:r>
              <a:rPr lang="en-US" altLang="zh-CN" dirty="0">
                <a:latin typeface="Arial" charset="0"/>
                <a:cs typeface="Arial" charset="0"/>
              </a:rPr>
              <a:t>Semantics</a:t>
            </a:r>
          </a:p>
          <a:p>
            <a:pPr lvl="1">
              <a:lnSpc>
                <a:spcPct val="90000"/>
              </a:lnSpc>
            </a:pP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 </a:t>
            </a:r>
            <a:r>
              <a:rPr lang="en-US" altLang="zh-CN" sz="2400" dirty="0">
                <a:latin typeface="Arial" charset="0"/>
                <a:cs typeface="Arial" charset="0"/>
              </a:rPr>
              <a:t>|= </a:t>
            </a:r>
            <a:r>
              <a:rPr lang="en-US" altLang="zh-CN" sz="2400" dirty="0">
                <a:latin typeface="Arial" charset="0"/>
                <a:sym typeface="Symbol" pitchFamily="18" charset="2"/>
              </a:rPr>
              <a:t>Op  	</a:t>
            </a:r>
            <a:r>
              <a:rPr lang="en-US" altLang="zh-CN" sz="2400" dirty="0">
                <a:latin typeface="Arial" charset="0"/>
              </a:rPr>
              <a:t>if </a:t>
            </a: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a:t>
            </a:r>
            <a:r>
              <a:rPr lang="en-US" altLang="zh-CN" sz="2400" baseline="30000" dirty="0">
                <a:latin typeface="Arial" charset="0"/>
                <a:cs typeface="Arial" charset="0"/>
              </a:rPr>
              <a:t>1</a:t>
            </a:r>
            <a:r>
              <a:rPr lang="el-GR" altLang="zh-CN" sz="2400" dirty="0">
                <a:latin typeface="Arial" charset="0"/>
                <a:cs typeface="Arial" charset="0"/>
              </a:rPr>
              <a:t> </a:t>
            </a:r>
            <a:r>
              <a:rPr lang="en-US" altLang="zh-CN" sz="2400" dirty="0">
                <a:latin typeface="Arial" charset="0"/>
                <a:cs typeface="Arial" charset="0"/>
              </a:rPr>
              <a:t>|= </a:t>
            </a:r>
            <a:r>
              <a:rPr lang="en-US" altLang="zh-CN" sz="2400" dirty="0">
                <a:latin typeface="Arial" charset="0"/>
                <a:sym typeface="Symbol" pitchFamily="18" charset="2"/>
              </a:rPr>
              <a:t>p</a:t>
            </a:r>
            <a:r>
              <a:rPr lang="en-US" altLang="zh-CN" sz="2400" dirty="0">
                <a:latin typeface="Arial" charset="0"/>
              </a:rPr>
              <a:t> </a:t>
            </a:r>
          </a:p>
          <a:p>
            <a:pPr lvl="1">
              <a:lnSpc>
                <a:spcPct val="90000"/>
              </a:lnSpc>
            </a:pP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 </a:t>
            </a:r>
            <a:r>
              <a:rPr lang="en-US" altLang="zh-CN" sz="2400" dirty="0">
                <a:latin typeface="Arial" charset="0"/>
                <a:cs typeface="Arial" charset="0"/>
              </a:rPr>
              <a:t>|= </a:t>
            </a:r>
            <a:r>
              <a:rPr lang="en-US" altLang="zh-CN" sz="2400" dirty="0">
                <a:latin typeface="Arial" charset="0"/>
                <a:sym typeface="Symbol" pitchFamily="18" charset="2"/>
              </a:rPr>
              <a:t>p 	if</a:t>
            </a:r>
            <a:r>
              <a:rPr lang="en-US" altLang="zh-CN" sz="2400" dirty="0">
                <a:latin typeface="Arial" charset="0"/>
              </a:rPr>
              <a:t> </a:t>
            </a:r>
            <a:r>
              <a:rPr lang="en-US" altLang="zh-CN" sz="2400" dirty="0">
                <a:latin typeface="Arial" charset="0"/>
                <a:cs typeface="Arial" charset="0"/>
                <a:sym typeface="Symbol" pitchFamily="18" charset="2"/>
              </a:rPr>
              <a:t>i≥0:</a:t>
            </a:r>
            <a:r>
              <a:rPr lang="en-US" altLang="zh-CN" sz="2400" dirty="0">
                <a:latin typeface="Arial" charset="0"/>
              </a:rPr>
              <a:t> </a:t>
            </a: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a:t>
            </a:r>
            <a:r>
              <a:rPr lang="en-US" altLang="zh-CN" sz="2400" baseline="30000" dirty="0">
                <a:latin typeface="Arial" charset="0"/>
                <a:cs typeface="Arial" charset="0"/>
              </a:rPr>
              <a:t>i</a:t>
            </a:r>
            <a:r>
              <a:rPr lang="el-GR" altLang="zh-CN" sz="2400" dirty="0">
                <a:latin typeface="Arial" charset="0"/>
                <a:cs typeface="Arial" charset="0"/>
              </a:rPr>
              <a:t> </a:t>
            </a:r>
            <a:r>
              <a:rPr lang="en-US" altLang="zh-CN" sz="2400" dirty="0">
                <a:latin typeface="Arial" charset="0"/>
                <a:cs typeface="Arial" charset="0"/>
              </a:rPr>
              <a:t>|= </a:t>
            </a:r>
            <a:r>
              <a:rPr lang="en-US" altLang="zh-CN" sz="2400" dirty="0">
                <a:latin typeface="Arial" charset="0"/>
                <a:sym typeface="Symbol" pitchFamily="18" charset="2"/>
              </a:rPr>
              <a:t>p</a:t>
            </a:r>
            <a:r>
              <a:rPr lang="en-US" altLang="zh-CN" sz="2400" dirty="0">
                <a:latin typeface="Arial" charset="0"/>
              </a:rPr>
              <a:t> </a:t>
            </a:r>
          </a:p>
          <a:p>
            <a:pPr lvl="1">
              <a:lnSpc>
                <a:spcPct val="90000"/>
              </a:lnSpc>
            </a:pP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 </a:t>
            </a:r>
            <a:r>
              <a:rPr lang="en-US" altLang="zh-CN" sz="2400" dirty="0">
                <a:latin typeface="Arial" charset="0"/>
                <a:cs typeface="Arial" charset="0"/>
              </a:rPr>
              <a:t>|= </a:t>
            </a:r>
            <a:r>
              <a:rPr lang="en-US" altLang="zh-CN" dirty="0" smtClean="0">
                <a:latin typeface="Arial" charset="0"/>
                <a:cs typeface="Arial" charset="0"/>
                <a:sym typeface="Symbol" pitchFamily="18" charset="2"/>
              </a:rPr>
              <a:t>[]</a:t>
            </a:r>
            <a:r>
              <a:rPr lang="en-US" altLang="zh-CN" sz="2400" dirty="0" smtClean="0">
                <a:latin typeface="Arial" charset="0"/>
                <a:sym typeface="Symbol" pitchFamily="18" charset="2"/>
              </a:rPr>
              <a:t>p   </a:t>
            </a:r>
            <a:r>
              <a:rPr lang="en-US" altLang="zh-CN" sz="2400" dirty="0">
                <a:latin typeface="Arial" charset="0"/>
                <a:sym typeface="Symbol" pitchFamily="18" charset="2"/>
              </a:rPr>
              <a:t>	if</a:t>
            </a:r>
            <a:r>
              <a:rPr lang="en-US" altLang="zh-CN" sz="2400" dirty="0">
                <a:latin typeface="Arial" charset="0"/>
              </a:rPr>
              <a:t> </a:t>
            </a:r>
            <a:r>
              <a:rPr lang="en-US" altLang="zh-CN" sz="2400" dirty="0">
                <a:latin typeface="Arial" charset="0"/>
                <a:cs typeface="Arial" charset="0"/>
                <a:sym typeface="Symbol" pitchFamily="18" charset="2"/>
              </a:rPr>
              <a:t>i≥0: </a:t>
            </a: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a:t>
            </a:r>
            <a:r>
              <a:rPr lang="en-US" altLang="zh-CN" sz="2400" baseline="30000" dirty="0">
                <a:latin typeface="Arial" charset="0"/>
                <a:cs typeface="Arial" charset="0"/>
              </a:rPr>
              <a:t>i</a:t>
            </a:r>
            <a:r>
              <a:rPr lang="el-GR" altLang="zh-CN" sz="2400" dirty="0">
                <a:latin typeface="Arial" charset="0"/>
                <a:cs typeface="Arial" charset="0"/>
              </a:rPr>
              <a:t> </a:t>
            </a:r>
            <a:r>
              <a:rPr lang="en-US" altLang="zh-CN" sz="2400" dirty="0">
                <a:latin typeface="Arial" charset="0"/>
                <a:cs typeface="Arial" charset="0"/>
              </a:rPr>
              <a:t>|= </a:t>
            </a:r>
            <a:r>
              <a:rPr lang="en-US" altLang="zh-CN" sz="2400" dirty="0">
                <a:latin typeface="Arial" charset="0"/>
                <a:sym typeface="Symbol" pitchFamily="18" charset="2"/>
              </a:rPr>
              <a:t>p</a:t>
            </a:r>
            <a:r>
              <a:rPr lang="en-US" altLang="zh-CN" sz="2400" dirty="0">
                <a:latin typeface="Arial" charset="0"/>
              </a:rPr>
              <a:t> </a:t>
            </a:r>
          </a:p>
          <a:p>
            <a:pPr lvl="1">
              <a:lnSpc>
                <a:spcPct val="90000"/>
              </a:lnSpc>
            </a:pP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 </a:t>
            </a:r>
            <a:r>
              <a:rPr lang="en-US" altLang="zh-CN" sz="2400" dirty="0">
                <a:latin typeface="Arial" charset="0"/>
                <a:cs typeface="Arial" charset="0"/>
              </a:rPr>
              <a:t>|= </a:t>
            </a:r>
            <a:r>
              <a:rPr lang="en-US" altLang="zh-CN" sz="2400" dirty="0" err="1">
                <a:latin typeface="Arial" charset="0"/>
                <a:sym typeface="Symbol" pitchFamily="18" charset="2"/>
              </a:rPr>
              <a:t>p</a:t>
            </a:r>
            <a:r>
              <a:rPr lang="en-US" altLang="zh-CN" sz="2400" dirty="0" err="1">
                <a:latin typeface="Arial" charset="0"/>
                <a:ea typeface="MingLiU" pitchFamily="49" charset="-120"/>
                <a:sym typeface="Symbol" pitchFamily="18" charset="2"/>
              </a:rPr>
              <a:t>Uq</a:t>
            </a:r>
            <a:r>
              <a:rPr lang="en-US" altLang="zh-CN" sz="2400" dirty="0">
                <a:latin typeface="Arial" charset="0"/>
                <a:ea typeface="MingLiU" pitchFamily="49" charset="-120"/>
                <a:sym typeface="Symbol" pitchFamily="18" charset="2"/>
              </a:rPr>
              <a:t>	</a:t>
            </a:r>
            <a:r>
              <a:rPr lang="en-US" altLang="zh-CN" sz="2400" dirty="0">
                <a:latin typeface="Arial" charset="0"/>
                <a:sym typeface="Symbol" pitchFamily="18" charset="2"/>
              </a:rPr>
              <a:t>if</a:t>
            </a:r>
            <a:r>
              <a:rPr lang="en-US" altLang="zh-CN" sz="2400" dirty="0">
                <a:latin typeface="Arial" charset="0"/>
              </a:rPr>
              <a:t> </a:t>
            </a:r>
            <a:r>
              <a:rPr lang="en-US" altLang="zh-CN" sz="2400" dirty="0">
                <a:latin typeface="Arial" charset="0"/>
                <a:cs typeface="Arial" charset="0"/>
                <a:sym typeface="Symbol" pitchFamily="18" charset="2"/>
              </a:rPr>
              <a:t>i≥0: </a:t>
            </a: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a:t>
            </a:r>
            <a:r>
              <a:rPr lang="en-US" altLang="zh-CN" sz="2400" baseline="30000" dirty="0">
                <a:latin typeface="Arial" charset="0"/>
                <a:cs typeface="Arial" charset="0"/>
              </a:rPr>
              <a:t>i</a:t>
            </a:r>
            <a:r>
              <a:rPr lang="el-GR" altLang="zh-CN" sz="2400" dirty="0">
                <a:latin typeface="Arial" charset="0"/>
                <a:cs typeface="Arial" charset="0"/>
              </a:rPr>
              <a:t> </a:t>
            </a:r>
            <a:r>
              <a:rPr lang="en-US" altLang="zh-CN" sz="2400" dirty="0">
                <a:latin typeface="Arial" charset="0"/>
                <a:cs typeface="Arial" charset="0"/>
              </a:rPr>
              <a:t>|= q and						</a:t>
            </a:r>
            <a:r>
              <a:rPr lang="en-US" altLang="zh-CN" sz="2400" dirty="0">
                <a:latin typeface="Arial" charset="0"/>
                <a:cs typeface="Arial" charset="0"/>
                <a:sym typeface="Symbol" pitchFamily="18" charset="2"/>
              </a:rPr>
              <a:t>j&lt;i: </a:t>
            </a: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a:t>
            </a:r>
            <a:r>
              <a:rPr lang="en-US" altLang="zh-CN" sz="2400" baseline="30000" dirty="0">
                <a:latin typeface="Arial" charset="0"/>
                <a:cs typeface="Arial" charset="0"/>
              </a:rPr>
              <a:t>j</a:t>
            </a:r>
            <a:r>
              <a:rPr lang="el-GR" altLang="zh-CN" sz="2400" dirty="0">
                <a:latin typeface="Arial" charset="0"/>
                <a:cs typeface="Arial" charset="0"/>
              </a:rPr>
              <a:t> </a:t>
            </a:r>
            <a:r>
              <a:rPr lang="en-US" altLang="zh-CN" sz="2400" dirty="0">
                <a:latin typeface="Arial" charset="0"/>
                <a:cs typeface="Arial" charset="0"/>
              </a:rPr>
              <a:t>|= </a:t>
            </a:r>
            <a:r>
              <a:rPr lang="en-US" altLang="zh-CN" sz="2400" dirty="0">
                <a:latin typeface="Arial" charset="0"/>
                <a:sym typeface="Symbol" pitchFamily="18" charset="2"/>
              </a:rPr>
              <a:t>p</a:t>
            </a:r>
            <a:r>
              <a:rPr lang="en-US" altLang="zh-CN" sz="2400" dirty="0">
                <a:latin typeface="Arial" charset="0"/>
                <a:ea typeface="MingLiU" pitchFamily="49" charset="-120"/>
                <a:sym typeface="Symbol" pitchFamily="18" charset="2"/>
              </a:rPr>
              <a:t> </a:t>
            </a:r>
            <a:endParaRPr lang="en-US" altLang="zh-CN" sz="2400" dirty="0">
              <a:latin typeface="Arial" charset="0"/>
            </a:endParaRPr>
          </a:p>
          <a:p>
            <a:pPr lvl="1">
              <a:lnSpc>
                <a:spcPct val="90000"/>
              </a:lnSpc>
            </a:pP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 </a:t>
            </a:r>
            <a:r>
              <a:rPr lang="en-US" altLang="zh-CN" sz="2400" dirty="0">
                <a:latin typeface="Arial" charset="0"/>
                <a:cs typeface="Arial" charset="0"/>
              </a:rPr>
              <a:t>|= </a:t>
            </a:r>
            <a:r>
              <a:rPr lang="en-US" altLang="zh-CN" sz="2400" dirty="0" err="1">
                <a:latin typeface="Arial" charset="0"/>
                <a:sym typeface="Symbol" pitchFamily="18" charset="2"/>
              </a:rPr>
              <a:t>p</a:t>
            </a:r>
            <a:r>
              <a:rPr lang="en-US" altLang="zh-CN" sz="2400" dirty="0" err="1">
                <a:latin typeface="Arial" charset="0"/>
                <a:ea typeface="MingLiU" pitchFamily="49" charset="-120"/>
                <a:sym typeface="Symbol" pitchFamily="18" charset="2"/>
              </a:rPr>
              <a:t>Rq</a:t>
            </a:r>
            <a:r>
              <a:rPr lang="en-US" altLang="zh-CN" sz="2400" dirty="0">
                <a:latin typeface="Arial" charset="0"/>
                <a:sym typeface="Symbol" pitchFamily="18" charset="2"/>
              </a:rPr>
              <a:t> 	if </a:t>
            </a:r>
            <a:r>
              <a:rPr lang="en-US" altLang="zh-CN" sz="2400" dirty="0">
                <a:latin typeface="Arial" charset="0"/>
                <a:cs typeface="Arial" charset="0"/>
                <a:sym typeface="Symbol" pitchFamily="18" charset="2"/>
              </a:rPr>
              <a:t>i≥0: </a:t>
            </a: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a:t>
            </a:r>
            <a:r>
              <a:rPr lang="en-US" altLang="zh-CN" sz="2400" baseline="30000" dirty="0">
                <a:latin typeface="Arial" charset="0"/>
                <a:cs typeface="Arial" charset="0"/>
              </a:rPr>
              <a:t>i</a:t>
            </a:r>
            <a:r>
              <a:rPr lang="el-GR" altLang="zh-CN" sz="2400" dirty="0">
                <a:latin typeface="Arial" charset="0"/>
                <a:cs typeface="Arial" charset="0"/>
              </a:rPr>
              <a:t> </a:t>
            </a:r>
            <a:r>
              <a:rPr lang="en-US" altLang="zh-CN" sz="2400" dirty="0">
                <a:latin typeface="Arial" charset="0"/>
                <a:cs typeface="Arial" charset="0"/>
              </a:rPr>
              <a:t>|= </a:t>
            </a:r>
            <a:r>
              <a:rPr lang="en-US" altLang="zh-CN" sz="2400" dirty="0">
                <a:latin typeface="Arial" charset="0"/>
                <a:sym typeface="Symbol" pitchFamily="18" charset="2"/>
              </a:rPr>
              <a:t>q</a:t>
            </a:r>
            <a:r>
              <a:rPr lang="en-US" altLang="zh-CN" sz="2400" dirty="0">
                <a:latin typeface="Arial" charset="0"/>
              </a:rPr>
              <a:t> </a:t>
            </a:r>
            <a:r>
              <a:rPr lang="en-US" altLang="zh-CN" sz="2400" dirty="0">
                <a:latin typeface="Arial" charset="0"/>
                <a:cs typeface="Arial" charset="0"/>
              </a:rPr>
              <a:t>or 						</a:t>
            </a:r>
            <a:r>
              <a:rPr lang="en-US" altLang="zh-CN" sz="2400" dirty="0">
                <a:latin typeface="Arial" charset="0"/>
                <a:cs typeface="Arial" charset="0"/>
                <a:sym typeface="Symbol" pitchFamily="18" charset="2"/>
              </a:rPr>
              <a:t>i≥0: </a:t>
            </a: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a:t>
            </a:r>
            <a:r>
              <a:rPr lang="en-US" altLang="zh-CN" sz="2400" baseline="30000" dirty="0">
                <a:latin typeface="Arial" charset="0"/>
                <a:cs typeface="Arial" charset="0"/>
              </a:rPr>
              <a:t>i</a:t>
            </a:r>
            <a:r>
              <a:rPr lang="el-GR" altLang="zh-CN" sz="2400" dirty="0">
                <a:latin typeface="Arial" charset="0"/>
                <a:cs typeface="Arial" charset="0"/>
              </a:rPr>
              <a:t> </a:t>
            </a:r>
            <a:r>
              <a:rPr lang="en-US" altLang="zh-CN" sz="2400" dirty="0">
                <a:latin typeface="Arial" charset="0"/>
                <a:cs typeface="Arial" charset="0"/>
              </a:rPr>
              <a:t>|= p and						</a:t>
            </a:r>
            <a:r>
              <a:rPr lang="en-US" altLang="zh-CN" sz="2400" dirty="0">
                <a:latin typeface="Arial" charset="0"/>
                <a:cs typeface="Arial" charset="0"/>
                <a:sym typeface="Symbol" pitchFamily="18" charset="2"/>
              </a:rPr>
              <a:t></a:t>
            </a:r>
            <a:r>
              <a:rPr lang="en-US" altLang="zh-CN" sz="2400" dirty="0" err="1">
                <a:latin typeface="Arial" charset="0"/>
                <a:cs typeface="Arial" charset="0"/>
                <a:sym typeface="Symbol" pitchFamily="18" charset="2"/>
              </a:rPr>
              <a:t>j≤i</a:t>
            </a:r>
            <a:r>
              <a:rPr lang="en-US" altLang="zh-CN" sz="2400" dirty="0">
                <a:latin typeface="Arial" charset="0"/>
                <a:cs typeface="Arial" charset="0"/>
                <a:sym typeface="Symbol" pitchFamily="18" charset="2"/>
              </a:rPr>
              <a:t>: </a:t>
            </a:r>
            <a:r>
              <a:rPr lang="en-US" altLang="zh-CN" sz="2400" dirty="0">
                <a:latin typeface="Arial" charset="0"/>
                <a:cs typeface="Arial" charset="0"/>
              </a:rPr>
              <a:t>M,</a:t>
            </a:r>
            <a:r>
              <a:rPr lang="en-US" altLang="zh-CN" dirty="0">
                <a:latin typeface="Arial" charset="0"/>
                <a:cs typeface="Arial" charset="0"/>
              </a:rPr>
              <a:t> </a:t>
            </a:r>
            <a:r>
              <a:rPr lang="en-US" altLang="zh-CN" dirty="0">
                <a:latin typeface="Arial" charset="0"/>
                <a:cs typeface="Arial" charset="0"/>
                <a:sym typeface="Symbol" pitchFamily="18" charset="2"/>
              </a:rPr>
              <a:t></a:t>
            </a:r>
            <a:r>
              <a:rPr lang="en-US" altLang="zh-CN" sz="2400" baseline="30000" dirty="0">
                <a:latin typeface="Arial" charset="0"/>
                <a:cs typeface="Arial" charset="0"/>
              </a:rPr>
              <a:t>j</a:t>
            </a:r>
            <a:r>
              <a:rPr lang="el-GR" altLang="zh-CN" sz="2400" dirty="0">
                <a:latin typeface="Arial" charset="0"/>
                <a:cs typeface="Arial" charset="0"/>
              </a:rPr>
              <a:t> </a:t>
            </a:r>
            <a:r>
              <a:rPr lang="en-US" altLang="zh-CN" sz="2400" dirty="0">
                <a:latin typeface="Arial" charset="0"/>
                <a:cs typeface="Arial" charset="0"/>
              </a:rPr>
              <a:t>|= </a:t>
            </a:r>
            <a:r>
              <a:rPr lang="en-US" altLang="zh-CN" sz="2400" dirty="0">
                <a:latin typeface="Arial" charset="0"/>
                <a:sym typeface="Symbol" pitchFamily="18" charset="2"/>
              </a:rPr>
              <a:t>q</a:t>
            </a:r>
          </a:p>
        </p:txBody>
      </p:sp>
      <p:sp>
        <p:nvSpPr>
          <p:cNvPr id="12292" name="Rectangle 4"/>
          <p:cNvSpPr>
            <a:spLocks noChangeArrowheads="1"/>
          </p:cNvSpPr>
          <p:nvPr/>
        </p:nvSpPr>
        <p:spPr bwMode="auto">
          <a:xfrm>
            <a:off x="827088" y="6164263"/>
            <a:ext cx="7559675" cy="50482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20000"/>
              </a:spcBef>
            </a:pPr>
            <a:r>
              <a:rPr lang="en-US" altLang="zh-CN" sz="3200" dirty="0">
                <a:latin typeface="Arial" charset="0"/>
                <a:cs typeface="Arial" charset="0"/>
              </a:rPr>
              <a:t>M |= p</a:t>
            </a:r>
            <a:r>
              <a:rPr lang="en-US" altLang="zh-CN" sz="3200" dirty="0">
                <a:latin typeface="Arial" charset="0"/>
              </a:rPr>
              <a:t>	if	</a:t>
            </a:r>
            <a:r>
              <a:rPr lang="en-US" altLang="zh-CN" sz="3200" dirty="0">
                <a:latin typeface="Arial" charset="0"/>
                <a:sym typeface="Symbol" pitchFamily="18" charset="2"/>
              </a:rPr>
              <a:t></a:t>
            </a:r>
            <a:r>
              <a:rPr lang="en-US" altLang="zh-CN" sz="3200" dirty="0">
                <a:latin typeface="Arial" charset="0"/>
                <a:cs typeface="Arial" charset="0"/>
                <a:sym typeface="Symbol" pitchFamily="18" charset="2"/>
              </a:rPr>
              <a:t>(M): M, </a:t>
            </a:r>
            <a:r>
              <a:rPr lang="en-US" altLang="zh-CN" sz="3200" dirty="0">
                <a:latin typeface="Arial" charset="0"/>
                <a:sym typeface="Symbol" pitchFamily="18" charset="2"/>
              </a:rPr>
              <a:t></a:t>
            </a:r>
            <a:r>
              <a:rPr lang="en-US" altLang="zh-CN" sz="3200" dirty="0">
                <a:latin typeface="Arial" charset="0"/>
                <a:cs typeface="Arial" charset="0"/>
              </a:rPr>
              <a:t>|= p</a:t>
            </a:r>
            <a:r>
              <a:rPr lang="en-US" altLang="zh-CN" sz="3200" dirty="0">
                <a:latin typeface="Arial" charset="0"/>
              </a:rPr>
              <a:t> </a:t>
            </a:r>
          </a:p>
        </p:txBody>
      </p:sp>
    </p:spTree>
    <p:extLst>
      <p:ext uri="{BB962C8B-B14F-4D97-AF65-F5344CB8AC3E}">
        <p14:creationId xmlns:p14="http://schemas.microsoft.com/office/powerpoint/2010/main" val="115601230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a:latin typeface="Arial" charset="0"/>
              </a:rPr>
              <a:t>LTL</a:t>
            </a:r>
          </a:p>
        </p:txBody>
      </p:sp>
      <p:sp>
        <p:nvSpPr>
          <p:cNvPr id="13315" name="Rectangle 3"/>
          <p:cNvSpPr>
            <a:spLocks noGrp="1" noChangeArrowheads="1"/>
          </p:cNvSpPr>
          <p:nvPr>
            <p:ph type="body" idx="1"/>
          </p:nvPr>
        </p:nvSpPr>
        <p:spPr/>
        <p:txBody>
          <a:bodyPr/>
          <a:lstStyle/>
          <a:p>
            <a:r>
              <a:rPr lang="en-US" altLang="zh-CN" dirty="0">
                <a:latin typeface="Arial" charset="0"/>
                <a:sym typeface="Symbol" pitchFamily="18" charset="2"/>
              </a:rPr>
              <a:t>p</a:t>
            </a:r>
          </a:p>
          <a:p>
            <a:endParaRPr lang="en-US" altLang="zh-CN" dirty="0">
              <a:latin typeface="Arial" charset="0"/>
              <a:sym typeface="Symbol" pitchFamily="18" charset="2"/>
            </a:endParaRPr>
          </a:p>
          <a:p>
            <a:r>
              <a:rPr lang="en-US" altLang="zh-CN" dirty="0" smtClean="0">
                <a:latin typeface="Arial" charset="0"/>
                <a:sym typeface="Symbol" pitchFamily="18" charset="2"/>
              </a:rPr>
              <a:t>[]</a:t>
            </a:r>
            <a:r>
              <a:rPr lang="en-US" altLang="zh-CN" dirty="0" smtClean="0">
                <a:latin typeface="Arial" charset="0"/>
                <a:sym typeface="Symbol" pitchFamily="18" charset="2"/>
              </a:rPr>
              <a:t>p</a:t>
            </a:r>
            <a:endParaRPr lang="en-US" altLang="zh-CN" dirty="0">
              <a:latin typeface="Arial" charset="0"/>
              <a:sym typeface="Symbol" pitchFamily="18" charset="2"/>
            </a:endParaRPr>
          </a:p>
          <a:p>
            <a:endParaRPr lang="en-US" altLang="zh-CN" dirty="0">
              <a:latin typeface="Arial" charset="0"/>
              <a:sym typeface="Symbol" pitchFamily="18" charset="2"/>
            </a:endParaRPr>
          </a:p>
          <a:p>
            <a:r>
              <a:rPr lang="en-US" altLang="zh-CN" dirty="0" err="1">
                <a:latin typeface="Arial" charset="0"/>
                <a:sym typeface="Symbol" pitchFamily="18" charset="2"/>
              </a:rPr>
              <a:t>p</a:t>
            </a:r>
            <a:r>
              <a:rPr lang="en-US" altLang="zh-CN" dirty="0" err="1">
                <a:latin typeface="Arial" charset="0"/>
                <a:ea typeface="MingLiU" pitchFamily="49" charset="-120"/>
                <a:sym typeface="Symbol" pitchFamily="18" charset="2"/>
              </a:rPr>
              <a:t>Uq</a:t>
            </a:r>
            <a:endParaRPr lang="en-US" altLang="zh-CN" dirty="0">
              <a:latin typeface="Arial" charset="0"/>
              <a:ea typeface="MingLiU" pitchFamily="49" charset="-120"/>
              <a:sym typeface="Symbol" pitchFamily="18" charset="2"/>
            </a:endParaRPr>
          </a:p>
          <a:p>
            <a:endParaRPr lang="en-US" altLang="zh-CN" dirty="0">
              <a:latin typeface="Arial" charset="0"/>
              <a:ea typeface="MingLiU" pitchFamily="49" charset="-120"/>
              <a:sym typeface="Symbol" pitchFamily="18" charset="2"/>
            </a:endParaRPr>
          </a:p>
          <a:p>
            <a:r>
              <a:rPr lang="en-US" altLang="zh-CN" dirty="0" err="1">
                <a:latin typeface="Arial" charset="0"/>
                <a:sym typeface="Symbol" pitchFamily="18" charset="2"/>
              </a:rPr>
              <a:t>p</a:t>
            </a:r>
            <a:r>
              <a:rPr lang="en-US" altLang="zh-CN" dirty="0" err="1">
                <a:latin typeface="Arial" charset="0"/>
                <a:ea typeface="MingLiU" pitchFamily="49" charset="-120"/>
                <a:sym typeface="Symbol" pitchFamily="18" charset="2"/>
              </a:rPr>
              <a:t>Rq</a:t>
            </a:r>
            <a:endParaRPr lang="en-US" altLang="zh-CN" dirty="0">
              <a:latin typeface="Arial" charset="0"/>
              <a:sym typeface="Symbol" pitchFamily="18" charset="2"/>
            </a:endParaRPr>
          </a:p>
        </p:txBody>
      </p:sp>
      <p:grpSp>
        <p:nvGrpSpPr>
          <p:cNvPr id="13399" name="Group 87"/>
          <p:cNvGrpSpPr>
            <a:grpSpLocks/>
          </p:cNvGrpSpPr>
          <p:nvPr/>
        </p:nvGrpSpPr>
        <p:grpSpPr bwMode="auto">
          <a:xfrm>
            <a:off x="2641600" y="2630959"/>
            <a:ext cx="4953000" cy="685800"/>
            <a:chOff x="1701" y="1806"/>
            <a:chExt cx="3120" cy="432"/>
          </a:xfrm>
        </p:grpSpPr>
        <p:sp>
          <p:nvSpPr>
            <p:cNvPr id="13317" name="Line 5"/>
            <p:cNvSpPr>
              <a:spLocks noChangeShapeType="1"/>
            </p:cNvSpPr>
            <p:nvPr/>
          </p:nvSpPr>
          <p:spPr bwMode="auto">
            <a:xfrm>
              <a:off x="1797" y="1902"/>
              <a:ext cx="2976" cy="0"/>
            </a:xfrm>
            <a:prstGeom prst="line">
              <a:avLst/>
            </a:prstGeom>
            <a:noFill/>
            <a:ln w="12700">
              <a:solidFill>
                <a:srgbClr val="3366FF"/>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8" name="Line 6"/>
            <p:cNvSpPr>
              <a:spLocks noChangeShapeType="1"/>
            </p:cNvSpPr>
            <p:nvPr/>
          </p:nvSpPr>
          <p:spPr bwMode="auto">
            <a:xfrm>
              <a:off x="1797"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9" name="Line 7"/>
            <p:cNvSpPr>
              <a:spLocks noChangeShapeType="1"/>
            </p:cNvSpPr>
            <p:nvPr/>
          </p:nvSpPr>
          <p:spPr bwMode="auto">
            <a:xfrm>
              <a:off x="1989"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0" name="Line 8"/>
            <p:cNvSpPr>
              <a:spLocks noChangeShapeType="1"/>
            </p:cNvSpPr>
            <p:nvPr/>
          </p:nvSpPr>
          <p:spPr bwMode="auto">
            <a:xfrm>
              <a:off x="2181"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1" name="Line 9"/>
            <p:cNvSpPr>
              <a:spLocks noChangeShapeType="1"/>
            </p:cNvSpPr>
            <p:nvPr/>
          </p:nvSpPr>
          <p:spPr bwMode="auto">
            <a:xfrm>
              <a:off x="2373"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2" name="Line 10"/>
            <p:cNvSpPr>
              <a:spLocks noChangeShapeType="1"/>
            </p:cNvSpPr>
            <p:nvPr/>
          </p:nvSpPr>
          <p:spPr bwMode="auto">
            <a:xfrm>
              <a:off x="2565"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3" name="Line 11"/>
            <p:cNvSpPr>
              <a:spLocks noChangeShapeType="1"/>
            </p:cNvSpPr>
            <p:nvPr/>
          </p:nvSpPr>
          <p:spPr bwMode="auto">
            <a:xfrm>
              <a:off x="2757"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 name="Line 12"/>
            <p:cNvSpPr>
              <a:spLocks noChangeShapeType="1"/>
            </p:cNvSpPr>
            <p:nvPr/>
          </p:nvSpPr>
          <p:spPr bwMode="auto">
            <a:xfrm>
              <a:off x="2949"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5" name="Line 13"/>
            <p:cNvSpPr>
              <a:spLocks noChangeShapeType="1"/>
            </p:cNvSpPr>
            <p:nvPr/>
          </p:nvSpPr>
          <p:spPr bwMode="auto">
            <a:xfrm>
              <a:off x="3141"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 name="Line 14"/>
            <p:cNvSpPr>
              <a:spLocks noChangeShapeType="1"/>
            </p:cNvSpPr>
            <p:nvPr/>
          </p:nvSpPr>
          <p:spPr bwMode="auto">
            <a:xfrm>
              <a:off x="3333"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7" name="Line 15"/>
            <p:cNvSpPr>
              <a:spLocks noChangeShapeType="1"/>
            </p:cNvSpPr>
            <p:nvPr/>
          </p:nvSpPr>
          <p:spPr bwMode="auto">
            <a:xfrm>
              <a:off x="3525"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 name="Line 16"/>
            <p:cNvSpPr>
              <a:spLocks noChangeShapeType="1"/>
            </p:cNvSpPr>
            <p:nvPr/>
          </p:nvSpPr>
          <p:spPr bwMode="auto">
            <a:xfrm>
              <a:off x="3717"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9" name="Line 17"/>
            <p:cNvSpPr>
              <a:spLocks noChangeShapeType="1"/>
            </p:cNvSpPr>
            <p:nvPr/>
          </p:nvSpPr>
          <p:spPr bwMode="auto">
            <a:xfrm>
              <a:off x="3909"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0" name="Line 18"/>
            <p:cNvSpPr>
              <a:spLocks noChangeShapeType="1"/>
            </p:cNvSpPr>
            <p:nvPr/>
          </p:nvSpPr>
          <p:spPr bwMode="auto">
            <a:xfrm>
              <a:off x="4101"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1" name="Line 19"/>
            <p:cNvSpPr>
              <a:spLocks noChangeShapeType="1"/>
            </p:cNvSpPr>
            <p:nvPr/>
          </p:nvSpPr>
          <p:spPr bwMode="auto">
            <a:xfrm>
              <a:off x="4293"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2" name="Line 20"/>
            <p:cNvSpPr>
              <a:spLocks noChangeShapeType="1"/>
            </p:cNvSpPr>
            <p:nvPr/>
          </p:nvSpPr>
          <p:spPr bwMode="auto">
            <a:xfrm>
              <a:off x="4485" y="1806"/>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3" name="Text Box 21"/>
            <p:cNvSpPr txBox="1">
              <a:spLocks noChangeArrowheads="1"/>
            </p:cNvSpPr>
            <p:nvPr/>
          </p:nvSpPr>
          <p:spPr bwMode="auto">
            <a:xfrm>
              <a:off x="1701"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34" name="Text Box 22"/>
            <p:cNvSpPr txBox="1">
              <a:spLocks noChangeArrowheads="1"/>
            </p:cNvSpPr>
            <p:nvPr/>
          </p:nvSpPr>
          <p:spPr bwMode="auto">
            <a:xfrm>
              <a:off x="1893"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35" name="Text Box 23"/>
            <p:cNvSpPr txBox="1">
              <a:spLocks noChangeArrowheads="1"/>
            </p:cNvSpPr>
            <p:nvPr/>
          </p:nvSpPr>
          <p:spPr bwMode="auto">
            <a:xfrm>
              <a:off x="2469"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36" name="Text Box 24"/>
            <p:cNvSpPr txBox="1">
              <a:spLocks noChangeArrowheads="1"/>
            </p:cNvSpPr>
            <p:nvPr/>
          </p:nvSpPr>
          <p:spPr bwMode="auto">
            <a:xfrm>
              <a:off x="2661"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37" name="Text Box 25"/>
            <p:cNvSpPr txBox="1">
              <a:spLocks noChangeArrowheads="1"/>
            </p:cNvSpPr>
            <p:nvPr/>
          </p:nvSpPr>
          <p:spPr bwMode="auto">
            <a:xfrm>
              <a:off x="3237"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38" name="Text Box 26"/>
            <p:cNvSpPr txBox="1">
              <a:spLocks noChangeArrowheads="1"/>
            </p:cNvSpPr>
            <p:nvPr/>
          </p:nvSpPr>
          <p:spPr bwMode="auto">
            <a:xfrm>
              <a:off x="3429"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39" name="Text Box 27"/>
            <p:cNvSpPr txBox="1">
              <a:spLocks noChangeArrowheads="1"/>
            </p:cNvSpPr>
            <p:nvPr/>
          </p:nvSpPr>
          <p:spPr bwMode="auto">
            <a:xfrm>
              <a:off x="3621"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40" name="Text Box 28"/>
            <p:cNvSpPr txBox="1">
              <a:spLocks noChangeArrowheads="1"/>
            </p:cNvSpPr>
            <p:nvPr/>
          </p:nvSpPr>
          <p:spPr bwMode="auto">
            <a:xfrm>
              <a:off x="3813"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41" name="Text Box 29"/>
            <p:cNvSpPr txBox="1">
              <a:spLocks noChangeArrowheads="1"/>
            </p:cNvSpPr>
            <p:nvPr/>
          </p:nvSpPr>
          <p:spPr bwMode="auto">
            <a:xfrm>
              <a:off x="4005"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42" name="Text Box 30"/>
            <p:cNvSpPr txBox="1">
              <a:spLocks noChangeArrowheads="1"/>
            </p:cNvSpPr>
            <p:nvPr/>
          </p:nvSpPr>
          <p:spPr bwMode="auto">
            <a:xfrm>
              <a:off x="4197" y="1902"/>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43" name="Text Box 31"/>
            <p:cNvSpPr txBox="1">
              <a:spLocks noChangeArrowheads="1"/>
            </p:cNvSpPr>
            <p:nvPr/>
          </p:nvSpPr>
          <p:spPr bwMode="auto">
            <a:xfrm>
              <a:off x="4389" y="1902"/>
              <a:ext cx="356"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45" name="Line 33"/>
            <p:cNvSpPr>
              <a:spLocks noChangeShapeType="1"/>
            </p:cNvSpPr>
            <p:nvPr/>
          </p:nvSpPr>
          <p:spPr bwMode="auto">
            <a:xfrm>
              <a:off x="3285" y="2238"/>
              <a:ext cx="153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98" name="Group 86"/>
          <p:cNvGrpSpPr>
            <a:grpSpLocks/>
          </p:cNvGrpSpPr>
          <p:nvPr/>
        </p:nvGrpSpPr>
        <p:grpSpPr bwMode="auto">
          <a:xfrm>
            <a:off x="2647950" y="1484784"/>
            <a:ext cx="4876800" cy="685800"/>
            <a:chOff x="1701" y="1298"/>
            <a:chExt cx="3072" cy="432"/>
          </a:xfrm>
        </p:grpSpPr>
        <p:sp>
          <p:nvSpPr>
            <p:cNvPr id="13346" name="Line 34"/>
            <p:cNvSpPr>
              <a:spLocks noChangeShapeType="1"/>
            </p:cNvSpPr>
            <p:nvPr/>
          </p:nvSpPr>
          <p:spPr bwMode="auto">
            <a:xfrm>
              <a:off x="1797" y="1394"/>
              <a:ext cx="2976" cy="0"/>
            </a:xfrm>
            <a:prstGeom prst="line">
              <a:avLst/>
            </a:prstGeom>
            <a:noFill/>
            <a:ln w="12700">
              <a:solidFill>
                <a:srgbClr val="3366FF"/>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7" name="Line 35"/>
            <p:cNvSpPr>
              <a:spLocks noChangeShapeType="1"/>
            </p:cNvSpPr>
            <p:nvPr/>
          </p:nvSpPr>
          <p:spPr bwMode="auto">
            <a:xfrm>
              <a:off x="1797"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8" name="Line 36"/>
            <p:cNvSpPr>
              <a:spLocks noChangeShapeType="1"/>
            </p:cNvSpPr>
            <p:nvPr/>
          </p:nvSpPr>
          <p:spPr bwMode="auto">
            <a:xfrm>
              <a:off x="1989"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9" name="Line 37"/>
            <p:cNvSpPr>
              <a:spLocks noChangeShapeType="1"/>
            </p:cNvSpPr>
            <p:nvPr/>
          </p:nvSpPr>
          <p:spPr bwMode="auto">
            <a:xfrm>
              <a:off x="2181"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0" name="Line 38"/>
            <p:cNvSpPr>
              <a:spLocks noChangeShapeType="1"/>
            </p:cNvSpPr>
            <p:nvPr/>
          </p:nvSpPr>
          <p:spPr bwMode="auto">
            <a:xfrm>
              <a:off x="2373"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1" name="Line 39"/>
            <p:cNvSpPr>
              <a:spLocks noChangeShapeType="1"/>
            </p:cNvSpPr>
            <p:nvPr/>
          </p:nvSpPr>
          <p:spPr bwMode="auto">
            <a:xfrm>
              <a:off x="2565"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2" name="Line 40"/>
            <p:cNvSpPr>
              <a:spLocks noChangeShapeType="1"/>
            </p:cNvSpPr>
            <p:nvPr/>
          </p:nvSpPr>
          <p:spPr bwMode="auto">
            <a:xfrm>
              <a:off x="2757"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3" name="Line 41"/>
            <p:cNvSpPr>
              <a:spLocks noChangeShapeType="1"/>
            </p:cNvSpPr>
            <p:nvPr/>
          </p:nvSpPr>
          <p:spPr bwMode="auto">
            <a:xfrm>
              <a:off x="2949"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4" name="Line 42"/>
            <p:cNvSpPr>
              <a:spLocks noChangeShapeType="1"/>
            </p:cNvSpPr>
            <p:nvPr/>
          </p:nvSpPr>
          <p:spPr bwMode="auto">
            <a:xfrm>
              <a:off x="3141"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5" name="Line 43"/>
            <p:cNvSpPr>
              <a:spLocks noChangeShapeType="1"/>
            </p:cNvSpPr>
            <p:nvPr/>
          </p:nvSpPr>
          <p:spPr bwMode="auto">
            <a:xfrm>
              <a:off x="3333"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6" name="Line 44"/>
            <p:cNvSpPr>
              <a:spLocks noChangeShapeType="1"/>
            </p:cNvSpPr>
            <p:nvPr/>
          </p:nvSpPr>
          <p:spPr bwMode="auto">
            <a:xfrm>
              <a:off x="3525"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7" name="Line 45"/>
            <p:cNvSpPr>
              <a:spLocks noChangeShapeType="1"/>
            </p:cNvSpPr>
            <p:nvPr/>
          </p:nvSpPr>
          <p:spPr bwMode="auto">
            <a:xfrm>
              <a:off x="3717"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8" name="Line 46"/>
            <p:cNvSpPr>
              <a:spLocks noChangeShapeType="1"/>
            </p:cNvSpPr>
            <p:nvPr/>
          </p:nvSpPr>
          <p:spPr bwMode="auto">
            <a:xfrm>
              <a:off x="3909"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9" name="Line 47"/>
            <p:cNvSpPr>
              <a:spLocks noChangeShapeType="1"/>
            </p:cNvSpPr>
            <p:nvPr/>
          </p:nvSpPr>
          <p:spPr bwMode="auto">
            <a:xfrm>
              <a:off x="4101"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0" name="Line 48"/>
            <p:cNvSpPr>
              <a:spLocks noChangeShapeType="1"/>
            </p:cNvSpPr>
            <p:nvPr/>
          </p:nvSpPr>
          <p:spPr bwMode="auto">
            <a:xfrm>
              <a:off x="4293"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1" name="Line 49"/>
            <p:cNvSpPr>
              <a:spLocks noChangeShapeType="1"/>
            </p:cNvSpPr>
            <p:nvPr/>
          </p:nvSpPr>
          <p:spPr bwMode="auto">
            <a:xfrm>
              <a:off x="4485" y="1298"/>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2" name="Text Box 50"/>
            <p:cNvSpPr txBox="1">
              <a:spLocks noChangeArrowheads="1"/>
            </p:cNvSpPr>
            <p:nvPr/>
          </p:nvSpPr>
          <p:spPr bwMode="auto">
            <a:xfrm>
              <a:off x="1701" y="1394"/>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63" name="Text Box 51"/>
            <p:cNvSpPr txBox="1">
              <a:spLocks noChangeArrowheads="1"/>
            </p:cNvSpPr>
            <p:nvPr/>
          </p:nvSpPr>
          <p:spPr bwMode="auto">
            <a:xfrm>
              <a:off x="1893" y="1394"/>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64" name="Text Box 52"/>
            <p:cNvSpPr txBox="1">
              <a:spLocks noChangeArrowheads="1"/>
            </p:cNvSpPr>
            <p:nvPr/>
          </p:nvSpPr>
          <p:spPr bwMode="auto">
            <a:xfrm>
              <a:off x="2469" y="1394"/>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65" name="Text Box 53"/>
            <p:cNvSpPr txBox="1">
              <a:spLocks noChangeArrowheads="1"/>
            </p:cNvSpPr>
            <p:nvPr/>
          </p:nvSpPr>
          <p:spPr bwMode="auto">
            <a:xfrm>
              <a:off x="2661" y="1394"/>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66" name="Text Box 54"/>
            <p:cNvSpPr txBox="1">
              <a:spLocks noChangeArrowheads="1"/>
            </p:cNvSpPr>
            <p:nvPr/>
          </p:nvSpPr>
          <p:spPr bwMode="auto">
            <a:xfrm>
              <a:off x="3237" y="1394"/>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67" name="Text Box 55"/>
            <p:cNvSpPr txBox="1">
              <a:spLocks noChangeArrowheads="1"/>
            </p:cNvSpPr>
            <p:nvPr/>
          </p:nvSpPr>
          <p:spPr bwMode="auto">
            <a:xfrm>
              <a:off x="3429" y="1394"/>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69" name="Line 57"/>
            <p:cNvSpPr>
              <a:spLocks noChangeShapeType="1"/>
            </p:cNvSpPr>
            <p:nvPr/>
          </p:nvSpPr>
          <p:spPr bwMode="auto">
            <a:xfrm>
              <a:off x="1797" y="1730"/>
              <a:ext cx="1776"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400" name="Group 88"/>
          <p:cNvGrpSpPr>
            <a:grpSpLocks/>
          </p:cNvGrpSpPr>
          <p:nvPr/>
        </p:nvGrpSpPr>
        <p:grpSpPr bwMode="auto">
          <a:xfrm>
            <a:off x="2641600" y="3815234"/>
            <a:ext cx="4876800" cy="762000"/>
            <a:chOff x="1104" y="4570"/>
            <a:chExt cx="3072" cy="480"/>
          </a:xfrm>
        </p:grpSpPr>
        <p:sp>
          <p:nvSpPr>
            <p:cNvPr id="13370" name="Line 58"/>
            <p:cNvSpPr>
              <a:spLocks noChangeShapeType="1"/>
            </p:cNvSpPr>
            <p:nvPr/>
          </p:nvSpPr>
          <p:spPr bwMode="auto">
            <a:xfrm>
              <a:off x="1200" y="4666"/>
              <a:ext cx="2976" cy="0"/>
            </a:xfrm>
            <a:prstGeom prst="line">
              <a:avLst/>
            </a:prstGeom>
            <a:noFill/>
            <a:ln w="12700">
              <a:solidFill>
                <a:srgbClr val="3366FF"/>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1" name="Line 59"/>
            <p:cNvSpPr>
              <a:spLocks noChangeShapeType="1"/>
            </p:cNvSpPr>
            <p:nvPr/>
          </p:nvSpPr>
          <p:spPr bwMode="auto">
            <a:xfrm>
              <a:off x="1200"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2" name="Line 60"/>
            <p:cNvSpPr>
              <a:spLocks noChangeShapeType="1"/>
            </p:cNvSpPr>
            <p:nvPr/>
          </p:nvSpPr>
          <p:spPr bwMode="auto">
            <a:xfrm>
              <a:off x="1392"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3" name="Line 61"/>
            <p:cNvSpPr>
              <a:spLocks noChangeShapeType="1"/>
            </p:cNvSpPr>
            <p:nvPr/>
          </p:nvSpPr>
          <p:spPr bwMode="auto">
            <a:xfrm>
              <a:off x="1584"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4" name="Line 62"/>
            <p:cNvSpPr>
              <a:spLocks noChangeShapeType="1"/>
            </p:cNvSpPr>
            <p:nvPr/>
          </p:nvSpPr>
          <p:spPr bwMode="auto">
            <a:xfrm>
              <a:off x="1776"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5" name="Line 63"/>
            <p:cNvSpPr>
              <a:spLocks noChangeShapeType="1"/>
            </p:cNvSpPr>
            <p:nvPr/>
          </p:nvSpPr>
          <p:spPr bwMode="auto">
            <a:xfrm>
              <a:off x="1968"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6" name="Line 64"/>
            <p:cNvSpPr>
              <a:spLocks noChangeShapeType="1"/>
            </p:cNvSpPr>
            <p:nvPr/>
          </p:nvSpPr>
          <p:spPr bwMode="auto">
            <a:xfrm>
              <a:off x="2160"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7" name="Line 65"/>
            <p:cNvSpPr>
              <a:spLocks noChangeShapeType="1"/>
            </p:cNvSpPr>
            <p:nvPr/>
          </p:nvSpPr>
          <p:spPr bwMode="auto">
            <a:xfrm>
              <a:off x="2352"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8" name="Line 66"/>
            <p:cNvSpPr>
              <a:spLocks noChangeShapeType="1"/>
            </p:cNvSpPr>
            <p:nvPr/>
          </p:nvSpPr>
          <p:spPr bwMode="auto">
            <a:xfrm>
              <a:off x="2544"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79" name="Line 67"/>
            <p:cNvSpPr>
              <a:spLocks noChangeShapeType="1"/>
            </p:cNvSpPr>
            <p:nvPr/>
          </p:nvSpPr>
          <p:spPr bwMode="auto">
            <a:xfrm>
              <a:off x="2736"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0" name="Line 68"/>
            <p:cNvSpPr>
              <a:spLocks noChangeShapeType="1"/>
            </p:cNvSpPr>
            <p:nvPr/>
          </p:nvSpPr>
          <p:spPr bwMode="auto">
            <a:xfrm>
              <a:off x="2928"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1" name="Line 69"/>
            <p:cNvSpPr>
              <a:spLocks noChangeShapeType="1"/>
            </p:cNvSpPr>
            <p:nvPr/>
          </p:nvSpPr>
          <p:spPr bwMode="auto">
            <a:xfrm>
              <a:off x="3120"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2" name="Line 70"/>
            <p:cNvSpPr>
              <a:spLocks noChangeShapeType="1"/>
            </p:cNvSpPr>
            <p:nvPr/>
          </p:nvSpPr>
          <p:spPr bwMode="auto">
            <a:xfrm>
              <a:off x="3312"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3" name="Line 71"/>
            <p:cNvSpPr>
              <a:spLocks noChangeShapeType="1"/>
            </p:cNvSpPr>
            <p:nvPr/>
          </p:nvSpPr>
          <p:spPr bwMode="auto">
            <a:xfrm>
              <a:off x="3504"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4" name="Line 72"/>
            <p:cNvSpPr>
              <a:spLocks noChangeShapeType="1"/>
            </p:cNvSpPr>
            <p:nvPr/>
          </p:nvSpPr>
          <p:spPr bwMode="auto">
            <a:xfrm>
              <a:off x="3696"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5" name="Line 73"/>
            <p:cNvSpPr>
              <a:spLocks noChangeShapeType="1"/>
            </p:cNvSpPr>
            <p:nvPr/>
          </p:nvSpPr>
          <p:spPr bwMode="auto">
            <a:xfrm>
              <a:off x="3888"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86" name="Text Box 74"/>
            <p:cNvSpPr txBox="1">
              <a:spLocks noChangeArrowheads="1"/>
            </p:cNvSpPr>
            <p:nvPr/>
          </p:nvSpPr>
          <p:spPr bwMode="auto">
            <a:xfrm>
              <a:off x="1104"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87" name="Text Box 75"/>
            <p:cNvSpPr txBox="1">
              <a:spLocks noChangeArrowheads="1"/>
            </p:cNvSpPr>
            <p:nvPr/>
          </p:nvSpPr>
          <p:spPr bwMode="auto">
            <a:xfrm>
              <a:off x="1296"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88" name="Text Box 76"/>
            <p:cNvSpPr txBox="1">
              <a:spLocks noChangeArrowheads="1"/>
            </p:cNvSpPr>
            <p:nvPr/>
          </p:nvSpPr>
          <p:spPr bwMode="auto">
            <a:xfrm>
              <a:off x="1872"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89" name="Text Box 77"/>
            <p:cNvSpPr txBox="1">
              <a:spLocks noChangeArrowheads="1"/>
            </p:cNvSpPr>
            <p:nvPr/>
          </p:nvSpPr>
          <p:spPr bwMode="auto">
            <a:xfrm>
              <a:off x="2064"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90" name="Text Box 78"/>
            <p:cNvSpPr txBox="1">
              <a:spLocks noChangeArrowheads="1"/>
            </p:cNvSpPr>
            <p:nvPr/>
          </p:nvSpPr>
          <p:spPr bwMode="auto">
            <a:xfrm>
              <a:off x="2640"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91" name="Text Box 79"/>
            <p:cNvSpPr txBox="1">
              <a:spLocks noChangeArrowheads="1"/>
            </p:cNvSpPr>
            <p:nvPr/>
          </p:nvSpPr>
          <p:spPr bwMode="auto">
            <a:xfrm>
              <a:off x="2832"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93" name="Line 81"/>
            <p:cNvSpPr>
              <a:spLocks noChangeShapeType="1"/>
            </p:cNvSpPr>
            <p:nvPr/>
          </p:nvSpPr>
          <p:spPr bwMode="auto">
            <a:xfrm>
              <a:off x="2688" y="5050"/>
              <a:ext cx="1056"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94" name="Text Box 82"/>
            <p:cNvSpPr txBox="1">
              <a:spLocks noChangeArrowheads="1"/>
            </p:cNvSpPr>
            <p:nvPr/>
          </p:nvSpPr>
          <p:spPr bwMode="auto">
            <a:xfrm>
              <a:off x="3024"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95" name="Text Box 83"/>
            <p:cNvSpPr txBox="1">
              <a:spLocks noChangeArrowheads="1"/>
            </p:cNvSpPr>
            <p:nvPr/>
          </p:nvSpPr>
          <p:spPr bwMode="auto">
            <a:xfrm>
              <a:off x="3216"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96" name="Text Box 84"/>
            <p:cNvSpPr txBox="1">
              <a:spLocks noChangeArrowheads="1"/>
            </p:cNvSpPr>
            <p:nvPr/>
          </p:nvSpPr>
          <p:spPr bwMode="auto">
            <a:xfrm>
              <a:off x="3408"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p</a:t>
              </a:r>
            </a:p>
          </p:txBody>
        </p:sp>
        <p:sp>
          <p:nvSpPr>
            <p:cNvPr id="13397" name="Text Box 85"/>
            <p:cNvSpPr txBox="1">
              <a:spLocks noChangeArrowheads="1"/>
            </p:cNvSpPr>
            <p:nvPr/>
          </p:nvSpPr>
          <p:spPr bwMode="auto">
            <a:xfrm>
              <a:off x="3600"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2400" i="1">
                  <a:solidFill>
                    <a:srgbClr val="FC0128"/>
                  </a:solidFill>
                  <a:latin typeface="Times New Roman" pitchFamily="18" charset="0"/>
                  <a:ea typeface="新細明體" pitchFamily="18" charset="-120"/>
                </a:rPr>
                <a:t>q</a:t>
              </a:r>
            </a:p>
          </p:txBody>
        </p:sp>
      </p:grpSp>
      <p:grpSp>
        <p:nvGrpSpPr>
          <p:cNvPr id="13401" name="Group 89"/>
          <p:cNvGrpSpPr>
            <a:grpSpLocks/>
          </p:cNvGrpSpPr>
          <p:nvPr/>
        </p:nvGrpSpPr>
        <p:grpSpPr bwMode="auto">
          <a:xfrm>
            <a:off x="2647950" y="5009034"/>
            <a:ext cx="4876800" cy="762000"/>
            <a:chOff x="1104" y="4570"/>
            <a:chExt cx="3072" cy="480"/>
          </a:xfrm>
        </p:grpSpPr>
        <p:sp>
          <p:nvSpPr>
            <p:cNvPr id="13402" name="Line 90"/>
            <p:cNvSpPr>
              <a:spLocks noChangeShapeType="1"/>
            </p:cNvSpPr>
            <p:nvPr/>
          </p:nvSpPr>
          <p:spPr bwMode="auto">
            <a:xfrm>
              <a:off x="1200" y="4666"/>
              <a:ext cx="2976" cy="0"/>
            </a:xfrm>
            <a:prstGeom prst="line">
              <a:avLst/>
            </a:prstGeom>
            <a:noFill/>
            <a:ln w="12700">
              <a:solidFill>
                <a:srgbClr val="3366FF"/>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03" name="Line 91"/>
            <p:cNvSpPr>
              <a:spLocks noChangeShapeType="1"/>
            </p:cNvSpPr>
            <p:nvPr/>
          </p:nvSpPr>
          <p:spPr bwMode="auto">
            <a:xfrm>
              <a:off x="1200"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04" name="Line 92"/>
            <p:cNvSpPr>
              <a:spLocks noChangeShapeType="1"/>
            </p:cNvSpPr>
            <p:nvPr/>
          </p:nvSpPr>
          <p:spPr bwMode="auto">
            <a:xfrm>
              <a:off x="1392"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05" name="Line 93"/>
            <p:cNvSpPr>
              <a:spLocks noChangeShapeType="1"/>
            </p:cNvSpPr>
            <p:nvPr/>
          </p:nvSpPr>
          <p:spPr bwMode="auto">
            <a:xfrm>
              <a:off x="1584"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06" name="Line 94"/>
            <p:cNvSpPr>
              <a:spLocks noChangeShapeType="1"/>
            </p:cNvSpPr>
            <p:nvPr/>
          </p:nvSpPr>
          <p:spPr bwMode="auto">
            <a:xfrm>
              <a:off x="1776"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07" name="Line 95"/>
            <p:cNvSpPr>
              <a:spLocks noChangeShapeType="1"/>
            </p:cNvSpPr>
            <p:nvPr/>
          </p:nvSpPr>
          <p:spPr bwMode="auto">
            <a:xfrm>
              <a:off x="1968"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08" name="Line 96"/>
            <p:cNvSpPr>
              <a:spLocks noChangeShapeType="1"/>
            </p:cNvSpPr>
            <p:nvPr/>
          </p:nvSpPr>
          <p:spPr bwMode="auto">
            <a:xfrm>
              <a:off x="2160"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09" name="Line 97"/>
            <p:cNvSpPr>
              <a:spLocks noChangeShapeType="1"/>
            </p:cNvSpPr>
            <p:nvPr/>
          </p:nvSpPr>
          <p:spPr bwMode="auto">
            <a:xfrm>
              <a:off x="2352"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0" name="Line 98"/>
            <p:cNvSpPr>
              <a:spLocks noChangeShapeType="1"/>
            </p:cNvSpPr>
            <p:nvPr/>
          </p:nvSpPr>
          <p:spPr bwMode="auto">
            <a:xfrm>
              <a:off x="2544"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1" name="Line 99"/>
            <p:cNvSpPr>
              <a:spLocks noChangeShapeType="1"/>
            </p:cNvSpPr>
            <p:nvPr/>
          </p:nvSpPr>
          <p:spPr bwMode="auto">
            <a:xfrm>
              <a:off x="2736"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2" name="Line 100"/>
            <p:cNvSpPr>
              <a:spLocks noChangeShapeType="1"/>
            </p:cNvSpPr>
            <p:nvPr/>
          </p:nvSpPr>
          <p:spPr bwMode="auto">
            <a:xfrm>
              <a:off x="2928"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3" name="Line 101"/>
            <p:cNvSpPr>
              <a:spLocks noChangeShapeType="1"/>
            </p:cNvSpPr>
            <p:nvPr/>
          </p:nvSpPr>
          <p:spPr bwMode="auto">
            <a:xfrm>
              <a:off x="3120"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4" name="Line 102"/>
            <p:cNvSpPr>
              <a:spLocks noChangeShapeType="1"/>
            </p:cNvSpPr>
            <p:nvPr/>
          </p:nvSpPr>
          <p:spPr bwMode="auto">
            <a:xfrm>
              <a:off x="3312"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5" name="Line 103"/>
            <p:cNvSpPr>
              <a:spLocks noChangeShapeType="1"/>
            </p:cNvSpPr>
            <p:nvPr/>
          </p:nvSpPr>
          <p:spPr bwMode="auto">
            <a:xfrm>
              <a:off x="3504"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6" name="Line 104"/>
            <p:cNvSpPr>
              <a:spLocks noChangeShapeType="1"/>
            </p:cNvSpPr>
            <p:nvPr/>
          </p:nvSpPr>
          <p:spPr bwMode="auto">
            <a:xfrm>
              <a:off x="3696"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7" name="Line 105"/>
            <p:cNvSpPr>
              <a:spLocks noChangeShapeType="1"/>
            </p:cNvSpPr>
            <p:nvPr/>
          </p:nvSpPr>
          <p:spPr bwMode="auto">
            <a:xfrm>
              <a:off x="3888" y="4570"/>
              <a:ext cx="0" cy="192"/>
            </a:xfrm>
            <a:prstGeom prst="line">
              <a:avLst/>
            </a:prstGeom>
            <a:noFill/>
            <a:ln w="12700">
              <a:solidFill>
                <a:srgbClr val="33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18" name="Text Box 106"/>
            <p:cNvSpPr txBox="1">
              <a:spLocks noChangeArrowheads="1"/>
            </p:cNvSpPr>
            <p:nvPr/>
          </p:nvSpPr>
          <p:spPr bwMode="auto">
            <a:xfrm>
              <a:off x="1104"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a:t>
              </a:r>
              <a:endParaRPr lang="en-US" altLang="zh-TW" sz="2400" i="1">
                <a:solidFill>
                  <a:srgbClr val="FC0128"/>
                </a:solidFill>
                <a:latin typeface="Times New Roman" pitchFamily="18" charset="0"/>
                <a:ea typeface="新細明體" pitchFamily="18" charset="-120"/>
              </a:endParaRPr>
            </a:p>
          </p:txBody>
        </p:sp>
        <p:sp>
          <p:nvSpPr>
            <p:cNvPr id="13419" name="Text Box 107"/>
            <p:cNvSpPr txBox="1">
              <a:spLocks noChangeArrowheads="1"/>
            </p:cNvSpPr>
            <p:nvPr/>
          </p:nvSpPr>
          <p:spPr bwMode="auto">
            <a:xfrm>
              <a:off x="1296"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a:t>
              </a:r>
              <a:endParaRPr lang="en-US" altLang="zh-TW" sz="2400" i="1">
                <a:solidFill>
                  <a:srgbClr val="FC0128"/>
                </a:solidFill>
                <a:latin typeface="Times New Roman" pitchFamily="18" charset="0"/>
                <a:ea typeface="新細明體" pitchFamily="18" charset="-120"/>
              </a:endParaRPr>
            </a:p>
          </p:txBody>
        </p:sp>
        <p:sp>
          <p:nvSpPr>
            <p:cNvPr id="13420" name="Text Box 108"/>
            <p:cNvSpPr txBox="1">
              <a:spLocks noChangeArrowheads="1"/>
            </p:cNvSpPr>
            <p:nvPr/>
          </p:nvSpPr>
          <p:spPr bwMode="auto">
            <a:xfrm>
              <a:off x="1872"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a:t>
              </a:r>
              <a:endParaRPr lang="en-US" altLang="zh-TW" sz="2400" i="1">
                <a:solidFill>
                  <a:srgbClr val="FC0128"/>
                </a:solidFill>
                <a:latin typeface="Times New Roman" pitchFamily="18" charset="0"/>
                <a:ea typeface="新細明體" pitchFamily="18" charset="-120"/>
              </a:endParaRPr>
            </a:p>
          </p:txBody>
        </p:sp>
        <p:sp>
          <p:nvSpPr>
            <p:cNvPr id="13421" name="Text Box 109"/>
            <p:cNvSpPr txBox="1">
              <a:spLocks noChangeArrowheads="1"/>
            </p:cNvSpPr>
            <p:nvPr/>
          </p:nvSpPr>
          <p:spPr bwMode="auto">
            <a:xfrm>
              <a:off x="2064"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a:t>
              </a:r>
              <a:endParaRPr lang="en-US" altLang="zh-TW" sz="2400" i="1">
                <a:solidFill>
                  <a:srgbClr val="FC0128"/>
                </a:solidFill>
                <a:latin typeface="Times New Roman" pitchFamily="18" charset="0"/>
                <a:ea typeface="新細明體" pitchFamily="18" charset="-120"/>
              </a:endParaRPr>
            </a:p>
          </p:txBody>
        </p:sp>
        <p:sp>
          <p:nvSpPr>
            <p:cNvPr id="13422" name="Text Box 110"/>
            <p:cNvSpPr txBox="1">
              <a:spLocks noChangeArrowheads="1"/>
            </p:cNvSpPr>
            <p:nvPr/>
          </p:nvSpPr>
          <p:spPr bwMode="auto">
            <a:xfrm>
              <a:off x="2640"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a:t>
              </a:r>
              <a:endParaRPr lang="en-US" altLang="zh-TW" sz="2400" i="1">
                <a:solidFill>
                  <a:srgbClr val="FC0128"/>
                </a:solidFill>
                <a:latin typeface="Times New Roman" pitchFamily="18" charset="0"/>
                <a:ea typeface="新細明體" pitchFamily="18" charset="-120"/>
              </a:endParaRPr>
            </a:p>
          </p:txBody>
        </p:sp>
        <p:sp>
          <p:nvSpPr>
            <p:cNvPr id="13423" name="Text Box 111"/>
            <p:cNvSpPr txBox="1">
              <a:spLocks noChangeArrowheads="1"/>
            </p:cNvSpPr>
            <p:nvPr/>
          </p:nvSpPr>
          <p:spPr bwMode="auto">
            <a:xfrm>
              <a:off x="2832"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a:t>
              </a:r>
              <a:endParaRPr lang="en-US" altLang="zh-TW" sz="2400" i="1">
                <a:solidFill>
                  <a:srgbClr val="FC0128"/>
                </a:solidFill>
                <a:latin typeface="Times New Roman" pitchFamily="18" charset="0"/>
                <a:ea typeface="新細明體" pitchFamily="18" charset="-120"/>
              </a:endParaRPr>
            </a:p>
          </p:txBody>
        </p:sp>
        <p:sp>
          <p:nvSpPr>
            <p:cNvPr id="13424" name="Line 112"/>
            <p:cNvSpPr>
              <a:spLocks noChangeShapeType="1"/>
            </p:cNvSpPr>
            <p:nvPr/>
          </p:nvSpPr>
          <p:spPr bwMode="auto">
            <a:xfrm>
              <a:off x="2688" y="5050"/>
              <a:ext cx="1056"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425" name="Text Box 113"/>
            <p:cNvSpPr txBox="1">
              <a:spLocks noChangeArrowheads="1"/>
            </p:cNvSpPr>
            <p:nvPr/>
          </p:nvSpPr>
          <p:spPr bwMode="auto">
            <a:xfrm>
              <a:off x="3024"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a:t>
              </a:r>
              <a:endParaRPr lang="en-US" altLang="zh-TW" sz="2400" i="1">
                <a:solidFill>
                  <a:srgbClr val="FC0128"/>
                </a:solidFill>
                <a:latin typeface="Times New Roman" pitchFamily="18" charset="0"/>
                <a:ea typeface="新細明體" pitchFamily="18" charset="-120"/>
              </a:endParaRPr>
            </a:p>
          </p:txBody>
        </p:sp>
        <p:sp>
          <p:nvSpPr>
            <p:cNvPr id="13426" name="Text Box 114"/>
            <p:cNvSpPr txBox="1">
              <a:spLocks noChangeArrowheads="1"/>
            </p:cNvSpPr>
            <p:nvPr/>
          </p:nvSpPr>
          <p:spPr bwMode="auto">
            <a:xfrm>
              <a:off x="3216"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a:t>
              </a:r>
              <a:endParaRPr lang="en-US" altLang="zh-TW" sz="2400" i="1">
                <a:solidFill>
                  <a:srgbClr val="FC0128"/>
                </a:solidFill>
                <a:latin typeface="Times New Roman" pitchFamily="18" charset="0"/>
                <a:ea typeface="新細明體" pitchFamily="18" charset="-120"/>
              </a:endParaRPr>
            </a:p>
          </p:txBody>
        </p:sp>
        <p:sp>
          <p:nvSpPr>
            <p:cNvPr id="13427" name="Text Box 115"/>
            <p:cNvSpPr txBox="1">
              <a:spLocks noChangeArrowheads="1"/>
            </p:cNvSpPr>
            <p:nvPr/>
          </p:nvSpPr>
          <p:spPr bwMode="auto">
            <a:xfrm>
              <a:off x="3408" y="4666"/>
              <a:ext cx="212"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a:t>
              </a:r>
              <a:endParaRPr lang="en-US" altLang="zh-TW" sz="2400" i="1">
                <a:solidFill>
                  <a:srgbClr val="FC0128"/>
                </a:solidFill>
                <a:latin typeface="Times New Roman" pitchFamily="18" charset="0"/>
                <a:ea typeface="新細明體" pitchFamily="18" charset="-120"/>
              </a:endParaRPr>
            </a:p>
          </p:txBody>
        </p:sp>
        <p:sp>
          <p:nvSpPr>
            <p:cNvPr id="13428" name="Text Box 116"/>
            <p:cNvSpPr txBox="1">
              <a:spLocks noChangeArrowheads="1"/>
            </p:cNvSpPr>
            <p:nvPr/>
          </p:nvSpPr>
          <p:spPr bwMode="auto">
            <a:xfrm>
              <a:off x="3600" y="4666"/>
              <a:ext cx="356"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i="1">
                  <a:solidFill>
                    <a:srgbClr val="FC0128"/>
                  </a:solidFill>
                  <a:latin typeface="Times New Roman" pitchFamily="18" charset="0"/>
                  <a:ea typeface="新細明體" pitchFamily="18" charset="-120"/>
                </a:rPr>
                <a:t>q,p</a:t>
              </a:r>
              <a:endParaRPr lang="en-US" altLang="zh-TW" sz="2400" i="1">
                <a:solidFill>
                  <a:srgbClr val="FC0128"/>
                </a:solidFill>
                <a:latin typeface="Times New Roman" pitchFamily="18" charset="0"/>
                <a:ea typeface="新細明體" pitchFamily="18" charset="-120"/>
              </a:endParaRPr>
            </a:p>
          </p:txBody>
        </p:sp>
      </p:grpSp>
    </p:spTree>
    <p:extLst>
      <p:ext uri="{BB962C8B-B14F-4D97-AF65-F5344CB8AC3E}">
        <p14:creationId xmlns:p14="http://schemas.microsoft.com/office/powerpoint/2010/main" val="8142893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ea typeface="宋体" charset="-122"/>
              </a:rPr>
              <a:t>Büchi</a:t>
            </a:r>
            <a:r>
              <a:rPr lang="en-US" altLang="zh-CN" dirty="0">
                <a:ea typeface="宋体" charset="-122"/>
              </a:rPr>
              <a:t> Automata</a:t>
            </a:r>
            <a:endParaRPr lang="zh-CN" altLang="en-US" dirty="0"/>
          </a:p>
        </p:txBody>
      </p:sp>
      <p:sp>
        <p:nvSpPr>
          <p:cNvPr id="4" name="Rectangle 3"/>
          <p:cNvSpPr>
            <a:spLocks noGrp="1" noChangeArrowheads="1"/>
          </p:cNvSpPr>
          <p:nvPr>
            <p:ph idx="1"/>
          </p:nvPr>
        </p:nvSpPr>
        <p:spPr/>
        <p:txBody>
          <a:bodyPr/>
          <a:lstStyle/>
          <a:p>
            <a:pPr>
              <a:lnSpc>
                <a:spcPct val="90000"/>
              </a:lnSpc>
            </a:pPr>
            <a:r>
              <a:rPr lang="en-US" altLang="zh-CN" dirty="0">
                <a:ea typeface="宋体" charset="-122"/>
              </a:rPr>
              <a:t>Automaton which accepts infinite traces</a:t>
            </a:r>
          </a:p>
          <a:p>
            <a:pPr>
              <a:lnSpc>
                <a:spcPct val="90000"/>
              </a:lnSpc>
            </a:pPr>
            <a:r>
              <a:rPr lang="en-US" altLang="zh-CN" dirty="0">
                <a:ea typeface="宋体" charset="-122"/>
              </a:rPr>
              <a:t>A </a:t>
            </a:r>
            <a:r>
              <a:rPr lang="en-US" altLang="zh-CN" dirty="0" err="1">
                <a:solidFill>
                  <a:srgbClr val="FF3333"/>
                </a:solidFill>
                <a:ea typeface="宋体" charset="-122"/>
              </a:rPr>
              <a:t>Büchi</a:t>
            </a:r>
            <a:r>
              <a:rPr lang="en-US" altLang="zh-CN" dirty="0">
                <a:solidFill>
                  <a:srgbClr val="FF3333"/>
                </a:solidFill>
                <a:ea typeface="宋体" charset="-122"/>
              </a:rPr>
              <a:t> automaton</a:t>
            </a:r>
            <a:r>
              <a:rPr lang="en-US" altLang="zh-CN" dirty="0">
                <a:ea typeface="宋体" charset="-122"/>
              </a:rPr>
              <a:t> is </a:t>
            </a:r>
            <a:r>
              <a:rPr lang="en-US" altLang="zh-CN" dirty="0" smtClean="0">
                <a:ea typeface="宋体" charset="-122"/>
              </a:rPr>
              <a:t>5-tuple</a:t>
            </a:r>
            <a:r>
              <a:rPr lang="en-US" altLang="zh-CN" dirty="0" smtClean="0">
                <a:ea typeface="宋体" charset="-122"/>
                <a:sym typeface="Symbol" pitchFamily="18" charset="2"/>
              </a:rPr>
              <a:t></a:t>
            </a:r>
            <a:r>
              <a:rPr lang="en-US" altLang="zh-CN" dirty="0">
                <a:ea typeface="宋体" charset="-122"/>
                <a:sym typeface="Symbol" pitchFamily="18" charset="2"/>
              </a:rPr>
              <a:t> ,</a:t>
            </a:r>
            <a:r>
              <a:rPr lang="en-US" altLang="zh-CN" dirty="0">
                <a:solidFill>
                  <a:schemeClr val="accent2"/>
                </a:solidFill>
                <a:ea typeface="宋体" charset="-122"/>
                <a:sym typeface="Symbol" pitchFamily="18" charset="2"/>
              </a:rPr>
              <a:t> </a:t>
            </a:r>
            <a:r>
              <a:rPr lang="en-US" altLang="zh-CN" dirty="0" smtClean="0">
                <a:ea typeface="宋体" charset="-122"/>
              </a:rPr>
              <a:t>S</a:t>
            </a:r>
            <a:r>
              <a:rPr lang="en-US" altLang="zh-CN" dirty="0">
                <a:ea typeface="宋体" charset="-122"/>
              </a:rPr>
              <a:t>, I</a:t>
            </a:r>
            <a:r>
              <a:rPr lang="en-US" altLang="zh-CN" dirty="0" smtClean="0">
                <a:ea typeface="宋体" charset="-122"/>
              </a:rPr>
              <a:t>,</a:t>
            </a:r>
            <a:r>
              <a:rPr lang="en-US" altLang="zh-CN" dirty="0">
                <a:solidFill>
                  <a:schemeClr val="accent2"/>
                </a:solidFill>
                <a:ea typeface="宋体" charset="-122"/>
                <a:sym typeface="Symbol" pitchFamily="18" charset="2"/>
              </a:rPr>
              <a:t> </a:t>
            </a:r>
            <a:r>
              <a:rPr lang="en-US" altLang="zh-CN" dirty="0" smtClean="0">
                <a:ea typeface="宋体" charset="-122"/>
                <a:sym typeface="Symbol" pitchFamily="18" charset="2"/>
              </a:rPr>
              <a:t></a:t>
            </a:r>
            <a:r>
              <a:rPr lang="en-US" altLang="zh-CN" dirty="0">
                <a:ea typeface="宋体" charset="-122"/>
                <a:sym typeface="Symbol" pitchFamily="18" charset="2"/>
              </a:rPr>
              <a:t>, F</a:t>
            </a:r>
          </a:p>
          <a:p>
            <a:pPr lvl="1">
              <a:lnSpc>
                <a:spcPct val="90000"/>
              </a:lnSpc>
            </a:pPr>
            <a:r>
              <a:rPr lang="en-US" altLang="zh-CN" dirty="0" smtClean="0">
                <a:ea typeface="宋体" charset="-122"/>
                <a:sym typeface="Symbol" pitchFamily="18" charset="2"/>
              </a:rPr>
              <a:t> is a finite alphabet</a:t>
            </a:r>
          </a:p>
          <a:p>
            <a:pPr lvl="1">
              <a:lnSpc>
                <a:spcPct val="90000"/>
              </a:lnSpc>
            </a:pPr>
            <a:r>
              <a:rPr lang="en-US" altLang="zh-CN" dirty="0" smtClean="0">
                <a:ea typeface="宋体" charset="-122"/>
                <a:sym typeface="Symbol" pitchFamily="18" charset="2"/>
              </a:rPr>
              <a:t>S </a:t>
            </a:r>
            <a:r>
              <a:rPr lang="en-US" altLang="zh-CN" dirty="0">
                <a:ea typeface="宋体" charset="-122"/>
                <a:sym typeface="Symbol" pitchFamily="18" charset="2"/>
              </a:rPr>
              <a:t>is a finite set of </a:t>
            </a:r>
            <a:r>
              <a:rPr lang="en-US" altLang="zh-CN" dirty="0">
                <a:solidFill>
                  <a:schemeClr val="accent2"/>
                </a:solidFill>
                <a:ea typeface="宋体" charset="-122"/>
                <a:sym typeface="Symbol" pitchFamily="18" charset="2"/>
              </a:rPr>
              <a:t>states</a:t>
            </a:r>
          </a:p>
          <a:p>
            <a:pPr lvl="1">
              <a:lnSpc>
                <a:spcPct val="90000"/>
              </a:lnSpc>
            </a:pPr>
            <a:r>
              <a:rPr lang="en-US" altLang="zh-CN" dirty="0">
                <a:ea typeface="宋体" charset="-122"/>
                <a:sym typeface="Symbol" pitchFamily="18" charset="2"/>
              </a:rPr>
              <a:t>I S is a set of </a:t>
            </a:r>
            <a:r>
              <a:rPr lang="en-US" altLang="zh-CN" dirty="0">
                <a:solidFill>
                  <a:schemeClr val="accent2"/>
                </a:solidFill>
                <a:ea typeface="宋体" charset="-122"/>
                <a:sym typeface="Symbol" pitchFamily="18" charset="2"/>
              </a:rPr>
              <a:t>initial states</a:t>
            </a:r>
          </a:p>
          <a:p>
            <a:pPr lvl="1">
              <a:lnSpc>
                <a:spcPct val="90000"/>
              </a:lnSpc>
            </a:pPr>
            <a:r>
              <a:rPr lang="en-US" altLang="zh-CN" dirty="0">
                <a:ea typeface="宋体" charset="-122"/>
                <a:sym typeface="Symbol" pitchFamily="18" charset="2"/>
              </a:rPr>
              <a:t>  S </a:t>
            </a:r>
            <a:r>
              <a:rPr lang="en-US" altLang="zh-CN" dirty="0" smtClean="0">
                <a:ea typeface="宋体" charset="-122"/>
                <a:sym typeface="Symbol" pitchFamily="18" charset="2"/>
              </a:rPr>
              <a:t></a:t>
            </a:r>
            <a:r>
              <a:rPr lang="en-US" altLang="zh-CN" dirty="0">
                <a:ea typeface="宋体" charset="-122"/>
                <a:sym typeface="Symbol" pitchFamily="18" charset="2"/>
              </a:rPr>
              <a:t> </a:t>
            </a:r>
            <a:r>
              <a:rPr lang="en-US" altLang="zh-CN" dirty="0" smtClean="0">
                <a:solidFill>
                  <a:schemeClr val="accent2"/>
                </a:solidFill>
                <a:ea typeface="宋体" charset="-122"/>
                <a:sym typeface="Symbol" pitchFamily="18" charset="2"/>
              </a:rPr>
              <a:t> </a:t>
            </a:r>
            <a:r>
              <a:rPr lang="en-US" altLang="zh-CN" dirty="0" smtClean="0">
                <a:ea typeface="宋体" charset="-122"/>
                <a:sym typeface="Symbol" pitchFamily="18" charset="2"/>
              </a:rPr>
              <a:t>S </a:t>
            </a:r>
            <a:r>
              <a:rPr lang="en-US" altLang="zh-CN" dirty="0">
                <a:ea typeface="宋体" charset="-122"/>
                <a:sym typeface="Symbol" pitchFamily="18" charset="2"/>
              </a:rPr>
              <a:t>is a </a:t>
            </a:r>
            <a:r>
              <a:rPr lang="en-US" altLang="zh-CN" dirty="0">
                <a:solidFill>
                  <a:schemeClr val="accent2"/>
                </a:solidFill>
                <a:ea typeface="宋体" charset="-122"/>
                <a:sym typeface="Symbol" pitchFamily="18" charset="2"/>
              </a:rPr>
              <a:t>transition relation</a:t>
            </a:r>
          </a:p>
          <a:p>
            <a:pPr lvl="1">
              <a:lnSpc>
                <a:spcPct val="90000"/>
              </a:lnSpc>
            </a:pPr>
            <a:r>
              <a:rPr lang="en-US" altLang="zh-CN" dirty="0">
                <a:ea typeface="宋体" charset="-122"/>
                <a:sym typeface="Symbol" pitchFamily="18" charset="2"/>
              </a:rPr>
              <a:t>F S is a set of </a:t>
            </a:r>
            <a:r>
              <a:rPr lang="en-US" altLang="zh-CN" dirty="0">
                <a:solidFill>
                  <a:schemeClr val="accent2"/>
                </a:solidFill>
                <a:ea typeface="宋体" charset="-122"/>
                <a:sym typeface="Symbol" pitchFamily="18" charset="2"/>
              </a:rPr>
              <a:t>accepting states</a:t>
            </a:r>
          </a:p>
          <a:p>
            <a:pPr>
              <a:lnSpc>
                <a:spcPct val="90000"/>
              </a:lnSpc>
            </a:pPr>
            <a:r>
              <a:rPr lang="en-US" altLang="zh-CN" dirty="0">
                <a:ea typeface="宋体" charset="-122"/>
                <a:sym typeface="Symbol" pitchFamily="18" charset="2"/>
              </a:rPr>
              <a:t>An </a:t>
            </a:r>
            <a:r>
              <a:rPr lang="en-US" altLang="zh-CN" dirty="0">
                <a:solidFill>
                  <a:srgbClr val="FF3333"/>
                </a:solidFill>
                <a:ea typeface="宋体" charset="-122"/>
                <a:sym typeface="Symbol" pitchFamily="18" charset="2"/>
              </a:rPr>
              <a:t>infinite sequence of states</a:t>
            </a:r>
            <a:r>
              <a:rPr lang="en-US" altLang="zh-CN" dirty="0">
                <a:ea typeface="宋体" charset="-122"/>
                <a:sym typeface="Symbol" pitchFamily="18" charset="2"/>
              </a:rPr>
              <a:t> is accepted </a:t>
            </a:r>
            <a:r>
              <a:rPr lang="en-US" altLang="zh-CN" dirty="0" err="1">
                <a:ea typeface="宋体" charset="-122"/>
                <a:sym typeface="Symbol" pitchFamily="18" charset="2"/>
              </a:rPr>
              <a:t>iff</a:t>
            </a:r>
            <a:r>
              <a:rPr lang="en-US" altLang="zh-CN" dirty="0">
                <a:ea typeface="宋体" charset="-122"/>
                <a:sym typeface="Symbol" pitchFamily="18" charset="2"/>
              </a:rPr>
              <a:t> it contains </a:t>
            </a:r>
            <a:r>
              <a:rPr lang="en-US" altLang="zh-CN" dirty="0">
                <a:solidFill>
                  <a:schemeClr val="accent2"/>
                </a:solidFill>
                <a:ea typeface="宋体" charset="-122"/>
                <a:sym typeface="Symbol" pitchFamily="18" charset="2"/>
              </a:rPr>
              <a:t>accepting states infinitely often</a:t>
            </a:r>
          </a:p>
        </p:txBody>
      </p:sp>
    </p:spTree>
    <p:extLst>
      <p:ext uri="{BB962C8B-B14F-4D97-AF65-F5344CB8AC3E}">
        <p14:creationId xmlns:p14="http://schemas.microsoft.com/office/powerpoint/2010/main" val="19951386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a:ea typeface="宋体" charset="-122"/>
              </a:rPr>
              <a:t>Example</a:t>
            </a:r>
          </a:p>
        </p:txBody>
      </p:sp>
      <p:sp>
        <p:nvSpPr>
          <p:cNvPr id="10243" name="Oval 3"/>
          <p:cNvSpPr>
            <a:spLocks noChangeArrowheads="1"/>
          </p:cNvSpPr>
          <p:nvPr/>
        </p:nvSpPr>
        <p:spPr bwMode="auto">
          <a:xfrm>
            <a:off x="2533650" y="2133600"/>
            <a:ext cx="609600" cy="609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ea typeface="宋体" charset="-122"/>
              </a:rPr>
              <a:t>S</a:t>
            </a:r>
            <a:r>
              <a:rPr lang="en-US" altLang="zh-CN" baseline="-25000">
                <a:ea typeface="宋体" charset="-122"/>
              </a:rPr>
              <a:t>0</a:t>
            </a:r>
          </a:p>
        </p:txBody>
      </p:sp>
      <p:sp>
        <p:nvSpPr>
          <p:cNvPr id="10244" name="Oval 4"/>
          <p:cNvSpPr>
            <a:spLocks noChangeArrowheads="1"/>
          </p:cNvSpPr>
          <p:nvPr/>
        </p:nvSpPr>
        <p:spPr bwMode="auto">
          <a:xfrm>
            <a:off x="4210050" y="2133600"/>
            <a:ext cx="609600" cy="609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ea typeface="宋体" charset="-122"/>
              </a:rPr>
              <a:t>S</a:t>
            </a:r>
            <a:r>
              <a:rPr lang="en-US" altLang="zh-CN" baseline="-25000">
                <a:ea typeface="宋体" charset="-122"/>
              </a:rPr>
              <a:t>1</a:t>
            </a:r>
          </a:p>
        </p:txBody>
      </p:sp>
      <p:sp>
        <p:nvSpPr>
          <p:cNvPr id="10245" name="Oval 5"/>
          <p:cNvSpPr>
            <a:spLocks noChangeArrowheads="1"/>
          </p:cNvSpPr>
          <p:nvPr/>
        </p:nvSpPr>
        <p:spPr bwMode="auto">
          <a:xfrm>
            <a:off x="5886450" y="2133600"/>
            <a:ext cx="609600" cy="6096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6" name="Line 6"/>
          <p:cNvSpPr>
            <a:spLocks noChangeShapeType="1"/>
          </p:cNvSpPr>
          <p:nvPr/>
        </p:nvSpPr>
        <p:spPr bwMode="auto">
          <a:xfrm>
            <a:off x="3143250" y="2438400"/>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7" name="Line 7"/>
          <p:cNvSpPr>
            <a:spLocks noChangeShapeType="1"/>
          </p:cNvSpPr>
          <p:nvPr/>
        </p:nvSpPr>
        <p:spPr bwMode="auto">
          <a:xfrm>
            <a:off x="4819650" y="2438400"/>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48" name="Oval 8"/>
          <p:cNvSpPr>
            <a:spLocks noChangeArrowheads="1"/>
          </p:cNvSpPr>
          <p:nvPr/>
        </p:nvSpPr>
        <p:spPr bwMode="auto">
          <a:xfrm>
            <a:off x="5962650" y="2209800"/>
            <a:ext cx="457200" cy="457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ea typeface="宋体" charset="-122"/>
              </a:rPr>
              <a:t>S</a:t>
            </a:r>
            <a:r>
              <a:rPr lang="en-US" altLang="zh-CN" baseline="-25000">
                <a:ea typeface="宋体" charset="-122"/>
              </a:rPr>
              <a:t>2</a:t>
            </a:r>
          </a:p>
        </p:txBody>
      </p:sp>
      <p:sp>
        <p:nvSpPr>
          <p:cNvPr id="10249" name="Freeform 9"/>
          <p:cNvSpPr>
            <a:spLocks/>
          </p:cNvSpPr>
          <p:nvPr/>
        </p:nvSpPr>
        <p:spPr bwMode="auto">
          <a:xfrm>
            <a:off x="5746750" y="1581150"/>
            <a:ext cx="862013" cy="639763"/>
          </a:xfrm>
          <a:custGeom>
            <a:avLst/>
            <a:gdLst>
              <a:gd name="T0" fmla="*/ 429 w 543"/>
              <a:gd name="T1" fmla="*/ 403 h 403"/>
              <a:gd name="T2" fmla="*/ 520 w 543"/>
              <a:gd name="T3" fmla="*/ 156 h 403"/>
              <a:gd name="T4" fmla="*/ 291 w 543"/>
              <a:gd name="T5" fmla="*/ 1 h 403"/>
              <a:gd name="T6" fmla="*/ 26 w 543"/>
              <a:gd name="T7" fmla="*/ 147 h 403"/>
              <a:gd name="T8" fmla="*/ 136 w 543"/>
              <a:gd name="T9" fmla="*/ 396 h 403"/>
            </a:gdLst>
            <a:ahLst/>
            <a:cxnLst>
              <a:cxn ang="0">
                <a:pos x="T0" y="T1"/>
              </a:cxn>
              <a:cxn ang="0">
                <a:pos x="T2" y="T3"/>
              </a:cxn>
              <a:cxn ang="0">
                <a:pos x="T4" y="T5"/>
              </a:cxn>
              <a:cxn ang="0">
                <a:pos x="T6" y="T7"/>
              </a:cxn>
              <a:cxn ang="0">
                <a:pos x="T8" y="T9"/>
              </a:cxn>
            </a:cxnLst>
            <a:rect l="0" t="0" r="r" b="b"/>
            <a:pathLst>
              <a:path w="543" h="403">
                <a:moveTo>
                  <a:pt x="429" y="403"/>
                </a:moveTo>
                <a:cubicBezTo>
                  <a:pt x="444" y="362"/>
                  <a:pt x="543" y="223"/>
                  <a:pt x="520" y="156"/>
                </a:cubicBezTo>
                <a:cubicBezTo>
                  <a:pt x="497" y="89"/>
                  <a:pt x="373" y="2"/>
                  <a:pt x="291" y="1"/>
                </a:cubicBezTo>
                <a:cubicBezTo>
                  <a:pt x="209" y="0"/>
                  <a:pt x="52" y="81"/>
                  <a:pt x="26" y="147"/>
                </a:cubicBezTo>
                <a:cubicBezTo>
                  <a:pt x="0" y="213"/>
                  <a:pt x="113" y="344"/>
                  <a:pt x="136" y="396"/>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0" name="Freeform 10"/>
          <p:cNvSpPr>
            <a:spLocks/>
          </p:cNvSpPr>
          <p:nvPr/>
        </p:nvSpPr>
        <p:spPr bwMode="auto">
          <a:xfrm>
            <a:off x="4743450" y="2667000"/>
            <a:ext cx="1219200" cy="355600"/>
          </a:xfrm>
          <a:custGeom>
            <a:avLst/>
            <a:gdLst>
              <a:gd name="T0" fmla="*/ 768 w 768"/>
              <a:gd name="T1" fmla="*/ 0 h 224"/>
              <a:gd name="T2" fmla="*/ 576 w 768"/>
              <a:gd name="T3" fmla="*/ 192 h 224"/>
              <a:gd name="T4" fmla="*/ 144 w 768"/>
              <a:gd name="T5" fmla="*/ 192 h 224"/>
              <a:gd name="T6" fmla="*/ 0 w 768"/>
              <a:gd name="T7" fmla="*/ 0 h 224"/>
            </a:gdLst>
            <a:ahLst/>
            <a:cxnLst>
              <a:cxn ang="0">
                <a:pos x="T0" y="T1"/>
              </a:cxn>
              <a:cxn ang="0">
                <a:pos x="T2" y="T3"/>
              </a:cxn>
              <a:cxn ang="0">
                <a:pos x="T4" y="T5"/>
              </a:cxn>
              <a:cxn ang="0">
                <a:pos x="T6" y="T7"/>
              </a:cxn>
            </a:cxnLst>
            <a:rect l="0" t="0" r="r" b="b"/>
            <a:pathLst>
              <a:path w="768" h="224">
                <a:moveTo>
                  <a:pt x="768" y="0"/>
                </a:moveTo>
                <a:cubicBezTo>
                  <a:pt x="724" y="80"/>
                  <a:pt x="680" y="160"/>
                  <a:pt x="576" y="192"/>
                </a:cubicBezTo>
                <a:cubicBezTo>
                  <a:pt x="472" y="224"/>
                  <a:pt x="240" y="224"/>
                  <a:pt x="144" y="192"/>
                </a:cubicBezTo>
                <a:cubicBezTo>
                  <a:pt x="48" y="160"/>
                  <a:pt x="24" y="80"/>
                  <a:pt x="0" y="0"/>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1" name="Freeform 11"/>
          <p:cNvSpPr>
            <a:spLocks/>
          </p:cNvSpPr>
          <p:nvPr/>
        </p:nvSpPr>
        <p:spPr bwMode="auto">
          <a:xfrm>
            <a:off x="4076700" y="1581150"/>
            <a:ext cx="862013" cy="639763"/>
          </a:xfrm>
          <a:custGeom>
            <a:avLst/>
            <a:gdLst>
              <a:gd name="T0" fmla="*/ 429 w 543"/>
              <a:gd name="T1" fmla="*/ 403 h 403"/>
              <a:gd name="T2" fmla="*/ 520 w 543"/>
              <a:gd name="T3" fmla="*/ 156 h 403"/>
              <a:gd name="T4" fmla="*/ 291 w 543"/>
              <a:gd name="T5" fmla="*/ 1 h 403"/>
              <a:gd name="T6" fmla="*/ 26 w 543"/>
              <a:gd name="T7" fmla="*/ 147 h 403"/>
              <a:gd name="T8" fmla="*/ 136 w 543"/>
              <a:gd name="T9" fmla="*/ 396 h 403"/>
            </a:gdLst>
            <a:ahLst/>
            <a:cxnLst>
              <a:cxn ang="0">
                <a:pos x="T0" y="T1"/>
              </a:cxn>
              <a:cxn ang="0">
                <a:pos x="T2" y="T3"/>
              </a:cxn>
              <a:cxn ang="0">
                <a:pos x="T4" y="T5"/>
              </a:cxn>
              <a:cxn ang="0">
                <a:pos x="T6" y="T7"/>
              </a:cxn>
              <a:cxn ang="0">
                <a:pos x="T8" y="T9"/>
              </a:cxn>
            </a:cxnLst>
            <a:rect l="0" t="0" r="r" b="b"/>
            <a:pathLst>
              <a:path w="543" h="403">
                <a:moveTo>
                  <a:pt x="429" y="403"/>
                </a:moveTo>
                <a:cubicBezTo>
                  <a:pt x="444" y="362"/>
                  <a:pt x="543" y="223"/>
                  <a:pt x="520" y="156"/>
                </a:cubicBezTo>
                <a:cubicBezTo>
                  <a:pt x="497" y="89"/>
                  <a:pt x="373" y="2"/>
                  <a:pt x="291" y="1"/>
                </a:cubicBezTo>
                <a:cubicBezTo>
                  <a:pt x="209" y="0"/>
                  <a:pt x="52" y="81"/>
                  <a:pt x="26" y="147"/>
                </a:cubicBezTo>
                <a:cubicBezTo>
                  <a:pt x="0" y="213"/>
                  <a:pt x="113" y="344"/>
                  <a:pt x="136" y="396"/>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252" name="Text Box 12"/>
          <p:cNvSpPr txBox="1">
            <a:spLocks noChangeArrowheads="1"/>
          </p:cNvSpPr>
          <p:nvPr/>
        </p:nvSpPr>
        <p:spPr bwMode="auto">
          <a:xfrm>
            <a:off x="2419350" y="3581400"/>
            <a:ext cx="285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ea typeface="宋体" charset="-122"/>
                <a:sym typeface="Symbol" pitchFamily="18" charset="2"/>
              </a:rPr>
              <a:t></a:t>
            </a:r>
            <a:r>
              <a:rPr lang="en-US" altLang="zh-CN" sz="2400" baseline="-25000" dirty="0">
                <a:ea typeface="宋体" charset="-122"/>
                <a:sym typeface="Symbol" pitchFamily="18" charset="2"/>
              </a:rPr>
              <a:t>1</a:t>
            </a:r>
            <a:r>
              <a:rPr lang="en-US" altLang="zh-CN" sz="2400" dirty="0">
                <a:ea typeface="宋体" charset="-122"/>
                <a:sym typeface="Symbol" pitchFamily="18" charset="2"/>
              </a:rPr>
              <a:t>=S</a:t>
            </a:r>
            <a:r>
              <a:rPr lang="en-US" altLang="zh-CN" sz="2400" baseline="-25000" dirty="0">
                <a:ea typeface="宋体" charset="-122"/>
                <a:sym typeface="Symbol" pitchFamily="18" charset="2"/>
              </a:rPr>
              <a:t>0</a:t>
            </a:r>
            <a:r>
              <a:rPr lang="en-US" altLang="zh-CN" sz="2400" dirty="0">
                <a:ea typeface="宋体" charset="-122"/>
                <a:sym typeface="Symbol" pitchFamily="18" charset="2"/>
              </a:rPr>
              <a:t>S</a:t>
            </a:r>
            <a:r>
              <a:rPr lang="en-US" altLang="zh-CN" sz="2400" baseline="-25000" dirty="0">
                <a:ea typeface="宋体" charset="-122"/>
                <a:sym typeface="Symbol" pitchFamily="18" charset="2"/>
              </a:rPr>
              <a:t>1</a:t>
            </a:r>
            <a:r>
              <a:rPr lang="en-US" altLang="zh-CN" sz="2400" dirty="0">
                <a:ea typeface="宋体" charset="-122"/>
                <a:sym typeface="Symbol" pitchFamily="18" charset="2"/>
              </a:rPr>
              <a:t>S</a:t>
            </a:r>
            <a:r>
              <a:rPr lang="en-US" altLang="zh-CN" sz="2400" baseline="-25000" dirty="0">
                <a:ea typeface="宋体" charset="-122"/>
                <a:sym typeface="Symbol" pitchFamily="18" charset="2"/>
              </a:rPr>
              <a:t>2</a:t>
            </a:r>
            <a:r>
              <a:rPr lang="en-US" altLang="zh-CN" sz="2400" dirty="0">
                <a:ea typeface="宋体" charset="-122"/>
                <a:sym typeface="Symbol" pitchFamily="18" charset="2"/>
              </a:rPr>
              <a:t>S</a:t>
            </a:r>
            <a:r>
              <a:rPr lang="en-US" altLang="zh-CN" sz="2400" baseline="-25000" dirty="0">
                <a:ea typeface="宋体" charset="-122"/>
                <a:sym typeface="Symbol" pitchFamily="18" charset="2"/>
              </a:rPr>
              <a:t>2</a:t>
            </a:r>
            <a:r>
              <a:rPr lang="en-US" altLang="zh-CN" sz="2400" dirty="0">
                <a:ea typeface="宋体" charset="-122"/>
                <a:sym typeface="Symbol" pitchFamily="18" charset="2"/>
              </a:rPr>
              <a:t>S</a:t>
            </a:r>
            <a:r>
              <a:rPr lang="en-US" altLang="zh-CN" sz="2400" baseline="-25000" dirty="0">
                <a:ea typeface="宋体" charset="-122"/>
                <a:sym typeface="Symbol" pitchFamily="18" charset="2"/>
              </a:rPr>
              <a:t>2</a:t>
            </a:r>
            <a:r>
              <a:rPr lang="en-US" altLang="zh-CN" sz="2400" dirty="0">
                <a:ea typeface="宋体" charset="-122"/>
                <a:sym typeface="Symbol" pitchFamily="18" charset="2"/>
              </a:rPr>
              <a:t>S</a:t>
            </a:r>
            <a:r>
              <a:rPr lang="en-US" altLang="zh-CN" sz="2400" baseline="-25000" dirty="0">
                <a:ea typeface="宋体" charset="-122"/>
                <a:sym typeface="Symbol" pitchFamily="18" charset="2"/>
              </a:rPr>
              <a:t>2</a:t>
            </a:r>
            <a:r>
              <a:rPr lang="en-US" altLang="zh-CN" sz="2400" dirty="0">
                <a:ea typeface="宋体" charset="-122"/>
                <a:sym typeface="Symbol" pitchFamily="18" charset="2"/>
              </a:rPr>
              <a:t>…</a:t>
            </a:r>
          </a:p>
        </p:txBody>
      </p:sp>
      <p:sp>
        <p:nvSpPr>
          <p:cNvPr id="10253" name="Text Box 13"/>
          <p:cNvSpPr txBox="1">
            <a:spLocks noChangeArrowheads="1"/>
          </p:cNvSpPr>
          <p:nvPr/>
        </p:nvSpPr>
        <p:spPr bwMode="auto">
          <a:xfrm>
            <a:off x="2419350" y="4572000"/>
            <a:ext cx="285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ea typeface="宋体" charset="-122"/>
                <a:sym typeface="Symbol" pitchFamily="18" charset="2"/>
              </a:rPr>
              <a:t></a:t>
            </a:r>
            <a:r>
              <a:rPr lang="en-US" altLang="zh-CN" sz="2400" baseline="-25000">
                <a:ea typeface="宋体" charset="-122"/>
                <a:sym typeface="Symbol" pitchFamily="18" charset="2"/>
              </a:rPr>
              <a:t>2</a:t>
            </a:r>
            <a:r>
              <a:rPr lang="en-US" altLang="zh-CN" sz="2400">
                <a:ea typeface="宋体" charset="-122"/>
                <a:sym typeface="Symbol" pitchFamily="18" charset="2"/>
              </a:rPr>
              <a:t>=S</a:t>
            </a:r>
            <a:r>
              <a:rPr lang="en-US" altLang="zh-CN" sz="2400" baseline="-25000">
                <a:ea typeface="宋体" charset="-122"/>
                <a:sym typeface="Symbol" pitchFamily="18" charset="2"/>
              </a:rPr>
              <a:t>0</a:t>
            </a:r>
            <a:r>
              <a:rPr lang="en-US" altLang="zh-CN" sz="2400">
                <a:ea typeface="宋体" charset="-122"/>
                <a:sym typeface="Symbol" pitchFamily="18" charset="2"/>
              </a:rPr>
              <a:t>S</a:t>
            </a:r>
            <a:r>
              <a:rPr lang="en-US" altLang="zh-CN" sz="2400" baseline="-25000">
                <a:ea typeface="宋体" charset="-122"/>
                <a:sym typeface="Symbol" pitchFamily="18" charset="2"/>
              </a:rPr>
              <a:t>1</a:t>
            </a:r>
            <a:r>
              <a:rPr lang="en-US" altLang="zh-CN" sz="2400">
                <a:ea typeface="宋体" charset="-122"/>
                <a:sym typeface="Symbol" pitchFamily="18" charset="2"/>
              </a:rPr>
              <a:t>S</a:t>
            </a:r>
            <a:r>
              <a:rPr lang="en-US" altLang="zh-CN" sz="2400" baseline="-25000">
                <a:ea typeface="宋体" charset="-122"/>
                <a:sym typeface="Symbol" pitchFamily="18" charset="2"/>
              </a:rPr>
              <a:t>2</a:t>
            </a:r>
            <a:r>
              <a:rPr lang="en-US" altLang="zh-CN" sz="2400">
                <a:ea typeface="宋体" charset="-122"/>
                <a:sym typeface="Symbol" pitchFamily="18" charset="2"/>
              </a:rPr>
              <a:t>S</a:t>
            </a:r>
            <a:r>
              <a:rPr lang="en-US" altLang="zh-CN" sz="2400" baseline="-25000">
                <a:ea typeface="宋体" charset="-122"/>
                <a:sym typeface="Symbol" pitchFamily="18" charset="2"/>
              </a:rPr>
              <a:t>1</a:t>
            </a:r>
            <a:r>
              <a:rPr lang="en-US" altLang="zh-CN" sz="2400">
                <a:ea typeface="宋体" charset="-122"/>
                <a:sym typeface="Symbol" pitchFamily="18" charset="2"/>
              </a:rPr>
              <a:t>S</a:t>
            </a:r>
            <a:r>
              <a:rPr lang="en-US" altLang="zh-CN" sz="2400" baseline="-25000">
                <a:ea typeface="宋体" charset="-122"/>
                <a:sym typeface="Symbol" pitchFamily="18" charset="2"/>
              </a:rPr>
              <a:t>2</a:t>
            </a:r>
            <a:r>
              <a:rPr lang="en-US" altLang="zh-CN" sz="2400">
                <a:ea typeface="宋体" charset="-122"/>
                <a:sym typeface="Symbol" pitchFamily="18" charset="2"/>
              </a:rPr>
              <a:t>S</a:t>
            </a:r>
            <a:r>
              <a:rPr lang="en-US" altLang="zh-CN" sz="2400" baseline="-25000">
                <a:ea typeface="宋体" charset="-122"/>
                <a:sym typeface="Symbol" pitchFamily="18" charset="2"/>
              </a:rPr>
              <a:t>1</a:t>
            </a:r>
            <a:r>
              <a:rPr lang="en-US" altLang="zh-CN" sz="2400">
                <a:ea typeface="宋体" charset="-122"/>
                <a:sym typeface="Symbol" pitchFamily="18" charset="2"/>
              </a:rPr>
              <a:t>…</a:t>
            </a:r>
          </a:p>
        </p:txBody>
      </p:sp>
      <p:sp>
        <p:nvSpPr>
          <p:cNvPr id="10254" name="Text Box 14"/>
          <p:cNvSpPr txBox="1">
            <a:spLocks noChangeArrowheads="1"/>
          </p:cNvSpPr>
          <p:nvPr/>
        </p:nvSpPr>
        <p:spPr bwMode="auto">
          <a:xfrm>
            <a:off x="2419350" y="5562600"/>
            <a:ext cx="285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ea typeface="宋体" charset="-122"/>
                <a:sym typeface="Symbol" pitchFamily="18" charset="2"/>
              </a:rPr>
              <a:t></a:t>
            </a:r>
            <a:r>
              <a:rPr lang="en-US" altLang="zh-CN" sz="2400" baseline="-25000">
                <a:ea typeface="宋体" charset="-122"/>
                <a:sym typeface="Symbol" pitchFamily="18" charset="2"/>
              </a:rPr>
              <a:t>3</a:t>
            </a:r>
            <a:r>
              <a:rPr lang="en-US" altLang="zh-CN" sz="2400">
                <a:ea typeface="宋体" charset="-122"/>
                <a:sym typeface="Symbol" pitchFamily="18" charset="2"/>
              </a:rPr>
              <a:t>=S</a:t>
            </a:r>
            <a:r>
              <a:rPr lang="en-US" altLang="zh-CN" sz="2400" baseline="-25000">
                <a:ea typeface="宋体" charset="-122"/>
                <a:sym typeface="Symbol" pitchFamily="18" charset="2"/>
              </a:rPr>
              <a:t>0</a:t>
            </a:r>
            <a:r>
              <a:rPr lang="en-US" altLang="zh-CN" sz="2400">
                <a:ea typeface="宋体" charset="-122"/>
                <a:sym typeface="Symbol" pitchFamily="18" charset="2"/>
              </a:rPr>
              <a:t>S</a:t>
            </a:r>
            <a:r>
              <a:rPr lang="en-US" altLang="zh-CN" sz="2400" baseline="-25000">
                <a:ea typeface="宋体" charset="-122"/>
                <a:sym typeface="Symbol" pitchFamily="18" charset="2"/>
              </a:rPr>
              <a:t>1</a:t>
            </a:r>
            <a:r>
              <a:rPr lang="en-US" altLang="zh-CN" sz="2400">
                <a:ea typeface="宋体" charset="-122"/>
                <a:sym typeface="Symbol" pitchFamily="18" charset="2"/>
              </a:rPr>
              <a:t>S</a:t>
            </a:r>
            <a:r>
              <a:rPr lang="en-US" altLang="zh-CN" sz="2400" baseline="-25000">
                <a:ea typeface="宋体" charset="-122"/>
                <a:sym typeface="Symbol" pitchFamily="18" charset="2"/>
              </a:rPr>
              <a:t>2</a:t>
            </a:r>
            <a:r>
              <a:rPr lang="en-US" altLang="zh-CN" sz="2400">
                <a:ea typeface="宋体" charset="-122"/>
                <a:sym typeface="Symbol" pitchFamily="18" charset="2"/>
              </a:rPr>
              <a:t>S</a:t>
            </a:r>
            <a:r>
              <a:rPr lang="en-US" altLang="zh-CN" sz="2400" baseline="-25000">
                <a:ea typeface="宋体" charset="-122"/>
                <a:sym typeface="Symbol" pitchFamily="18" charset="2"/>
              </a:rPr>
              <a:t>1</a:t>
            </a:r>
            <a:r>
              <a:rPr lang="en-US" altLang="zh-CN" sz="2400">
                <a:ea typeface="宋体" charset="-122"/>
                <a:sym typeface="Symbol" pitchFamily="18" charset="2"/>
              </a:rPr>
              <a:t>S</a:t>
            </a:r>
            <a:r>
              <a:rPr lang="en-US" altLang="zh-CN" sz="2400" baseline="-25000">
                <a:ea typeface="宋体" charset="-122"/>
                <a:sym typeface="Symbol" pitchFamily="18" charset="2"/>
              </a:rPr>
              <a:t>1</a:t>
            </a:r>
            <a:r>
              <a:rPr lang="en-US" altLang="zh-CN" sz="2400">
                <a:ea typeface="宋体" charset="-122"/>
                <a:sym typeface="Symbol" pitchFamily="18" charset="2"/>
              </a:rPr>
              <a:t>S</a:t>
            </a:r>
            <a:r>
              <a:rPr lang="en-US" altLang="zh-CN" sz="2400" baseline="-25000">
                <a:ea typeface="宋体" charset="-122"/>
                <a:sym typeface="Symbol" pitchFamily="18" charset="2"/>
              </a:rPr>
              <a:t>1</a:t>
            </a:r>
            <a:r>
              <a:rPr lang="en-US" altLang="zh-CN" sz="2400">
                <a:ea typeface="宋体" charset="-122"/>
                <a:sym typeface="Symbol" pitchFamily="18" charset="2"/>
              </a:rPr>
              <a:t>…</a:t>
            </a:r>
          </a:p>
        </p:txBody>
      </p:sp>
      <p:sp>
        <p:nvSpPr>
          <p:cNvPr id="10255" name="Text Box 15"/>
          <p:cNvSpPr txBox="1">
            <a:spLocks noChangeArrowheads="1"/>
          </p:cNvSpPr>
          <p:nvPr/>
        </p:nvSpPr>
        <p:spPr bwMode="auto">
          <a:xfrm>
            <a:off x="5280025" y="3617913"/>
            <a:ext cx="1441450" cy="366712"/>
          </a:xfrm>
          <a:prstGeom prst="rect">
            <a:avLst/>
          </a:prstGeom>
          <a:noFill/>
          <a:ln>
            <a:noFill/>
          </a:ln>
          <a:effectLst/>
          <a:extLst>
            <a:ext uri="{909E8E84-426E-40DD-AFC4-6F175D3DCCD1}">
              <a14:hiddenFill xmlns:a14="http://schemas.microsoft.com/office/drawing/2010/main">
                <a:solidFill>
                  <a:srgbClr val="FF33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3333"/>
                </a:solidFill>
                <a:ea typeface="宋体" charset="-122"/>
              </a:rPr>
              <a:t>ACCEPTED</a:t>
            </a:r>
          </a:p>
        </p:txBody>
      </p:sp>
      <p:sp>
        <p:nvSpPr>
          <p:cNvPr id="10256" name="Text Box 16"/>
          <p:cNvSpPr txBox="1">
            <a:spLocks noChangeArrowheads="1"/>
          </p:cNvSpPr>
          <p:nvPr/>
        </p:nvSpPr>
        <p:spPr bwMode="auto">
          <a:xfrm>
            <a:off x="5295900" y="4662488"/>
            <a:ext cx="1441450" cy="366712"/>
          </a:xfrm>
          <a:prstGeom prst="rect">
            <a:avLst/>
          </a:prstGeom>
          <a:noFill/>
          <a:ln>
            <a:noFill/>
          </a:ln>
          <a:effectLst/>
          <a:extLst>
            <a:ext uri="{909E8E84-426E-40DD-AFC4-6F175D3DCCD1}">
              <a14:hiddenFill xmlns:a14="http://schemas.microsoft.com/office/drawing/2010/main">
                <a:solidFill>
                  <a:srgbClr val="FF33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rgbClr val="FF3333"/>
                </a:solidFill>
                <a:ea typeface="宋体" charset="-122"/>
              </a:rPr>
              <a:t>ACCEPTED</a:t>
            </a:r>
          </a:p>
        </p:txBody>
      </p:sp>
      <p:sp>
        <p:nvSpPr>
          <p:cNvPr id="10257" name="Text Box 17"/>
          <p:cNvSpPr txBox="1">
            <a:spLocks noChangeArrowheads="1"/>
          </p:cNvSpPr>
          <p:nvPr/>
        </p:nvSpPr>
        <p:spPr bwMode="auto">
          <a:xfrm>
            <a:off x="5295900" y="5653088"/>
            <a:ext cx="1403350" cy="36671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solidFill>
                  <a:schemeClr val="accent2"/>
                </a:solidFill>
                <a:ea typeface="宋体" charset="-122"/>
              </a:rPr>
              <a:t>REJECTED</a:t>
            </a:r>
          </a:p>
        </p:txBody>
      </p:sp>
      <p:sp>
        <p:nvSpPr>
          <p:cNvPr id="10258" name="Line 18"/>
          <p:cNvSpPr>
            <a:spLocks noChangeShapeType="1"/>
          </p:cNvSpPr>
          <p:nvPr/>
        </p:nvSpPr>
        <p:spPr bwMode="auto">
          <a:xfrm>
            <a:off x="2209800" y="1981200"/>
            <a:ext cx="381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TextBox 1"/>
          <p:cNvSpPr txBox="1"/>
          <p:nvPr/>
        </p:nvSpPr>
        <p:spPr>
          <a:xfrm>
            <a:off x="3347864" y="1988840"/>
            <a:ext cx="328786" cy="369332"/>
          </a:xfrm>
          <a:prstGeom prst="rect">
            <a:avLst/>
          </a:prstGeom>
          <a:noFill/>
        </p:spPr>
        <p:txBody>
          <a:bodyPr wrap="square" rtlCol="0">
            <a:spAutoFit/>
          </a:bodyPr>
          <a:lstStyle/>
          <a:p>
            <a:r>
              <a:rPr lang="en-US" altLang="zh-CN" dirty="0" smtClean="0"/>
              <a:t>a</a:t>
            </a:r>
            <a:endParaRPr lang="zh-CN" altLang="en-US" dirty="0"/>
          </a:p>
        </p:txBody>
      </p:sp>
      <p:sp>
        <p:nvSpPr>
          <p:cNvPr id="20" name="TextBox 19"/>
          <p:cNvSpPr txBox="1"/>
          <p:nvPr/>
        </p:nvSpPr>
        <p:spPr>
          <a:xfrm>
            <a:off x="4421721" y="1211818"/>
            <a:ext cx="328786" cy="369332"/>
          </a:xfrm>
          <a:prstGeom prst="rect">
            <a:avLst/>
          </a:prstGeom>
          <a:noFill/>
        </p:spPr>
        <p:txBody>
          <a:bodyPr wrap="square" rtlCol="0">
            <a:spAutoFit/>
          </a:bodyPr>
          <a:lstStyle/>
          <a:p>
            <a:r>
              <a:rPr lang="en-US" altLang="zh-CN" dirty="0"/>
              <a:t>b</a:t>
            </a:r>
            <a:endParaRPr lang="zh-CN" altLang="en-US" dirty="0"/>
          </a:p>
        </p:txBody>
      </p:sp>
      <p:sp>
        <p:nvSpPr>
          <p:cNvPr id="21" name="TextBox 20"/>
          <p:cNvSpPr txBox="1"/>
          <p:nvPr/>
        </p:nvSpPr>
        <p:spPr>
          <a:xfrm>
            <a:off x="5114045" y="2133600"/>
            <a:ext cx="328786" cy="369332"/>
          </a:xfrm>
          <a:prstGeom prst="rect">
            <a:avLst/>
          </a:prstGeom>
          <a:noFill/>
        </p:spPr>
        <p:txBody>
          <a:bodyPr wrap="square" rtlCol="0">
            <a:spAutoFit/>
          </a:bodyPr>
          <a:lstStyle/>
          <a:p>
            <a:r>
              <a:rPr lang="en-US" altLang="zh-CN" dirty="0" smtClean="0"/>
              <a:t>c</a:t>
            </a:r>
            <a:endParaRPr lang="zh-CN" altLang="en-US" dirty="0"/>
          </a:p>
        </p:txBody>
      </p:sp>
      <p:sp>
        <p:nvSpPr>
          <p:cNvPr id="22" name="TextBox 21"/>
          <p:cNvSpPr txBox="1"/>
          <p:nvPr/>
        </p:nvSpPr>
        <p:spPr>
          <a:xfrm>
            <a:off x="5278438" y="2674088"/>
            <a:ext cx="328786" cy="369332"/>
          </a:xfrm>
          <a:prstGeom prst="rect">
            <a:avLst/>
          </a:prstGeom>
          <a:noFill/>
        </p:spPr>
        <p:txBody>
          <a:bodyPr wrap="square" rtlCol="0">
            <a:spAutoFit/>
          </a:bodyPr>
          <a:lstStyle/>
          <a:p>
            <a:r>
              <a:rPr lang="en-US" altLang="zh-CN" dirty="0" smtClean="0"/>
              <a:t>d</a:t>
            </a:r>
            <a:endParaRPr lang="zh-CN" altLang="en-US" dirty="0"/>
          </a:p>
        </p:txBody>
      </p:sp>
      <p:sp>
        <p:nvSpPr>
          <p:cNvPr id="23" name="TextBox 22"/>
          <p:cNvSpPr txBox="1"/>
          <p:nvPr/>
        </p:nvSpPr>
        <p:spPr>
          <a:xfrm>
            <a:off x="5931902" y="1216282"/>
            <a:ext cx="728330" cy="369332"/>
          </a:xfrm>
          <a:prstGeom prst="rect">
            <a:avLst/>
          </a:prstGeom>
          <a:noFill/>
        </p:spPr>
        <p:txBody>
          <a:bodyPr wrap="square" rtlCol="0">
            <a:spAutoFit/>
          </a:bodyPr>
          <a:lstStyle/>
          <a:p>
            <a:r>
              <a:rPr lang="en-US" altLang="zh-CN" dirty="0" err="1" smtClean="0"/>
              <a:t>a,d</a:t>
            </a:r>
            <a:endParaRPr lang="zh-CN" altLang="en-US" dirty="0"/>
          </a:p>
        </p:txBody>
      </p:sp>
    </p:spTree>
    <p:extLst>
      <p:ext uri="{BB962C8B-B14F-4D97-AF65-F5344CB8AC3E}">
        <p14:creationId xmlns:p14="http://schemas.microsoft.com/office/powerpoint/2010/main" val="14863994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5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5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5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2" grpId="0"/>
      <p:bldP spid="10253" grpId="0"/>
      <p:bldP spid="10254" grpId="0"/>
      <p:bldP spid="10255" grpId="0"/>
      <p:bldP spid="10256" grpId="0"/>
      <p:bldP spid="1025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a:ea typeface="宋体" charset="-122"/>
              </a:rPr>
              <a:t>LTL Model Checking</a:t>
            </a:r>
          </a:p>
        </p:txBody>
      </p:sp>
      <p:sp>
        <p:nvSpPr>
          <p:cNvPr id="13315" name="Rectangle 3"/>
          <p:cNvSpPr>
            <a:spLocks noGrp="1" noChangeArrowheads="1"/>
          </p:cNvSpPr>
          <p:nvPr>
            <p:ph type="body" idx="1"/>
          </p:nvPr>
        </p:nvSpPr>
        <p:spPr/>
        <p:txBody>
          <a:bodyPr/>
          <a:lstStyle/>
          <a:p>
            <a:pPr>
              <a:lnSpc>
                <a:spcPct val="90000"/>
              </a:lnSpc>
            </a:pPr>
            <a:r>
              <a:rPr lang="en-US" altLang="zh-CN" dirty="0">
                <a:ea typeface="宋体" charset="-122"/>
              </a:rPr>
              <a:t>Given a model M and an LTL formula </a:t>
            </a:r>
            <a:r>
              <a:rPr lang="en-US" altLang="zh-CN" dirty="0">
                <a:ea typeface="宋体" charset="-122"/>
                <a:sym typeface="Symbol" pitchFamily="18" charset="2"/>
              </a:rPr>
              <a:t></a:t>
            </a:r>
          </a:p>
          <a:p>
            <a:pPr lvl="1">
              <a:lnSpc>
                <a:spcPct val="90000"/>
              </a:lnSpc>
            </a:pPr>
            <a:r>
              <a:rPr lang="en-US" altLang="zh-CN" dirty="0">
                <a:solidFill>
                  <a:srgbClr val="FF3333"/>
                </a:solidFill>
                <a:ea typeface="宋体" charset="-122"/>
              </a:rPr>
              <a:t>Build</a:t>
            </a:r>
            <a:r>
              <a:rPr lang="en-US" altLang="zh-CN" dirty="0">
                <a:ea typeface="宋体" charset="-122"/>
              </a:rPr>
              <a:t> the </a:t>
            </a:r>
            <a:r>
              <a:rPr lang="en-US" altLang="zh-CN" dirty="0" err="1">
                <a:ea typeface="宋体" charset="-122"/>
              </a:rPr>
              <a:t>Buchi</a:t>
            </a:r>
            <a:r>
              <a:rPr lang="en-US" altLang="zh-CN" dirty="0">
                <a:ea typeface="宋体" charset="-122"/>
              </a:rPr>
              <a:t> automaton B</a:t>
            </a:r>
            <a:r>
              <a:rPr lang="en-US" altLang="zh-CN" baseline="-25000" dirty="0">
                <a:ea typeface="宋体" charset="-122"/>
              </a:rPr>
              <a:t>¬</a:t>
            </a:r>
            <a:r>
              <a:rPr lang="en-US" altLang="zh-CN" baseline="-25000" dirty="0">
                <a:ea typeface="宋体" charset="-122"/>
                <a:sym typeface="Symbol" pitchFamily="18" charset="2"/>
              </a:rPr>
              <a:t></a:t>
            </a:r>
          </a:p>
          <a:p>
            <a:pPr lvl="1">
              <a:lnSpc>
                <a:spcPct val="90000"/>
              </a:lnSpc>
            </a:pPr>
            <a:r>
              <a:rPr lang="en-US" altLang="zh-CN" dirty="0">
                <a:solidFill>
                  <a:srgbClr val="FF3333"/>
                </a:solidFill>
                <a:ea typeface="宋体" charset="-122"/>
                <a:sym typeface="Symbol" pitchFamily="18" charset="2"/>
              </a:rPr>
              <a:t>Compute product</a:t>
            </a:r>
            <a:r>
              <a:rPr lang="en-US" altLang="zh-CN" dirty="0">
                <a:ea typeface="宋体" charset="-122"/>
                <a:sym typeface="Symbol" pitchFamily="18" charset="2"/>
              </a:rPr>
              <a:t> of M and </a:t>
            </a:r>
            <a:r>
              <a:rPr lang="en-US" altLang="zh-CN" dirty="0">
                <a:ea typeface="宋体" charset="-122"/>
              </a:rPr>
              <a:t>B</a:t>
            </a:r>
            <a:r>
              <a:rPr lang="en-US" altLang="zh-CN" baseline="-25000" dirty="0">
                <a:ea typeface="宋体" charset="-122"/>
              </a:rPr>
              <a:t>¬</a:t>
            </a:r>
            <a:r>
              <a:rPr lang="en-US" altLang="zh-CN" baseline="-25000" dirty="0">
                <a:ea typeface="宋体" charset="-122"/>
                <a:sym typeface="Symbol" pitchFamily="18" charset="2"/>
              </a:rPr>
              <a:t></a:t>
            </a:r>
            <a:endParaRPr lang="en-US" altLang="zh-CN" dirty="0">
              <a:ea typeface="宋体" charset="-122"/>
              <a:sym typeface="Symbol" pitchFamily="18" charset="2"/>
            </a:endParaRPr>
          </a:p>
          <a:p>
            <a:pPr lvl="1">
              <a:lnSpc>
                <a:spcPct val="90000"/>
              </a:lnSpc>
            </a:pPr>
            <a:r>
              <a:rPr lang="en-US" altLang="zh-CN" dirty="0" smtClean="0">
                <a:ea typeface="宋体" charset="-122"/>
                <a:sym typeface="Symbol" pitchFamily="18" charset="2"/>
              </a:rPr>
              <a:t>The </a:t>
            </a:r>
            <a:r>
              <a:rPr lang="en-US" altLang="zh-CN" dirty="0">
                <a:ea typeface="宋体" charset="-122"/>
                <a:sym typeface="Symbol" pitchFamily="18" charset="2"/>
              </a:rPr>
              <a:t>product accepts the traces of M that are also traces of </a:t>
            </a:r>
            <a:r>
              <a:rPr lang="en-US" altLang="zh-CN" dirty="0">
                <a:ea typeface="宋体" charset="-122"/>
              </a:rPr>
              <a:t>B</a:t>
            </a:r>
            <a:r>
              <a:rPr lang="en-US" altLang="zh-CN" baseline="-25000" dirty="0">
                <a:ea typeface="宋体" charset="-122"/>
              </a:rPr>
              <a:t>¬</a:t>
            </a:r>
            <a:r>
              <a:rPr lang="en-US" altLang="zh-CN" baseline="-25000" dirty="0">
                <a:ea typeface="宋体" charset="-122"/>
                <a:sym typeface="Symbol" pitchFamily="18" charset="2"/>
              </a:rPr>
              <a:t> </a:t>
            </a:r>
            <a:r>
              <a:rPr lang="en-US" altLang="zh-CN" dirty="0">
                <a:ea typeface="宋体" charset="-122"/>
                <a:sym typeface="Symbol" pitchFamily="18" charset="2"/>
              </a:rPr>
              <a:t>(</a:t>
            </a:r>
            <a:r>
              <a:rPr lang="en-US" altLang="zh-CN" dirty="0">
                <a:solidFill>
                  <a:schemeClr val="accent2"/>
                </a:solidFill>
                <a:ea typeface="宋体" charset="-122"/>
                <a:sym typeface="Symbol" pitchFamily="18" charset="2"/>
              </a:rPr>
              <a:t></a:t>
            </a:r>
            <a:r>
              <a:rPr lang="en-US" altLang="zh-CN" baseline="-25000" dirty="0">
                <a:solidFill>
                  <a:schemeClr val="accent2"/>
                </a:solidFill>
                <a:ea typeface="宋体" charset="-122"/>
                <a:sym typeface="Symbol" pitchFamily="18" charset="2"/>
              </a:rPr>
              <a:t>M </a:t>
            </a:r>
            <a:r>
              <a:rPr lang="en-US" altLang="zh-CN" dirty="0">
                <a:solidFill>
                  <a:schemeClr val="accent2"/>
                </a:solidFill>
                <a:ea typeface="宋体" charset="-122"/>
                <a:sym typeface="Symbol" pitchFamily="18" charset="2"/>
              </a:rPr>
              <a:t></a:t>
            </a:r>
            <a:r>
              <a:rPr lang="en-US" altLang="zh-CN" baseline="-25000" dirty="0">
                <a:solidFill>
                  <a:schemeClr val="accent2"/>
                </a:solidFill>
                <a:ea typeface="宋体" charset="-122"/>
                <a:sym typeface="Symbol" pitchFamily="18" charset="2"/>
              </a:rPr>
              <a:t> </a:t>
            </a:r>
            <a:r>
              <a:rPr lang="en-US" altLang="zh-CN" dirty="0">
                <a:solidFill>
                  <a:schemeClr val="accent2"/>
                </a:solidFill>
                <a:ea typeface="宋体" charset="-122"/>
                <a:sym typeface="Symbol" pitchFamily="18" charset="2"/>
              </a:rPr>
              <a:t></a:t>
            </a:r>
            <a:r>
              <a:rPr lang="en-US" altLang="zh-CN" baseline="-25000" dirty="0">
                <a:solidFill>
                  <a:schemeClr val="accent2"/>
                </a:solidFill>
                <a:ea typeface="宋体" charset="-122"/>
                <a:sym typeface="Symbol" pitchFamily="18" charset="2"/>
              </a:rPr>
              <a:t>¬</a:t>
            </a:r>
            <a:r>
              <a:rPr lang="en-US" altLang="zh-CN" dirty="0">
                <a:ea typeface="宋体" charset="-122"/>
                <a:sym typeface="Symbol" pitchFamily="18" charset="2"/>
              </a:rPr>
              <a:t>)</a:t>
            </a:r>
          </a:p>
          <a:p>
            <a:pPr lvl="1">
              <a:lnSpc>
                <a:spcPct val="90000"/>
              </a:lnSpc>
            </a:pPr>
            <a:r>
              <a:rPr lang="en-US" altLang="zh-CN" dirty="0">
                <a:ea typeface="宋体" charset="-122"/>
                <a:sym typeface="Symbol" pitchFamily="18" charset="2"/>
              </a:rPr>
              <a:t>If the product accepts any sequence</a:t>
            </a:r>
          </a:p>
          <a:p>
            <a:pPr lvl="2">
              <a:lnSpc>
                <a:spcPct val="90000"/>
              </a:lnSpc>
            </a:pPr>
            <a:r>
              <a:rPr lang="en-US" altLang="zh-CN" dirty="0">
                <a:ea typeface="宋体" charset="-122"/>
                <a:sym typeface="Symbol" pitchFamily="18" charset="2"/>
              </a:rPr>
              <a:t>We have found a </a:t>
            </a:r>
            <a:r>
              <a:rPr lang="en-US" altLang="zh-CN" dirty="0">
                <a:solidFill>
                  <a:schemeClr val="accent2"/>
                </a:solidFill>
                <a:ea typeface="宋体" charset="-122"/>
                <a:sym typeface="Symbol" pitchFamily="18" charset="2"/>
              </a:rPr>
              <a:t>counterexample</a:t>
            </a:r>
          </a:p>
        </p:txBody>
      </p:sp>
    </p:spTree>
    <p:extLst>
      <p:ext uri="{BB962C8B-B14F-4D97-AF65-F5344CB8AC3E}">
        <p14:creationId xmlns:p14="http://schemas.microsoft.com/office/powerpoint/2010/main" val="46140500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关键问题</a:t>
            </a:r>
            <a:endParaRPr lang="zh-CN" altLang="en-US" dirty="0"/>
          </a:p>
        </p:txBody>
      </p:sp>
      <p:sp>
        <p:nvSpPr>
          <p:cNvPr id="3" name="内容占位符 2"/>
          <p:cNvSpPr>
            <a:spLocks noGrp="1"/>
          </p:cNvSpPr>
          <p:nvPr>
            <p:ph idx="1"/>
          </p:nvPr>
        </p:nvSpPr>
        <p:spPr/>
        <p:txBody>
          <a:bodyPr/>
          <a:lstStyle/>
          <a:p>
            <a:r>
              <a:rPr lang="zh-CN" altLang="en-US" dirty="0" smtClean="0"/>
              <a:t>安全性问题      </a:t>
            </a:r>
            <a:r>
              <a:rPr lang="en-US" altLang="zh-CN" dirty="0" smtClean="0"/>
              <a:t>   </a:t>
            </a:r>
            <a:r>
              <a:rPr lang="zh-CN" altLang="en-US" dirty="0" smtClean="0"/>
              <a:t>可达性</a:t>
            </a:r>
            <a:r>
              <a:rPr lang="zh-CN" altLang="en-US" dirty="0"/>
              <a:t>问题</a:t>
            </a:r>
            <a:endParaRPr lang="en-US" altLang="zh-CN" dirty="0" smtClean="0"/>
          </a:p>
          <a:p>
            <a:endParaRPr lang="en-US" altLang="zh-CN" dirty="0"/>
          </a:p>
          <a:p>
            <a:endParaRPr lang="en-US" altLang="zh-CN" dirty="0" smtClean="0"/>
          </a:p>
          <a:p>
            <a:r>
              <a:rPr lang="zh-CN" altLang="en-US" dirty="0" smtClean="0"/>
              <a:t>模型</a:t>
            </a:r>
            <a:r>
              <a:rPr lang="zh-CN" altLang="en-US" dirty="0"/>
              <a:t>检验中的关键技术</a:t>
            </a:r>
            <a:r>
              <a:rPr lang="zh-CN" altLang="en-US" dirty="0" smtClean="0"/>
              <a:t>问题</a:t>
            </a:r>
            <a:endParaRPr lang="en-US" altLang="zh-CN" dirty="0" smtClean="0"/>
          </a:p>
          <a:p>
            <a:pPr lvl="1"/>
            <a:r>
              <a:rPr lang="zh-CN" altLang="en-US" dirty="0" smtClean="0"/>
              <a:t>如何</a:t>
            </a:r>
            <a:r>
              <a:rPr lang="zh-CN" altLang="en-US" dirty="0"/>
              <a:t>设计</a:t>
            </a:r>
            <a:r>
              <a:rPr lang="zh-CN" altLang="en-US" dirty="0" smtClean="0"/>
              <a:t>数据结构</a:t>
            </a:r>
            <a:r>
              <a:rPr lang="zh-CN" altLang="en-US" dirty="0"/>
              <a:t>和算法，用以表示和遍历大规模的</a:t>
            </a:r>
            <a:r>
              <a:rPr lang="zh-CN" altLang="en-US" dirty="0" smtClean="0"/>
              <a:t>系统模型状态空间。</a:t>
            </a:r>
            <a:endParaRPr lang="en-US" altLang="zh-CN" dirty="0" smtClean="0"/>
          </a:p>
          <a:p>
            <a:pPr lvl="1"/>
            <a:r>
              <a:rPr lang="zh-CN" altLang="en-US" dirty="0" smtClean="0"/>
              <a:t>解决</a:t>
            </a:r>
            <a:r>
              <a:rPr lang="zh-CN" altLang="en-US" dirty="0"/>
              <a:t>由多个系统模型的并行组合而形成的</a:t>
            </a:r>
            <a:r>
              <a:rPr lang="zh-CN" altLang="en-US" dirty="0" smtClean="0"/>
              <a:t>状态空间</a:t>
            </a:r>
            <a:r>
              <a:rPr lang="zh-CN" altLang="en-US" dirty="0"/>
              <a:t>爆炸问题。</a:t>
            </a:r>
          </a:p>
        </p:txBody>
      </p:sp>
      <p:pic>
        <p:nvPicPr>
          <p:cNvPr id="4" name="Picture 2"/>
          <p:cNvPicPr>
            <a:picLocks noChangeAspect="1" noChangeArrowheads="1"/>
          </p:cNvPicPr>
          <p:nvPr/>
        </p:nvPicPr>
        <p:blipFill>
          <a:blip r:embed="rId2" cstate="print"/>
          <a:srcRect/>
          <a:stretch>
            <a:fillRect/>
          </a:stretch>
        </p:blipFill>
        <p:spPr bwMode="auto">
          <a:xfrm>
            <a:off x="5796136" y="1268760"/>
            <a:ext cx="3059195" cy="1599401"/>
          </a:xfrm>
          <a:prstGeom prst="rect">
            <a:avLst/>
          </a:prstGeom>
          <a:noFill/>
          <a:ln w="9525">
            <a:noFill/>
            <a:miter lim="800000"/>
            <a:headEnd/>
            <a:tailEnd/>
          </a:ln>
        </p:spPr>
      </p:pic>
      <p:cxnSp>
        <p:nvCxnSpPr>
          <p:cNvPr id="6" name="直接箭头连接符 5"/>
          <p:cNvCxnSpPr/>
          <p:nvPr/>
        </p:nvCxnSpPr>
        <p:spPr bwMode="auto">
          <a:xfrm>
            <a:off x="2843808" y="1772816"/>
            <a:ext cx="720080" cy="0"/>
          </a:xfrm>
          <a:prstGeom prst="straightConnector1">
            <a:avLst/>
          </a:prstGeom>
          <a:solidFill>
            <a:schemeClr val="bg1"/>
          </a:solidFill>
          <a:ln w="9525"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24013422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zh-CN">
                <a:latin typeface="Arial" charset="0"/>
              </a:rPr>
              <a:t>Symbolic Model Checking</a:t>
            </a:r>
          </a:p>
        </p:txBody>
      </p:sp>
      <p:sp>
        <p:nvSpPr>
          <p:cNvPr id="59395" name="Rectangle 3"/>
          <p:cNvSpPr>
            <a:spLocks noGrp="1" noChangeArrowheads="1"/>
          </p:cNvSpPr>
          <p:nvPr>
            <p:ph type="body" idx="1"/>
          </p:nvPr>
        </p:nvSpPr>
        <p:spPr/>
        <p:txBody>
          <a:bodyPr/>
          <a:lstStyle/>
          <a:p>
            <a:r>
              <a:rPr lang="zh-TW" altLang="en-US" dirty="0"/>
              <a:t>用布尔公式刻画状态集合和状态对集合</a:t>
            </a:r>
            <a:r>
              <a:rPr lang="en-US" altLang="zh-TW" dirty="0" smtClean="0"/>
              <a:t>,</a:t>
            </a:r>
          </a:p>
          <a:p>
            <a:r>
              <a:rPr lang="zh-TW" altLang="en-US" dirty="0" smtClean="0"/>
              <a:t>用 </a:t>
            </a:r>
            <a:r>
              <a:rPr lang="en-US" altLang="zh-CN" dirty="0">
                <a:latin typeface="Arial" charset="0"/>
              </a:rPr>
              <a:t>Ordered Binary Decision </a:t>
            </a:r>
            <a:r>
              <a:rPr lang="en-US" altLang="zh-CN" dirty="0" smtClean="0">
                <a:latin typeface="Arial" charset="0"/>
              </a:rPr>
              <a:t>Diagram</a:t>
            </a:r>
            <a:r>
              <a:rPr lang="zh-CN" altLang="en-US" dirty="0" smtClean="0">
                <a:latin typeface="Arial" charset="0"/>
              </a:rPr>
              <a:t>（</a:t>
            </a:r>
            <a:r>
              <a:rPr lang="en-US" altLang="zh-TW" dirty="0" smtClean="0"/>
              <a:t>OBDD</a:t>
            </a:r>
            <a:r>
              <a:rPr lang="zh-CN" altLang="en-US" dirty="0" smtClean="0"/>
              <a:t>）</a:t>
            </a:r>
            <a:r>
              <a:rPr lang="zh-TW" altLang="en-US" dirty="0" smtClean="0"/>
              <a:t>来表示这些布尔</a:t>
            </a:r>
            <a:r>
              <a:rPr lang="zh-TW" altLang="en-US" dirty="0"/>
              <a:t>公式</a:t>
            </a:r>
            <a:r>
              <a:rPr lang="en-US" altLang="zh-TW" dirty="0" smtClean="0"/>
              <a:t>,</a:t>
            </a:r>
          </a:p>
          <a:p>
            <a:r>
              <a:rPr lang="zh-TW" altLang="en-US" dirty="0" smtClean="0"/>
              <a:t>使用</a:t>
            </a:r>
            <a:r>
              <a:rPr lang="en-US" altLang="zh-TW" dirty="0"/>
              <a:t>OBDD</a:t>
            </a:r>
            <a:r>
              <a:rPr lang="zh-TW" altLang="en-US" dirty="0" smtClean="0"/>
              <a:t>上的布尔操作来计算谓词转换子</a:t>
            </a:r>
            <a:r>
              <a:rPr lang="en-US" altLang="zh-TW" dirty="0" smtClean="0"/>
              <a:t>,</a:t>
            </a:r>
            <a:r>
              <a:rPr lang="zh-TW" altLang="en-US" dirty="0"/>
              <a:t>从而使模型检验在压缩了的</a:t>
            </a:r>
            <a:r>
              <a:rPr lang="zh-TW" altLang="en-US" dirty="0" smtClean="0"/>
              <a:t>符号化状态空间</a:t>
            </a:r>
            <a:r>
              <a:rPr lang="zh-TW" altLang="en-US" dirty="0"/>
              <a:t>上来验证</a:t>
            </a:r>
            <a:r>
              <a:rPr lang="en-US" altLang="zh-TW" dirty="0"/>
              <a:t>CTL</a:t>
            </a:r>
            <a:r>
              <a:rPr lang="zh-TW" altLang="en-US" dirty="0"/>
              <a:t>性质 </a:t>
            </a:r>
          </a:p>
          <a:p>
            <a:endParaRPr lang="en-US" altLang="zh-TW" dirty="0" smtClean="0">
              <a:latin typeface="Arial" charset="0"/>
              <a:ea typeface="新細明體" pitchFamily="18" charset="-120"/>
            </a:endParaRPr>
          </a:p>
          <a:p>
            <a:pPr marL="0" indent="0">
              <a:buNone/>
            </a:pPr>
            <a:r>
              <a:rPr lang="en-US" altLang="zh-TW" dirty="0">
                <a:latin typeface="Arial" charset="0"/>
                <a:ea typeface="新細明體" pitchFamily="18" charset="-120"/>
              </a:rPr>
              <a:t> </a:t>
            </a:r>
            <a:r>
              <a:rPr lang="en-US" altLang="zh-TW" dirty="0" smtClean="0">
                <a:latin typeface="Arial" charset="0"/>
                <a:ea typeface="新細明體" pitchFamily="18" charset="-120"/>
              </a:rPr>
              <a:t>                                           </a:t>
            </a:r>
            <a:endParaRPr lang="en-US" altLang="zh-TW" dirty="0">
              <a:latin typeface="Arial" charset="0"/>
              <a:ea typeface="新細明體" pitchFamily="18" charset="-120"/>
            </a:endParaRPr>
          </a:p>
        </p:txBody>
      </p:sp>
      <p:sp>
        <p:nvSpPr>
          <p:cNvPr id="4" name="Oval 3"/>
          <p:cNvSpPr/>
          <p:nvPr/>
        </p:nvSpPr>
        <p:spPr bwMode="auto">
          <a:xfrm>
            <a:off x="611560" y="5170752"/>
            <a:ext cx="822960" cy="822960"/>
          </a:xfrm>
          <a:prstGeom prst="ellipse">
            <a:avLst/>
          </a:prstGeom>
          <a:solidFill>
            <a:schemeClr val="bg1"/>
          </a:solidFill>
          <a:ln w="9525" cap="flat" cmpd="sng" algn="ctr">
            <a:solidFill>
              <a:srgbClr val="FF0000"/>
            </a:solidFill>
            <a:prstDash val="solid"/>
            <a:round/>
            <a:headEnd type="none" w="med" len="med"/>
            <a:tailEnd type="none" w="med" len="med"/>
          </a:ln>
          <a:effectLst/>
        </p:spPr>
        <p:txBody>
          <a:bodyPr/>
          <a:lstStyle/>
          <a:p>
            <a:r>
              <a:rPr lang="en-US" sz="2200" dirty="0" err="1" smtClean="0"/>
              <a:t>a,b</a:t>
            </a:r>
            <a:endParaRPr lang="en-US" sz="2200" dirty="0"/>
          </a:p>
        </p:txBody>
      </p:sp>
      <p:sp>
        <p:nvSpPr>
          <p:cNvPr id="5" name="Oval 4"/>
          <p:cNvSpPr/>
          <p:nvPr/>
        </p:nvSpPr>
        <p:spPr bwMode="auto">
          <a:xfrm>
            <a:off x="2357702" y="5229200"/>
            <a:ext cx="936104" cy="822960"/>
          </a:xfrm>
          <a:prstGeom prst="ellipse">
            <a:avLst/>
          </a:prstGeom>
          <a:solidFill>
            <a:schemeClr val="bg1"/>
          </a:solidFill>
          <a:ln w="9525" cap="flat" cmpd="sng" algn="ctr">
            <a:solidFill>
              <a:srgbClr val="FF0000"/>
            </a:solidFill>
            <a:prstDash val="solid"/>
            <a:round/>
            <a:headEnd type="none" w="med" len="med"/>
            <a:tailEnd type="none" w="med" len="med"/>
          </a:ln>
          <a:effectLst/>
        </p:spPr>
        <p:txBody>
          <a:bodyPr/>
          <a:lstStyle/>
          <a:p>
            <a:r>
              <a:rPr lang="en-US" sz="2200" dirty="0" err="1" smtClean="0"/>
              <a:t>a,!b</a:t>
            </a:r>
            <a:endParaRPr lang="en-US" sz="2200" dirty="0"/>
          </a:p>
        </p:txBody>
      </p:sp>
      <p:cxnSp>
        <p:nvCxnSpPr>
          <p:cNvPr id="6" name="Curved Connector 5"/>
          <p:cNvCxnSpPr>
            <a:stCxn id="4" idx="0"/>
            <a:endCxn id="5" idx="0"/>
          </p:cNvCxnSpPr>
          <p:nvPr/>
        </p:nvCxnSpPr>
        <p:spPr bwMode="auto">
          <a:xfrm rot="16200000" flipH="1">
            <a:off x="1895173" y="4298619"/>
            <a:ext cx="58448" cy="1802714"/>
          </a:xfrm>
          <a:prstGeom prst="curvedConnector3">
            <a:avLst>
              <a:gd name="adj1" fmla="val -391117"/>
            </a:avLst>
          </a:prstGeom>
          <a:solidFill>
            <a:schemeClr val="bg1"/>
          </a:solidFill>
          <a:ln w="9525" cap="flat" cmpd="sng" algn="ctr">
            <a:solidFill>
              <a:srgbClr val="FF0000"/>
            </a:solidFill>
            <a:prstDash val="solid"/>
            <a:round/>
            <a:headEnd type="none" w="med" len="med"/>
            <a:tailEnd type="triangle" w="lg"/>
          </a:ln>
          <a:effectLst/>
        </p:spPr>
      </p:cxnSp>
      <p:cxnSp>
        <p:nvCxnSpPr>
          <p:cNvPr id="13" name="Curved Connector 12"/>
          <p:cNvCxnSpPr>
            <a:stCxn id="5" idx="4"/>
          </p:cNvCxnSpPr>
          <p:nvPr/>
        </p:nvCxnSpPr>
        <p:spPr bwMode="auto">
          <a:xfrm rot="5400000" flipH="1">
            <a:off x="1856212" y="5082618"/>
            <a:ext cx="30872" cy="1908212"/>
          </a:xfrm>
          <a:prstGeom prst="curvedConnector4">
            <a:avLst>
              <a:gd name="adj1" fmla="val -740477"/>
              <a:gd name="adj2" fmla="val 99934"/>
            </a:avLst>
          </a:prstGeom>
          <a:solidFill>
            <a:schemeClr val="bg1"/>
          </a:solidFill>
          <a:ln w="9525" cap="flat" cmpd="sng" algn="ctr">
            <a:solidFill>
              <a:srgbClr val="FF0000"/>
            </a:solidFill>
            <a:prstDash val="solid"/>
            <a:round/>
            <a:headEnd type="none" w="med" len="med"/>
            <a:tailEnd type="triangle" w="lg"/>
          </a:ln>
          <a:effectLst/>
        </p:spPr>
      </p:cxnSp>
      <p:graphicFrame>
        <p:nvGraphicFramePr>
          <p:cNvPr id="18" name="Object 17"/>
          <p:cNvGraphicFramePr>
            <a:graphicFrameLocks noChangeAspect="1"/>
          </p:cNvGraphicFramePr>
          <p:nvPr>
            <p:extLst>
              <p:ext uri="{D42A27DB-BD31-4B8C-83A1-F6EECF244321}">
                <p14:modId xmlns:p14="http://schemas.microsoft.com/office/powerpoint/2010/main" val="907857172"/>
              </p:ext>
            </p:extLst>
          </p:nvPr>
        </p:nvGraphicFramePr>
        <p:xfrm>
          <a:off x="3751263" y="5157788"/>
          <a:ext cx="5313362" cy="627062"/>
        </p:xfrm>
        <a:graphic>
          <a:graphicData uri="http://schemas.openxmlformats.org/presentationml/2006/ole">
            <mc:AlternateContent xmlns:mc="http://schemas.openxmlformats.org/markup-compatibility/2006">
              <mc:Choice xmlns:v="urn:schemas-microsoft-com:vml" Requires="v">
                <p:oleObj spid="_x0000_s16400" name="Equation" r:id="rId3" imgW="1701800" imgH="165100" progId="Equation.3">
                  <p:embed/>
                </p:oleObj>
              </mc:Choice>
              <mc:Fallback>
                <p:oleObj name="Equation" r:id="rId3" imgW="1701800" imgH="165100" progId="Equation.3">
                  <p:embed/>
                  <p:pic>
                    <p:nvPicPr>
                      <p:cNvPr id="0" name=""/>
                      <p:cNvPicPr/>
                      <p:nvPr/>
                    </p:nvPicPr>
                    <p:blipFill>
                      <a:blip r:embed="rId4"/>
                      <a:stretch>
                        <a:fillRect/>
                      </a:stretch>
                    </p:blipFill>
                    <p:spPr>
                      <a:xfrm>
                        <a:off x="3751263" y="5157788"/>
                        <a:ext cx="5313362" cy="627062"/>
                      </a:xfrm>
                      <a:prstGeom prst="rect">
                        <a:avLst/>
                      </a:prstGeom>
                    </p:spPr>
                  </p:pic>
                </p:oleObj>
              </mc:Fallback>
            </mc:AlternateContent>
          </a:graphicData>
        </a:graphic>
      </p:graphicFrame>
    </p:spTree>
    <p:extLst>
      <p:ext uri="{BB962C8B-B14F-4D97-AF65-F5344CB8AC3E}">
        <p14:creationId xmlns:p14="http://schemas.microsoft.com/office/powerpoint/2010/main" val="7811251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dirty="0">
                <a:latin typeface="Arial" charset="0"/>
              </a:rPr>
              <a:t>Ordered Binary Decision Diagram (OBDD)</a:t>
            </a:r>
          </a:p>
        </p:txBody>
      </p:sp>
      <p:sp>
        <p:nvSpPr>
          <p:cNvPr id="60420" name="Rectangle 4"/>
          <p:cNvSpPr>
            <a:spLocks noChangeArrowheads="1"/>
          </p:cNvSpPr>
          <p:nvPr/>
        </p:nvSpPr>
        <p:spPr bwMode="auto">
          <a:xfrm>
            <a:off x="468313" y="6092825"/>
            <a:ext cx="8281987" cy="647700"/>
          </a:xfrm>
          <a:prstGeom prst="rect">
            <a:avLst/>
          </a:prstGeom>
          <a:noFill/>
          <a:ln>
            <a:noFill/>
          </a:ln>
          <a:effectLst/>
          <a:extLst>
            <a:ext uri="{909E8E84-426E-40dd-AFC4-6F175D3DCCD1}">
              <a14:hiddenFill xmlns:a14="http://schemas.microsoft.com/office/drawing/2010/main" xmlns="">
                <a:solidFill>
                  <a:srgbClr val="3366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algn="ctr">
              <a:spcBef>
                <a:spcPct val="20000"/>
              </a:spcBef>
              <a:buClr>
                <a:schemeClr val="folHlink"/>
              </a:buClr>
              <a:buSzPct val="60000"/>
              <a:buFont typeface="Wingdings" pitchFamily="2" charset="2"/>
              <a:buNone/>
            </a:pPr>
            <a:r>
              <a:rPr lang="en-US" altLang="zh-CN" sz="2800"/>
              <a:t>(a</a:t>
            </a:r>
            <a:r>
              <a:rPr lang="en-US" altLang="zh-CN" sz="2800" baseline="-25000"/>
              <a:t>1</a:t>
            </a:r>
            <a:r>
              <a:rPr lang="en-US" altLang="zh-CN" sz="2800"/>
              <a:t> </a:t>
            </a:r>
            <a:r>
              <a:rPr lang="en-US" altLang="zh-CN" sz="2800">
                <a:sym typeface="Symbol" pitchFamily="18" charset="2"/>
              </a:rPr>
              <a:t> b</a:t>
            </a:r>
            <a:r>
              <a:rPr lang="en-US" altLang="zh-CN" sz="2800" baseline="-25000">
                <a:sym typeface="Symbol" pitchFamily="18" charset="2"/>
              </a:rPr>
              <a:t>1</a:t>
            </a:r>
            <a:r>
              <a:rPr lang="en-US" altLang="zh-CN" sz="2800"/>
              <a:t>) </a:t>
            </a:r>
            <a:r>
              <a:rPr lang="en-US" altLang="zh-CN" sz="2400">
                <a:latin typeface="Book Antiqua" pitchFamily="18" charset="0"/>
                <a:ea typeface="MingLiU" pitchFamily="49" charset="-120"/>
                <a:sym typeface="Symbol" pitchFamily="18" charset="2"/>
              </a:rPr>
              <a:t> </a:t>
            </a:r>
            <a:r>
              <a:rPr lang="en-US" altLang="zh-CN" sz="2800"/>
              <a:t>(a</a:t>
            </a:r>
            <a:r>
              <a:rPr lang="en-US" altLang="zh-CN" sz="2800" baseline="-25000"/>
              <a:t>2</a:t>
            </a:r>
            <a:r>
              <a:rPr lang="en-US" altLang="zh-CN" sz="2800"/>
              <a:t> </a:t>
            </a:r>
            <a:r>
              <a:rPr lang="en-US" altLang="zh-CN" sz="2800">
                <a:sym typeface="Symbol" pitchFamily="18" charset="2"/>
              </a:rPr>
              <a:t> </a:t>
            </a:r>
            <a:r>
              <a:rPr lang="en-US" altLang="zh-CN" sz="2800"/>
              <a:t>b</a:t>
            </a:r>
            <a:r>
              <a:rPr lang="en-US" altLang="zh-CN" sz="2800" baseline="-25000"/>
              <a:t>2</a:t>
            </a:r>
            <a:r>
              <a:rPr lang="en-US" altLang="zh-CN" sz="2800"/>
              <a:t>) </a:t>
            </a:r>
          </a:p>
        </p:txBody>
      </p:sp>
      <p:sp>
        <p:nvSpPr>
          <p:cNvPr id="60421" name="Oval 5"/>
          <p:cNvSpPr>
            <a:spLocks noChangeArrowheads="1"/>
          </p:cNvSpPr>
          <p:nvPr/>
        </p:nvSpPr>
        <p:spPr bwMode="auto">
          <a:xfrm>
            <a:off x="3997325" y="18446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1</a:t>
            </a:r>
          </a:p>
        </p:txBody>
      </p:sp>
      <p:sp>
        <p:nvSpPr>
          <p:cNvPr id="60422" name="Oval 6"/>
          <p:cNvSpPr>
            <a:spLocks noChangeArrowheads="1"/>
          </p:cNvSpPr>
          <p:nvPr/>
        </p:nvSpPr>
        <p:spPr bwMode="auto">
          <a:xfrm>
            <a:off x="2557463" y="2708275"/>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0423" name="Oval 7"/>
          <p:cNvSpPr>
            <a:spLocks noChangeArrowheads="1"/>
          </p:cNvSpPr>
          <p:nvPr/>
        </p:nvSpPr>
        <p:spPr bwMode="auto">
          <a:xfrm>
            <a:off x="5508625" y="27082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0424" name="Oval 8"/>
          <p:cNvSpPr>
            <a:spLocks noChangeArrowheads="1"/>
          </p:cNvSpPr>
          <p:nvPr/>
        </p:nvSpPr>
        <p:spPr bwMode="auto">
          <a:xfrm>
            <a:off x="1476375" y="35718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0425" name="Oval 9"/>
          <p:cNvSpPr>
            <a:spLocks noChangeArrowheads="1"/>
          </p:cNvSpPr>
          <p:nvPr/>
        </p:nvSpPr>
        <p:spPr bwMode="auto">
          <a:xfrm>
            <a:off x="2916238" y="3571875"/>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0426" name="Oval 10"/>
          <p:cNvSpPr>
            <a:spLocks noChangeArrowheads="1"/>
          </p:cNvSpPr>
          <p:nvPr/>
        </p:nvSpPr>
        <p:spPr bwMode="auto">
          <a:xfrm>
            <a:off x="541338"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0427" name="Oval 11"/>
          <p:cNvSpPr>
            <a:spLocks noChangeArrowheads="1"/>
          </p:cNvSpPr>
          <p:nvPr/>
        </p:nvSpPr>
        <p:spPr bwMode="auto">
          <a:xfrm>
            <a:off x="1549400"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0428" name="Oval 12"/>
          <p:cNvSpPr>
            <a:spLocks noChangeArrowheads="1"/>
          </p:cNvSpPr>
          <p:nvPr/>
        </p:nvSpPr>
        <p:spPr bwMode="auto">
          <a:xfrm>
            <a:off x="2700338"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0429" name="Oval 13"/>
          <p:cNvSpPr>
            <a:spLocks noChangeArrowheads="1"/>
          </p:cNvSpPr>
          <p:nvPr/>
        </p:nvSpPr>
        <p:spPr bwMode="auto">
          <a:xfrm>
            <a:off x="5149850" y="35718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0430" name="Oval 14"/>
          <p:cNvSpPr>
            <a:spLocks noChangeArrowheads="1"/>
          </p:cNvSpPr>
          <p:nvPr/>
        </p:nvSpPr>
        <p:spPr bwMode="auto">
          <a:xfrm>
            <a:off x="6732588" y="3571875"/>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0431" name="Oval 15"/>
          <p:cNvSpPr>
            <a:spLocks noChangeArrowheads="1"/>
          </p:cNvSpPr>
          <p:nvPr/>
        </p:nvSpPr>
        <p:spPr bwMode="auto">
          <a:xfrm>
            <a:off x="5868988"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0432" name="Oval 16"/>
          <p:cNvSpPr>
            <a:spLocks noChangeArrowheads="1"/>
          </p:cNvSpPr>
          <p:nvPr/>
        </p:nvSpPr>
        <p:spPr bwMode="auto">
          <a:xfrm>
            <a:off x="6877050"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0433" name="Oval 17"/>
          <p:cNvSpPr>
            <a:spLocks noChangeArrowheads="1"/>
          </p:cNvSpPr>
          <p:nvPr/>
        </p:nvSpPr>
        <p:spPr bwMode="auto">
          <a:xfrm>
            <a:off x="4860925"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0434" name="Oval 18"/>
          <p:cNvSpPr>
            <a:spLocks noChangeArrowheads="1"/>
          </p:cNvSpPr>
          <p:nvPr/>
        </p:nvSpPr>
        <p:spPr bwMode="auto">
          <a:xfrm>
            <a:off x="3708400"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0435" name="Oval 19"/>
          <p:cNvSpPr>
            <a:spLocks noChangeArrowheads="1"/>
          </p:cNvSpPr>
          <p:nvPr/>
        </p:nvSpPr>
        <p:spPr bwMode="auto">
          <a:xfrm>
            <a:off x="7885113"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0436" name="Line 20"/>
          <p:cNvSpPr>
            <a:spLocks noChangeShapeType="1"/>
          </p:cNvSpPr>
          <p:nvPr/>
        </p:nvSpPr>
        <p:spPr bwMode="auto">
          <a:xfrm flipH="1">
            <a:off x="3348038" y="2347913"/>
            <a:ext cx="7921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37" name="Line 21"/>
          <p:cNvSpPr>
            <a:spLocks noChangeShapeType="1"/>
          </p:cNvSpPr>
          <p:nvPr/>
        </p:nvSpPr>
        <p:spPr bwMode="auto">
          <a:xfrm flipH="1">
            <a:off x="2195513" y="3211513"/>
            <a:ext cx="504825"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38" name="Line 22"/>
          <p:cNvSpPr>
            <a:spLocks noChangeShapeType="1"/>
          </p:cNvSpPr>
          <p:nvPr/>
        </p:nvSpPr>
        <p:spPr bwMode="auto">
          <a:xfrm flipH="1">
            <a:off x="1116013" y="4076700"/>
            <a:ext cx="5762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39" name="Line 23"/>
          <p:cNvSpPr>
            <a:spLocks noChangeShapeType="1"/>
          </p:cNvSpPr>
          <p:nvPr/>
        </p:nvSpPr>
        <p:spPr bwMode="auto">
          <a:xfrm>
            <a:off x="1979613" y="4148138"/>
            <a:ext cx="71437"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0" name="Line 24"/>
          <p:cNvSpPr>
            <a:spLocks noChangeShapeType="1"/>
          </p:cNvSpPr>
          <p:nvPr/>
        </p:nvSpPr>
        <p:spPr bwMode="auto">
          <a:xfrm flipH="1">
            <a:off x="3203575" y="4148138"/>
            <a:ext cx="144463"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1" name="Line 25"/>
          <p:cNvSpPr>
            <a:spLocks noChangeShapeType="1"/>
          </p:cNvSpPr>
          <p:nvPr/>
        </p:nvSpPr>
        <p:spPr bwMode="auto">
          <a:xfrm>
            <a:off x="3708400" y="4076700"/>
            <a:ext cx="358775"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2" name="Line 26"/>
          <p:cNvSpPr>
            <a:spLocks noChangeShapeType="1"/>
          </p:cNvSpPr>
          <p:nvPr/>
        </p:nvSpPr>
        <p:spPr bwMode="auto">
          <a:xfrm flipH="1">
            <a:off x="5435600" y="4148138"/>
            <a:ext cx="144463"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3" name="Line 27"/>
          <p:cNvSpPr>
            <a:spLocks noChangeShapeType="1"/>
          </p:cNvSpPr>
          <p:nvPr/>
        </p:nvSpPr>
        <p:spPr bwMode="auto">
          <a:xfrm>
            <a:off x="5867400" y="4148138"/>
            <a:ext cx="360363"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4" name="Line 28"/>
          <p:cNvSpPr>
            <a:spLocks noChangeShapeType="1"/>
          </p:cNvSpPr>
          <p:nvPr/>
        </p:nvSpPr>
        <p:spPr bwMode="auto">
          <a:xfrm>
            <a:off x="7308850" y="4148138"/>
            <a:ext cx="0"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5" name="Line 29"/>
          <p:cNvSpPr>
            <a:spLocks noChangeShapeType="1"/>
          </p:cNvSpPr>
          <p:nvPr/>
        </p:nvSpPr>
        <p:spPr bwMode="auto">
          <a:xfrm>
            <a:off x="7596188" y="4076700"/>
            <a:ext cx="647700"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6" name="Line 30"/>
          <p:cNvSpPr>
            <a:spLocks noChangeShapeType="1"/>
          </p:cNvSpPr>
          <p:nvPr/>
        </p:nvSpPr>
        <p:spPr bwMode="auto">
          <a:xfrm flipH="1">
            <a:off x="5724525" y="3284538"/>
            <a:ext cx="142875" cy="28733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7" name="Line 31"/>
          <p:cNvSpPr>
            <a:spLocks noChangeShapeType="1"/>
          </p:cNvSpPr>
          <p:nvPr/>
        </p:nvSpPr>
        <p:spPr bwMode="auto">
          <a:xfrm>
            <a:off x="6372225" y="3140075"/>
            <a:ext cx="647700"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8" name="Line 32"/>
          <p:cNvSpPr>
            <a:spLocks noChangeShapeType="1"/>
          </p:cNvSpPr>
          <p:nvPr/>
        </p:nvSpPr>
        <p:spPr bwMode="auto">
          <a:xfrm>
            <a:off x="3276600" y="3284538"/>
            <a:ext cx="71438" cy="28733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49" name="Line 33"/>
          <p:cNvSpPr>
            <a:spLocks noChangeShapeType="1"/>
          </p:cNvSpPr>
          <p:nvPr/>
        </p:nvSpPr>
        <p:spPr bwMode="auto">
          <a:xfrm>
            <a:off x="4859338" y="2276475"/>
            <a:ext cx="936625"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50" name="Line 34"/>
          <p:cNvSpPr>
            <a:spLocks noChangeShapeType="1"/>
          </p:cNvSpPr>
          <p:nvPr/>
        </p:nvSpPr>
        <p:spPr bwMode="auto">
          <a:xfrm flipH="1">
            <a:off x="5219700" y="5084763"/>
            <a:ext cx="71438"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51" name="Rectangle 35"/>
          <p:cNvSpPr>
            <a:spLocks noChangeArrowheads="1"/>
          </p:cNvSpPr>
          <p:nvPr/>
        </p:nvSpPr>
        <p:spPr bwMode="auto">
          <a:xfrm>
            <a:off x="8027988"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52" name="Rectangle 36"/>
          <p:cNvSpPr>
            <a:spLocks noChangeArrowheads="1"/>
          </p:cNvSpPr>
          <p:nvPr/>
        </p:nvSpPr>
        <p:spPr bwMode="auto">
          <a:xfrm>
            <a:off x="745172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53" name="Rectangle 37"/>
          <p:cNvSpPr>
            <a:spLocks noChangeArrowheads="1"/>
          </p:cNvSpPr>
          <p:nvPr/>
        </p:nvSpPr>
        <p:spPr bwMode="auto">
          <a:xfrm>
            <a:off x="8459788"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54" name="Rectangle 38"/>
          <p:cNvSpPr>
            <a:spLocks noChangeArrowheads="1"/>
          </p:cNvSpPr>
          <p:nvPr/>
        </p:nvSpPr>
        <p:spPr bwMode="auto">
          <a:xfrm>
            <a:off x="701992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55" name="Rectangle 39"/>
          <p:cNvSpPr>
            <a:spLocks noChangeArrowheads="1"/>
          </p:cNvSpPr>
          <p:nvPr/>
        </p:nvSpPr>
        <p:spPr bwMode="auto">
          <a:xfrm>
            <a:off x="644366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56" name="Rectangle 40"/>
          <p:cNvSpPr>
            <a:spLocks noChangeArrowheads="1"/>
          </p:cNvSpPr>
          <p:nvPr/>
        </p:nvSpPr>
        <p:spPr bwMode="auto">
          <a:xfrm>
            <a:off x="601186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57" name="Rectangle 41"/>
          <p:cNvSpPr>
            <a:spLocks noChangeArrowheads="1"/>
          </p:cNvSpPr>
          <p:nvPr/>
        </p:nvSpPr>
        <p:spPr bwMode="auto">
          <a:xfrm>
            <a:off x="54356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58" name="Rectangle 42"/>
          <p:cNvSpPr>
            <a:spLocks noChangeArrowheads="1"/>
          </p:cNvSpPr>
          <p:nvPr/>
        </p:nvSpPr>
        <p:spPr bwMode="auto">
          <a:xfrm>
            <a:off x="50038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59" name="Line 43"/>
          <p:cNvSpPr>
            <a:spLocks noChangeShapeType="1"/>
          </p:cNvSpPr>
          <p:nvPr/>
        </p:nvSpPr>
        <p:spPr bwMode="auto">
          <a:xfrm>
            <a:off x="5508625" y="5084763"/>
            <a:ext cx="71438"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60" name="Line 44"/>
          <p:cNvSpPr>
            <a:spLocks noChangeShapeType="1"/>
          </p:cNvSpPr>
          <p:nvPr/>
        </p:nvSpPr>
        <p:spPr bwMode="auto">
          <a:xfrm flipH="1">
            <a:off x="6156325" y="5084763"/>
            <a:ext cx="71438"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61" name="Line 45"/>
          <p:cNvSpPr>
            <a:spLocks noChangeShapeType="1"/>
          </p:cNvSpPr>
          <p:nvPr/>
        </p:nvSpPr>
        <p:spPr bwMode="auto">
          <a:xfrm>
            <a:off x="6443663" y="5084763"/>
            <a:ext cx="215900"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62" name="Line 46"/>
          <p:cNvSpPr>
            <a:spLocks noChangeShapeType="1"/>
          </p:cNvSpPr>
          <p:nvPr/>
        </p:nvSpPr>
        <p:spPr bwMode="auto">
          <a:xfrm flipH="1">
            <a:off x="7235825" y="5084763"/>
            <a:ext cx="73025"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63" name="Line 47"/>
          <p:cNvSpPr>
            <a:spLocks noChangeShapeType="1"/>
          </p:cNvSpPr>
          <p:nvPr/>
        </p:nvSpPr>
        <p:spPr bwMode="auto">
          <a:xfrm>
            <a:off x="7451725" y="5084763"/>
            <a:ext cx="144463"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64" name="Line 48"/>
          <p:cNvSpPr>
            <a:spLocks noChangeShapeType="1"/>
          </p:cNvSpPr>
          <p:nvPr/>
        </p:nvSpPr>
        <p:spPr bwMode="auto">
          <a:xfrm flipH="1">
            <a:off x="8172450" y="5084763"/>
            <a:ext cx="71438"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65" name="Line 49"/>
          <p:cNvSpPr>
            <a:spLocks noChangeShapeType="1"/>
          </p:cNvSpPr>
          <p:nvPr/>
        </p:nvSpPr>
        <p:spPr bwMode="auto">
          <a:xfrm>
            <a:off x="8532813" y="5084763"/>
            <a:ext cx="142875"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66" name="Rectangle 50"/>
          <p:cNvSpPr>
            <a:spLocks noChangeArrowheads="1"/>
          </p:cNvSpPr>
          <p:nvPr/>
        </p:nvSpPr>
        <p:spPr bwMode="auto">
          <a:xfrm>
            <a:off x="3419475" y="234791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67" name="Rectangle 51"/>
          <p:cNvSpPr>
            <a:spLocks noChangeArrowheads="1"/>
          </p:cNvSpPr>
          <p:nvPr/>
        </p:nvSpPr>
        <p:spPr bwMode="auto">
          <a:xfrm>
            <a:off x="2195513" y="31400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68" name="Rectangle 52"/>
          <p:cNvSpPr>
            <a:spLocks noChangeArrowheads="1"/>
          </p:cNvSpPr>
          <p:nvPr/>
        </p:nvSpPr>
        <p:spPr bwMode="auto">
          <a:xfrm>
            <a:off x="1116013" y="40767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69" name="Rectangle 53"/>
          <p:cNvSpPr>
            <a:spLocks noChangeArrowheads="1"/>
          </p:cNvSpPr>
          <p:nvPr/>
        </p:nvSpPr>
        <p:spPr bwMode="auto">
          <a:xfrm>
            <a:off x="2916238" y="41481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70" name="Rectangle 54"/>
          <p:cNvSpPr>
            <a:spLocks noChangeArrowheads="1"/>
          </p:cNvSpPr>
          <p:nvPr/>
        </p:nvSpPr>
        <p:spPr bwMode="auto">
          <a:xfrm>
            <a:off x="5435600" y="321151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71" name="Rectangle 55"/>
          <p:cNvSpPr>
            <a:spLocks noChangeArrowheads="1"/>
          </p:cNvSpPr>
          <p:nvPr/>
        </p:nvSpPr>
        <p:spPr bwMode="auto">
          <a:xfrm>
            <a:off x="5148263" y="41481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72" name="Rectangle 56"/>
          <p:cNvSpPr>
            <a:spLocks noChangeArrowheads="1"/>
          </p:cNvSpPr>
          <p:nvPr/>
        </p:nvSpPr>
        <p:spPr bwMode="auto">
          <a:xfrm>
            <a:off x="6948488" y="42195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73" name="Rectangle 57"/>
          <p:cNvSpPr>
            <a:spLocks noChangeArrowheads="1"/>
          </p:cNvSpPr>
          <p:nvPr/>
        </p:nvSpPr>
        <p:spPr bwMode="auto">
          <a:xfrm>
            <a:off x="5003800" y="5156200"/>
            <a:ext cx="215900"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74" name="Rectangle 58"/>
          <p:cNvSpPr>
            <a:spLocks noChangeArrowheads="1"/>
          </p:cNvSpPr>
          <p:nvPr/>
        </p:nvSpPr>
        <p:spPr bwMode="auto">
          <a:xfrm>
            <a:off x="5940425"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75" name="Rectangle 59"/>
          <p:cNvSpPr>
            <a:spLocks noChangeArrowheads="1"/>
          </p:cNvSpPr>
          <p:nvPr/>
        </p:nvSpPr>
        <p:spPr bwMode="auto">
          <a:xfrm>
            <a:off x="7019925"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76" name="Rectangle 60"/>
          <p:cNvSpPr>
            <a:spLocks noChangeArrowheads="1"/>
          </p:cNvSpPr>
          <p:nvPr/>
        </p:nvSpPr>
        <p:spPr bwMode="auto">
          <a:xfrm>
            <a:off x="7956550" y="515620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77" name="Rectangle 61"/>
          <p:cNvSpPr>
            <a:spLocks noChangeArrowheads="1"/>
          </p:cNvSpPr>
          <p:nvPr/>
        </p:nvSpPr>
        <p:spPr bwMode="auto">
          <a:xfrm>
            <a:off x="5292725" y="220345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78" name="Rectangle 62"/>
          <p:cNvSpPr>
            <a:spLocks noChangeArrowheads="1"/>
          </p:cNvSpPr>
          <p:nvPr/>
        </p:nvSpPr>
        <p:spPr bwMode="auto">
          <a:xfrm>
            <a:off x="6659563" y="31400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79" name="Rectangle 63"/>
          <p:cNvSpPr>
            <a:spLocks noChangeArrowheads="1"/>
          </p:cNvSpPr>
          <p:nvPr/>
        </p:nvSpPr>
        <p:spPr bwMode="auto">
          <a:xfrm>
            <a:off x="7812088" y="40767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80" name="Rectangle 64"/>
          <p:cNvSpPr>
            <a:spLocks noChangeArrowheads="1"/>
          </p:cNvSpPr>
          <p:nvPr/>
        </p:nvSpPr>
        <p:spPr bwMode="auto">
          <a:xfrm>
            <a:off x="6011863" y="41481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81" name="Rectangle 65"/>
          <p:cNvSpPr>
            <a:spLocks noChangeArrowheads="1"/>
          </p:cNvSpPr>
          <p:nvPr/>
        </p:nvSpPr>
        <p:spPr bwMode="auto">
          <a:xfrm>
            <a:off x="3348038" y="3211513"/>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82" name="Rectangle 66"/>
          <p:cNvSpPr>
            <a:spLocks noChangeArrowheads="1"/>
          </p:cNvSpPr>
          <p:nvPr/>
        </p:nvSpPr>
        <p:spPr bwMode="auto">
          <a:xfrm>
            <a:off x="3924300" y="407670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83" name="Rectangle 67"/>
          <p:cNvSpPr>
            <a:spLocks noChangeArrowheads="1"/>
          </p:cNvSpPr>
          <p:nvPr/>
        </p:nvSpPr>
        <p:spPr bwMode="auto">
          <a:xfrm>
            <a:off x="2051050" y="41481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84" name="Rectangle 68"/>
          <p:cNvSpPr>
            <a:spLocks noChangeArrowheads="1"/>
          </p:cNvSpPr>
          <p:nvPr/>
        </p:nvSpPr>
        <p:spPr bwMode="auto">
          <a:xfrm>
            <a:off x="5508625" y="515620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85" name="Rectangle 69"/>
          <p:cNvSpPr>
            <a:spLocks noChangeArrowheads="1"/>
          </p:cNvSpPr>
          <p:nvPr/>
        </p:nvSpPr>
        <p:spPr bwMode="auto">
          <a:xfrm>
            <a:off x="6516688" y="5227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86" name="Rectangle 70"/>
          <p:cNvSpPr>
            <a:spLocks noChangeArrowheads="1"/>
          </p:cNvSpPr>
          <p:nvPr/>
        </p:nvSpPr>
        <p:spPr bwMode="auto">
          <a:xfrm>
            <a:off x="7451725"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87" name="Rectangle 71"/>
          <p:cNvSpPr>
            <a:spLocks noChangeArrowheads="1"/>
          </p:cNvSpPr>
          <p:nvPr/>
        </p:nvSpPr>
        <p:spPr bwMode="auto">
          <a:xfrm>
            <a:off x="8532813" y="51562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88" name="Line 72"/>
          <p:cNvSpPr>
            <a:spLocks noChangeShapeType="1"/>
          </p:cNvSpPr>
          <p:nvPr/>
        </p:nvSpPr>
        <p:spPr bwMode="auto">
          <a:xfrm flipH="1">
            <a:off x="900113"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89" name="Rectangle 73"/>
          <p:cNvSpPr>
            <a:spLocks noChangeArrowheads="1"/>
          </p:cNvSpPr>
          <p:nvPr/>
        </p:nvSpPr>
        <p:spPr bwMode="auto">
          <a:xfrm>
            <a:off x="37084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90" name="Rectangle 74"/>
          <p:cNvSpPr>
            <a:spLocks noChangeArrowheads="1"/>
          </p:cNvSpPr>
          <p:nvPr/>
        </p:nvSpPr>
        <p:spPr bwMode="auto">
          <a:xfrm>
            <a:off x="3132138"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91" name="Rectangle 75"/>
          <p:cNvSpPr>
            <a:spLocks noChangeArrowheads="1"/>
          </p:cNvSpPr>
          <p:nvPr/>
        </p:nvSpPr>
        <p:spPr bwMode="auto">
          <a:xfrm>
            <a:off x="41402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92" name="Rectangle 76"/>
          <p:cNvSpPr>
            <a:spLocks noChangeArrowheads="1"/>
          </p:cNvSpPr>
          <p:nvPr/>
        </p:nvSpPr>
        <p:spPr bwMode="auto">
          <a:xfrm>
            <a:off x="2700338"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93" name="Rectangle 77"/>
          <p:cNvSpPr>
            <a:spLocks noChangeArrowheads="1"/>
          </p:cNvSpPr>
          <p:nvPr/>
        </p:nvSpPr>
        <p:spPr bwMode="auto">
          <a:xfrm>
            <a:off x="212407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94" name="Rectangle 78"/>
          <p:cNvSpPr>
            <a:spLocks noChangeArrowheads="1"/>
          </p:cNvSpPr>
          <p:nvPr/>
        </p:nvSpPr>
        <p:spPr bwMode="auto">
          <a:xfrm>
            <a:off x="169227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95" name="Rectangle 79"/>
          <p:cNvSpPr>
            <a:spLocks noChangeArrowheads="1"/>
          </p:cNvSpPr>
          <p:nvPr/>
        </p:nvSpPr>
        <p:spPr bwMode="auto">
          <a:xfrm>
            <a:off x="111601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496" name="Rectangle 80"/>
          <p:cNvSpPr>
            <a:spLocks noChangeArrowheads="1"/>
          </p:cNvSpPr>
          <p:nvPr/>
        </p:nvSpPr>
        <p:spPr bwMode="auto">
          <a:xfrm>
            <a:off x="68421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497" name="Line 81"/>
          <p:cNvSpPr>
            <a:spLocks noChangeShapeType="1"/>
          </p:cNvSpPr>
          <p:nvPr/>
        </p:nvSpPr>
        <p:spPr bwMode="auto">
          <a:xfrm>
            <a:off x="1189038"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98" name="Line 82"/>
          <p:cNvSpPr>
            <a:spLocks noChangeShapeType="1"/>
          </p:cNvSpPr>
          <p:nvPr/>
        </p:nvSpPr>
        <p:spPr bwMode="auto">
          <a:xfrm flipH="1">
            <a:off x="1836738"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499" name="Line 83"/>
          <p:cNvSpPr>
            <a:spLocks noChangeShapeType="1"/>
          </p:cNvSpPr>
          <p:nvPr/>
        </p:nvSpPr>
        <p:spPr bwMode="auto">
          <a:xfrm>
            <a:off x="2124075" y="5084763"/>
            <a:ext cx="215900"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500" name="Line 84"/>
          <p:cNvSpPr>
            <a:spLocks noChangeShapeType="1"/>
          </p:cNvSpPr>
          <p:nvPr/>
        </p:nvSpPr>
        <p:spPr bwMode="auto">
          <a:xfrm flipH="1">
            <a:off x="2916238" y="5084763"/>
            <a:ext cx="73025"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501" name="Line 85"/>
          <p:cNvSpPr>
            <a:spLocks noChangeShapeType="1"/>
          </p:cNvSpPr>
          <p:nvPr/>
        </p:nvSpPr>
        <p:spPr bwMode="auto">
          <a:xfrm>
            <a:off x="3132138" y="5084763"/>
            <a:ext cx="144462"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502" name="Line 86"/>
          <p:cNvSpPr>
            <a:spLocks noChangeShapeType="1"/>
          </p:cNvSpPr>
          <p:nvPr/>
        </p:nvSpPr>
        <p:spPr bwMode="auto">
          <a:xfrm flipH="1">
            <a:off x="3852863"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503" name="Line 87"/>
          <p:cNvSpPr>
            <a:spLocks noChangeShapeType="1"/>
          </p:cNvSpPr>
          <p:nvPr/>
        </p:nvSpPr>
        <p:spPr bwMode="auto">
          <a:xfrm>
            <a:off x="4213225" y="5084763"/>
            <a:ext cx="142875"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0504" name="Rectangle 88"/>
          <p:cNvSpPr>
            <a:spLocks noChangeArrowheads="1"/>
          </p:cNvSpPr>
          <p:nvPr/>
        </p:nvSpPr>
        <p:spPr bwMode="auto">
          <a:xfrm>
            <a:off x="684213" y="5156200"/>
            <a:ext cx="215900"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505" name="Rectangle 89"/>
          <p:cNvSpPr>
            <a:spLocks noChangeArrowheads="1"/>
          </p:cNvSpPr>
          <p:nvPr/>
        </p:nvSpPr>
        <p:spPr bwMode="auto">
          <a:xfrm>
            <a:off x="1620838" y="5227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506" name="Rectangle 90"/>
          <p:cNvSpPr>
            <a:spLocks noChangeArrowheads="1"/>
          </p:cNvSpPr>
          <p:nvPr/>
        </p:nvSpPr>
        <p:spPr bwMode="auto">
          <a:xfrm>
            <a:off x="2700338" y="5227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507" name="Rectangle 91"/>
          <p:cNvSpPr>
            <a:spLocks noChangeArrowheads="1"/>
          </p:cNvSpPr>
          <p:nvPr/>
        </p:nvSpPr>
        <p:spPr bwMode="auto">
          <a:xfrm>
            <a:off x="3636963" y="51562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0508" name="Rectangle 92"/>
          <p:cNvSpPr>
            <a:spLocks noChangeArrowheads="1"/>
          </p:cNvSpPr>
          <p:nvPr/>
        </p:nvSpPr>
        <p:spPr bwMode="auto">
          <a:xfrm>
            <a:off x="1189038" y="51562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509" name="Rectangle 93"/>
          <p:cNvSpPr>
            <a:spLocks noChangeArrowheads="1"/>
          </p:cNvSpPr>
          <p:nvPr/>
        </p:nvSpPr>
        <p:spPr bwMode="auto">
          <a:xfrm>
            <a:off x="2197100"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510" name="Rectangle 94"/>
          <p:cNvSpPr>
            <a:spLocks noChangeArrowheads="1"/>
          </p:cNvSpPr>
          <p:nvPr/>
        </p:nvSpPr>
        <p:spPr bwMode="auto">
          <a:xfrm>
            <a:off x="3132138" y="5227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0511" name="Rectangle 95"/>
          <p:cNvSpPr>
            <a:spLocks noChangeArrowheads="1"/>
          </p:cNvSpPr>
          <p:nvPr/>
        </p:nvSpPr>
        <p:spPr bwMode="auto">
          <a:xfrm>
            <a:off x="4213225" y="515620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Tree>
    <p:extLst>
      <p:ext uri="{BB962C8B-B14F-4D97-AF65-F5344CB8AC3E}">
        <p14:creationId xmlns:p14="http://schemas.microsoft.com/office/powerpoint/2010/main" val="190771050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1"/>
          </p:nvPr>
        </p:nvSpPr>
        <p:spPr>
          <a:xfrm>
            <a:off x="2555875" y="6094413"/>
            <a:ext cx="3959225" cy="647700"/>
          </a:xfrm>
          <a:noFill/>
          <a:ln/>
        </p:spPr>
        <p:txBody>
          <a:bodyPr/>
          <a:lstStyle/>
          <a:p>
            <a:pPr>
              <a:buFont typeface="Wingdings" pitchFamily="2" charset="2"/>
              <a:buNone/>
            </a:pPr>
            <a:r>
              <a:rPr lang="en-US" altLang="zh-CN"/>
              <a:t>(a</a:t>
            </a:r>
            <a:r>
              <a:rPr lang="en-US" altLang="zh-CN" baseline="-25000"/>
              <a:t>1</a:t>
            </a:r>
            <a:r>
              <a:rPr lang="en-US" altLang="zh-CN"/>
              <a:t> </a:t>
            </a:r>
            <a:r>
              <a:rPr lang="en-US" altLang="zh-CN">
                <a:sym typeface="Symbol" pitchFamily="18" charset="2"/>
              </a:rPr>
              <a:t> b</a:t>
            </a:r>
            <a:r>
              <a:rPr lang="en-US" altLang="zh-CN" baseline="-25000">
                <a:sym typeface="Symbol" pitchFamily="18" charset="2"/>
              </a:rPr>
              <a:t>1</a:t>
            </a:r>
            <a:r>
              <a:rPr lang="en-US" altLang="zh-CN"/>
              <a:t>) </a:t>
            </a:r>
            <a:r>
              <a:rPr lang="en-US" altLang="zh-CN" sz="2800">
                <a:latin typeface="Book Antiqua" pitchFamily="18" charset="0"/>
                <a:ea typeface="MingLiU" pitchFamily="49" charset="-120"/>
                <a:sym typeface="Symbol" pitchFamily="18" charset="2"/>
              </a:rPr>
              <a:t> </a:t>
            </a:r>
            <a:r>
              <a:rPr lang="en-US" altLang="zh-CN"/>
              <a:t>(a</a:t>
            </a:r>
            <a:r>
              <a:rPr lang="en-US" altLang="zh-CN" baseline="-25000"/>
              <a:t>2</a:t>
            </a:r>
            <a:r>
              <a:rPr lang="en-US" altLang="zh-CN"/>
              <a:t> </a:t>
            </a:r>
            <a:r>
              <a:rPr lang="en-US" altLang="zh-CN">
                <a:sym typeface="Symbol" pitchFamily="18" charset="2"/>
              </a:rPr>
              <a:t> </a:t>
            </a:r>
            <a:r>
              <a:rPr lang="en-US" altLang="zh-CN"/>
              <a:t>b</a:t>
            </a:r>
            <a:r>
              <a:rPr lang="en-US" altLang="zh-CN" baseline="-25000"/>
              <a:t>2</a:t>
            </a:r>
            <a:r>
              <a:rPr lang="en-US" altLang="zh-CN"/>
              <a:t>) </a:t>
            </a:r>
          </a:p>
        </p:txBody>
      </p:sp>
      <p:sp>
        <p:nvSpPr>
          <p:cNvPr id="62468" name="Oval 4"/>
          <p:cNvSpPr>
            <a:spLocks noChangeArrowheads="1"/>
          </p:cNvSpPr>
          <p:nvPr/>
        </p:nvSpPr>
        <p:spPr bwMode="auto">
          <a:xfrm>
            <a:off x="3997325" y="18446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1</a:t>
            </a:r>
          </a:p>
        </p:txBody>
      </p:sp>
      <p:sp>
        <p:nvSpPr>
          <p:cNvPr id="62469" name="Oval 5"/>
          <p:cNvSpPr>
            <a:spLocks noChangeArrowheads="1"/>
          </p:cNvSpPr>
          <p:nvPr/>
        </p:nvSpPr>
        <p:spPr bwMode="auto">
          <a:xfrm>
            <a:off x="2557463" y="2708275"/>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2470" name="Oval 6"/>
          <p:cNvSpPr>
            <a:spLocks noChangeArrowheads="1"/>
          </p:cNvSpPr>
          <p:nvPr/>
        </p:nvSpPr>
        <p:spPr bwMode="auto">
          <a:xfrm>
            <a:off x="5508625" y="27082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2471" name="Oval 7"/>
          <p:cNvSpPr>
            <a:spLocks noChangeArrowheads="1"/>
          </p:cNvSpPr>
          <p:nvPr/>
        </p:nvSpPr>
        <p:spPr bwMode="auto">
          <a:xfrm>
            <a:off x="1476375" y="35718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2472" name="Oval 8"/>
          <p:cNvSpPr>
            <a:spLocks noChangeArrowheads="1"/>
          </p:cNvSpPr>
          <p:nvPr/>
        </p:nvSpPr>
        <p:spPr bwMode="auto">
          <a:xfrm>
            <a:off x="541338"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2473" name="Oval 9"/>
          <p:cNvSpPr>
            <a:spLocks noChangeArrowheads="1"/>
          </p:cNvSpPr>
          <p:nvPr/>
        </p:nvSpPr>
        <p:spPr bwMode="auto">
          <a:xfrm>
            <a:off x="1549400"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2474" name="Oval 10"/>
          <p:cNvSpPr>
            <a:spLocks noChangeArrowheads="1"/>
          </p:cNvSpPr>
          <p:nvPr/>
        </p:nvSpPr>
        <p:spPr bwMode="auto">
          <a:xfrm>
            <a:off x="5149850" y="35718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2475" name="Oval 11"/>
          <p:cNvSpPr>
            <a:spLocks noChangeArrowheads="1"/>
          </p:cNvSpPr>
          <p:nvPr/>
        </p:nvSpPr>
        <p:spPr bwMode="auto">
          <a:xfrm>
            <a:off x="6732588" y="3571875"/>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2476" name="Oval 12"/>
          <p:cNvSpPr>
            <a:spLocks noChangeArrowheads="1"/>
          </p:cNvSpPr>
          <p:nvPr/>
        </p:nvSpPr>
        <p:spPr bwMode="auto">
          <a:xfrm>
            <a:off x="5868988"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2477" name="Oval 13"/>
          <p:cNvSpPr>
            <a:spLocks noChangeArrowheads="1"/>
          </p:cNvSpPr>
          <p:nvPr/>
        </p:nvSpPr>
        <p:spPr bwMode="auto">
          <a:xfrm>
            <a:off x="6877050"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2478" name="Oval 14"/>
          <p:cNvSpPr>
            <a:spLocks noChangeArrowheads="1"/>
          </p:cNvSpPr>
          <p:nvPr/>
        </p:nvSpPr>
        <p:spPr bwMode="auto">
          <a:xfrm>
            <a:off x="4860925"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2479" name="Oval 15"/>
          <p:cNvSpPr>
            <a:spLocks noChangeArrowheads="1"/>
          </p:cNvSpPr>
          <p:nvPr/>
        </p:nvSpPr>
        <p:spPr bwMode="auto">
          <a:xfrm>
            <a:off x="7885113"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2480" name="Line 16"/>
          <p:cNvSpPr>
            <a:spLocks noChangeShapeType="1"/>
          </p:cNvSpPr>
          <p:nvPr/>
        </p:nvSpPr>
        <p:spPr bwMode="auto">
          <a:xfrm flipH="1">
            <a:off x="3348038" y="2347913"/>
            <a:ext cx="7921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81" name="Line 17"/>
          <p:cNvSpPr>
            <a:spLocks noChangeShapeType="1"/>
          </p:cNvSpPr>
          <p:nvPr/>
        </p:nvSpPr>
        <p:spPr bwMode="auto">
          <a:xfrm flipH="1">
            <a:off x="2195513" y="3211513"/>
            <a:ext cx="504825"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82" name="Line 18"/>
          <p:cNvSpPr>
            <a:spLocks noChangeShapeType="1"/>
          </p:cNvSpPr>
          <p:nvPr/>
        </p:nvSpPr>
        <p:spPr bwMode="auto">
          <a:xfrm flipH="1">
            <a:off x="1116013" y="4076700"/>
            <a:ext cx="5762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83" name="Line 19"/>
          <p:cNvSpPr>
            <a:spLocks noChangeShapeType="1"/>
          </p:cNvSpPr>
          <p:nvPr/>
        </p:nvSpPr>
        <p:spPr bwMode="auto">
          <a:xfrm>
            <a:off x="1979613" y="4148138"/>
            <a:ext cx="71437"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84" name="Line 20"/>
          <p:cNvSpPr>
            <a:spLocks noChangeShapeType="1"/>
          </p:cNvSpPr>
          <p:nvPr/>
        </p:nvSpPr>
        <p:spPr bwMode="auto">
          <a:xfrm flipH="1">
            <a:off x="5435600" y="4148138"/>
            <a:ext cx="144463"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85" name="Line 21"/>
          <p:cNvSpPr>
            <a:spLocks noChangeShapeType="1"/>
          </p:cNvSpPr>
          <p:nvPr/>
        </p:nvSpPr>
        <p:spPr bwMode="auto">
          <a:xfrm>
            <a:off x="5867400" y="4148138"/>
            <a:ext cx="360363"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86" name="Line 22"/>
          <p:cNvSpPr>
            <a:spLocks noChangeShapeType="1"/>
          </p:cNvSpPr>
          <p:nvPr/>
        </p:nvSpPr>
        <p:spPr bwMode="auto">
          <a:xfrm>
            <a:off x="7308850" y="4148138"/>
            <a:ext cx="0"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87" name="Line 23"/>
          <p:cNvSpPr>
            <a:spLocks noChangeShapeType="1"/>
          </p:cNvSpPr>
          <p:nvPr/>
        </p:nvSpPr>
        <p:spPr bwMode="auto">
          <a:xfrm>
            <a:off x="7596188" y="4076700"/>
            <a:ext cx="647700"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88" name="Line 24"/>
          <p:cNvSpPr>
            <a:spLocks noChangeShapeType="1"/>
          </p:cNvSpPr>
          <p:nvPr/>
        </p:nvSpPr>
        <p:spPr bwMode="auto">
          <a:xfrm flipH="1">
            <a:off x="5724525" y="3284538"/>
            <a:ext cx="142875" cy="28733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89" name="Line 25"/>
          <p:cNvSpPr>
            <a:spLocks noChangeShapeType="1"/>
          </p:cNvSpPr>
          <p:nvPr/>
        </p:nvSpPr>
        <p:spPr bwMode="auto">
          <a:xfrm>
            <a:off x="6372225" y="3140075"/>
            <a:ext cx="647700"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90" name="Line 26"/>
          <p:cNvSpPr>
            <a:spLocks noChangeShapeType="1"/>
          </p:cNvSpPr>
          <p:nvPr/>
        </p:nvSpPr>
        <p:spPr bwMode="auto">
          <a:xfrm>
            <a:off x="3276600" y="3284538"/>
            <a:ext cx="1008063" cy="23764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91" name="Line 27"/>
          <p:cNvSpPr>
            <a:spLocks noChangeShapeType="1"/>
          </p:cNvSpPr>
          <p:nvPr/>
        </p:nvSpPr>
        <p:spPr bwMode="auto">
          <a:xfrm>
            <a:off x="4859338" y="2276475"/>
            <a:ext cx="936625"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92" name="Line 28"/>
          <p:cNvSpPr>
            <a:spLocks noChangeShapeType="1"/>
          </p:cNvSpPr>
          <p:nvPr/>
        </p:nvSpPr>
        <p:spPr bwMode="auto">
          <a:xfrm flipH="1">
            <a:off x="5219700" y="5084763"/>
            <a:ext cx="71438"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493" name="Rectangle 29"/>
          <p:cNvSpPr>
            <a:spLocks noChangeArrowheads="1"/>
          </p:cNvSpPr>
          <p:nvPr/>
        </p:nvSpPr>
        <p:spPr bwMode="auto">
          <a:xfrm>
            <a:off x="8027988"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494" name="Rectangle 30"/>
          <p:cNvSpPr>
            <a:spLocks noChangeArrowheads="1"/>
          </p:cNvSpPr>
          <p:nvPr/>
        </p:nvSpPr>
        <p:spPr bwMode="auto">
          <a:xfrm>
            <a:off x="745172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495" name="Rectangle 31"/>
          <p:cNvSpPr>
            <a:spLocks noChangeArrowheads="1"/>
          </p:cNvSpPr>
          <p:nvPr/>
        </p:nvSpPr>
        <p:spPr bwMode="auto">
          <a:xfrm>
            <a:off x="8459788"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496" name="Rectangle 32"/>
          <p:cNvSpPr>
            <a:spLocks noChangeArrowheads="1"/>
          </p:cNvSpPr>
          <p:nvPr/>
        </p:nvSpPr>
        <p:spPr bwMode="auto">
          <a:xfrm>
            <a:off x="701992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497" name="Rectangle 33"/>
          <p:cNvSpPr>
            <a:spLocks noChangeArrowheads="1"/>
          </p:cNvSpPr>
          <p:nvPr/>
        </p:nvSpPr>
        <p:spPr bwMode="auto">
          <a:xfrm>
            <a:off x="644366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498" name="Rectangle 34"/>
          <p:cNvSpPr>
            <a:spLocks noChangeArrowheads="1"/>
          </p:cNvSpPr>
          <p:nvPr/>
        </p:nvSpPr>
        <p:spPr bwMode="auto">
          <a:xfrm>
            <a:off x="601186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499" name="Rectangle 35"/>
          <p:cNvSpPr>
            <a:spLocks noChangeArrowheads="1"/>
          </p:cNvSpPr>
          <p:nvPr/>
        </p:nvSpPr>
        <p:spPr bwMode="auto">
          <a:xfrm>
            <a:off x="54356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00" name="Rectangle 36"/>
          <p:cNvSpPr>
            <a:spLocks noChangeArrowheads="1"/>
          </p:cNvSpPr>
          <p:nvPr/>
        </p:nvSpPr>
        <p:spPr bwMode="auto">
          <a:xfrm>
            <a:off x="50038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01" name="Line 37"/>
          <p:cNvSpPr>
            <a:spLocks noChangeShapeType="1"/>
          </p:cNvSpPr>
          <p:nvPr/>
        </p:nvSpPr>
        <p:spPr bwMode="auto">
          <a:xfrm>
            <a:off x="5508625" y="5084763"/>
            <a:ext cx="71438"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02" name="Line 38"/>
          <p:cNvSpPr>
            <a:spLocks noChangeShapeType="1"/>
          </p:cNvSpPr>
          <p:nvPr/>
        </p:nvSpPr>
        <p:spPr bwMode="auto">
          <a:xfrm flipH="1">
            <a:off x="6156325" y="5084763"/>
            <a:ext cx="71438"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03" name="Line 39"/>
          <p:cNvSpPr>
            <a:spLocks noChangeShapeType="1"/>
          </p:cNvSpPr>
          <p:nvPr/>
        </p:nvSpPr>
        <p:spPr bwMode="auto">
          <a:xfrm>
            <a:off x="6443663" y="5084763"/>
            <a:ext cx="215900"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04" name="Line 40"/>
          <p:cNvSpPr>
            <a:spLocks noChangeShapeType="1"/>
          </p:cNvSpPr>
          <p:nvPr/>
        </p:nvSpPr>
        <p:spPr bwMode="auto">
          <a:xfrm flipH="1">
            <a:off x="7235825" y="5084763"/>
            <a:ext cx="73025"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05" name="Line 41"/>
          <p:cNvSpPr>
            <a:spLocks noChangeShapeType="1"/>
          </p:cNvSpPr>
          <p:nvPr/>
        </p:nvSpPr>
        <p:spPr bwMode="auto">
          <a:xfrm>
            <a:off x="7451725" y="5084763"/>
            <a:ext cx="144463"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06" name="Line 42"/>
          <p:cNvSpPr>
            <a:spLocks noChangeShapeType="1"/>
          </p:cNvSpPr>
          <p:nvPr/>
        </p:nvSpPr>
        <p:spPr bwMode="auto">
          <a:xfrm flipH="1">
            <a:off x="8172450" y="5084763"/>
            <a:ext cx="71438"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07" name="Line 43"/>
          <p:cNvSpPr>
            <a:spLocks noChangeShapeType="1"/>
          </p:cNvSpPr>
          <p:nvPr/>
        </p:nvSpPr>
        <p:spPr bwMode="auto">
          <a:xfrm>
            <a:off x="8532813" y="5084763"/>
            <a:ext cx="142875"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08" name="Rectangle 44"/>
          <p:cNvSpPr>
            <a:spLocks noChangeArrowheads="1"/>
          </p:cNvSpPr>
          <p:nvPr/>
        </p:nvSpPr>
        <p:spPr bwMode="auto">
          <a:xfrm>
            <a:off x="3419475" y="234791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09" name="Rectangle 45"/>
          <p:cNvSpPr>
            <a:spLocks noChangeArrowheads="1"/>
          </p:cNvSpPr>
          <p:nvPr/>
        </p:nvSpPr>
        <p:spPr bwMode="auto">
          <a:xfrm>
            <a:off x="2195513" y="31400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10" name="Rectangle 46"/>
          <p:cNvSpPr>
            <a:spLocks noChangeArrowheads="1"/>
          </p:cNvSpPr>
          <p:nvPr/>
        </p:nvSpPr>
        <p:spPr bwMode="auto">
          <a:xfrm>
            <a:off x="1116013" y="40767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11" name="Rectangle 47"/>
          <p:cNvSpPr>
            <a:spLocks noChangeArrowheads="1"/>
          </p:cNvSpPr>
          <p:nvPr/>
        </p:nvSpPr>
        <p:spPr bwMode="auto">
          <a:xfrm>
            <a:off x="5435600" y="321151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12" name="Rectangle 48"/>
          <p:cNvSpPr>
            <a:spLocks noChangeArrowheads="1"/>
          </p:cNvSpPr>
          <p:nvPr/>
        </p:nvSpPr>
        <p:spPr bwMode="auto">
          <a:xfrm>
            <a:off x="5148263" y="41481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13" name="Rectangle 49"/>
          <p:cNvSpPr>
            <a:spLocks noChangeArrowheads="1"/>
          </p:cNvSpPr>
          <p:nvPr/>
        </p:nvSpPr>
        <p:spPr bwMode="auto">
          <a:xfrm>
            <a:off x="6948488" y="42195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14" name="Rectangle 50"/>
          <p:cNvSpPr>
            <a:spLocks noChangeArrowheads="1"/>
          </p:cNvSpPr>
          <p:nvPr/>
        </p:nvSpPr>
        <p:spPr bwMode="auto">
          <a:xfrm>
            <a:off x="5003800" y="5156200"/>
            <a:ext cx="215900"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15" name="Rectangle 51"/>
          <p:cNvSpPr>
            <a:spLocks noChangeArrowheads="1"/>
          </p:cNvSpPr>
          <p:nvPr/>
        </p:nvSpPr>
        <p:spPr bwMode="auto">
          <a:xfrm>
            <a:off x="5940425"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16" name="Rectangle 52"/>
          <p:cNvSpPr>
            <a:spLocks noChangeArrowheads="1"/>
          </p:cNvSpPr>
          <p:nvPr/>
        </p:nvSpPr>
        <p:spPr bwMode="auto">
          <a:xfrm>
            <a:off x="7019925"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17" name="Rectangle 53"/>
          <p:cNvSpPr>
            <a:spLocks noChangeArrowheads="1"/>
          </p:cNvSpPr>
          <p:nvPr/>
        </p:nvSpPr>
        <p:spPr bwMode="auto">
          <a:xfrm>
            <a:off x="7956550" y="515620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18" name="Rectangle 54"/>
          <p:cNvSpPr>
            <a:spLocks noChangeArrowheads="1"/>
          </p:cNvSpPr>
          <p:nvPr/>
        </p:nvSpPr>
        <p:spPr bwMode="auto">
          <a:xfrm>
            <a:off x="5292725" y="220345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19" name="Rectangle 55"/>
          <p:cNvSpPr>
            <a:spLocks noChangeArrowheads="1"/>
          </p:cNvSpPr>
          <p:nvPr/>
        </p:nvSpPr>
        <p:spPr bwMode="auto">
          <a:xfrm>
            <a:off x="6659563" y="31400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20" name="Rectangle 56"/>
          <p:cNvSpPr>
            <a:spLocks noChangeArrowheads="1"/>
          </p:cNvSpPr>
          <p:nvPr/>
        </p:nvSpPr>
        <p:spPr bwMode="auto">
          <a:xfrm>
            <a:off x="7812088" y="40767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21" name="Rectangle 57"/>
          <p:cNvSpPr>
            <a:spLocks noChangeArrowheads="1"/>
          </p:cNvSpPr>
          <p:nvPr/>
        </p:nvSpPr>
        <p:spPr bwMode="auto">
          <a:xfrm>
            <a:off x="6011863" y="41481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22" name="Rectangle 58"/>
          <p:cNvSpPr>
            <a:spLocks noChangeArrowheads="1"/>
          </p:cNvSpPr>
          <p:nvPr/>
        </p:nvSpPr>
        <p:spPr bwMode="auto">
          <a:xfrm>
            <a:off x="3348038" y="3211513"/>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23" name="Rectangle 59"/>
          <p:cNvSpPr>
            <a:spLocks noChangeArrowheads="1"/>
          </p:cNvSpPr>
          <p:nvPr/>
        </p:nvSpPr>
        <p:spPr bwMode="auto">
          <a:xfrm>
            <a:off x="2051050" y="41481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24" name="Rectangle 60"/>
          <p:cNvSpPr>
            <a:spLocks noChangeArrowheads="1"/>
          </p:cNvSpPr>
          <p:nvPr/>
        </p:nvSpPr>
        <p:spPr bwMode="auto">
          <a:xfrm>
            <a:off x="5508625" y="515620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25" name="Rectangle 61"/>
          <p:cNvSpPr>
            <a:spLocks noChangeArrowheads="1"/>
          </p:cNvSpPr>
          <p:nvPr/>
        </p:nvSpPr>
        <p:spPr bwMode="auto">
          <a:xfrm>
            <a:off x="6516688" y="5227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26" name="Rectangle 62"/>
          <p:cNvSpPr>
            <a:spLocks noChangeArrowheads="1"/>
          </p:cNvSpPr>
          <p:nvPr/>
        </p:nvSpPr>
        <p:spPr bwMode="auto">
          <a:xfrm>
            <a:off x="7451725"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27" name="Rectangle 63"/>
          <p:cNvSpPr>
            <a:spLocks noChangeArrowheads="1"/>
          </p:cNvSpPr>
          <p:nvPr/>
        </p:nvSpPr>
        <p:spPr bwMode="auto">
          <a:xfrm>
            <a:off x="8532813" y="51562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28" name="Line 64"/>
          <p:cNvSpPr>
            <a:spLocks noChangeShapeType="1"/>
          </p:cNvSpPr>
          <p:nvPr/>
        </p:nvSpPr>
        <p:spPr bwMode="auto">
          <a:xfrm flipH="1">
            <a:off x="900113"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29" name="Rectangle 65"/>
          <p:cNvSpPr>
            <a:spLocks noChangeArrowheads="1"/>
          </p:cNvSpPr>
          <p:nvPr/>
        </p:nvSpPr>
        <p:spPr bwMode="auto">
          <a:xfrm>
            <a:off x="41402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30" name="Rectangle 66"/>
          <p:cNvSpPr>
            <a:spLocks noChangeArrowheads="1"/>
          </p:cNvSpPr>
          <p:nvPr/>
        </p:nvSpPr>
        <p:spPr bwMode="auto">
          <a:xfrm>
            <a:off x="212407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31" name="Rectangle 67"/>
          <p:cNvSpPr>
            <a:spLocks noChangeArrowheads="1"/>
          </p:cNvSpPr>
          <p:nvPr/>
        </p:nvSpPr>
        <p:spPr bwMode="auto">
          <a:xfrm>
            <a:off x="169227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32" name="Rectangle 68"/>
          <p:cNvSpPr>
            <a:spLocks noChangeArrowheads="1"/>
          </p:cNvSpPr>
          <p:nvPr/>
        </p:nvSpPr>
        <p:spPr bwMode="auto">
          <a:xfrm>
            <a:off x="111601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33" name="Rectangle 69"/>
          <p:cNvSpPr>
            <a:spLocks noChangeArrowheads="1"/>
          </p:cNvSpPr>
          <p:nvPr/>
        </p:nvSpPr>
        <p:spPr bwMode="auto">
          <a:xfrm>
            <a:off x="68421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34" name="Line 70"/>
          <p:cNvSpPr>
            <a:spLocks noChangeShapeType="1"/>
          </p:cNvSpPr>
          <p:nvPr/>
        </p:nvSpPr>
        <p:spPr bwMode="auto">
          <a:xfrm>
            <a:off x="1189038"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35" name="Line 71"/>
          <p:cNvSpPr>
            <a:spLocks noChangeShapeType="1"/>
          </p:cNvSpPr>
          <p:nvPr/>
        </p:nvSpPr>
        <p:spPr bwMode="auto">
          <a:xfrm flipH="1">
            <a:off x="1836738"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36" name="Line 72"/>
          <p:cNvSpPr>
            <a:spLocks noChangeShapeType="1"/>
          </p:cNvSpPr>
          <p:nvPr/>
        </p:nvSpPr>
        <p:spPr bwMode="auto">
          <a:xfrm>
            <a:off x="2124075" y="5084763"/>
            <a:ext cx="215900"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537" name="Rectangle 73"/>
          <p:cNvSpPr>
            <a:spLocks noChangeArrowheads="1"/>
          </p:cNvSpPr>
          <p:nvPr/>
        </p:nvSpPr>
        <p:spPr bwMode="auto">
          <a:xfrm>
            <a:off x="684213" y="5156200"/>
            <a:ext cx="215900"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38" name="Rectangle 74"/>
          <p:cNvSpPr>
            <a:spLocks noChangeArrowheads="1"/>
          </p:cNvSpPr>
          <p:nvPr/>
        </p:nvSpPr>
        <p:spPr bwMode="auto">
          <a:xfrm>
            <a:off x="1620838" y="5227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2539" name="Rectangle 75"/>
          <p:cNvSpPr>
            <a:spLocks noChangeArrowheads="1"/>
          </p:cNvSpPr>
          <p:nvPr/>
        </p:nvSpPr>
        <p:spPr bwMode="auto">
          <a:xfrm>
            <a:off x="1189038" y="51562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40" name="Rectangle 76"/>
          <p:cNvSpPr>
            <a:spLocks noChangeArrowheads="1"/>
          </p:cNvSpPr>
          <p:nvPr/>
        </p:nvSpPr>
        <p:spPr bwMode="auto">
          <a:xfrm>
            <a:off x="2197100"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2541" name="Rectangle 77"/>
          <p:cNvSpPr>
            <a:spLocks noGrp="1" noChangeArrowheads="1"/>
          </p:cNvSpPr>
          <p:nvPr>
            <p:ph type="title"/>
          </p:nvPr>
        </p:nvSpPr>
        <p:spPr/>
        <p:txBody>
          <a:bodyPr/>
          <a:lstStyle/>
          <a:p>
            <a:r>
              <a:rPr lang="en-US" altLang="zh-CN">
                <a:latin typeface="Arial" charset="0"/>
              </a:rPr>
              <a:t>Reduced Ordered BDD</a:t>
            </a:r>
          </a:p>
        </p:txBody>
      </p:sp>
    </p:spTree>
    <p:extLst>
      <p:ext uri="{BB962C8B-B14F-4D97-AF65-F5344CB8AC3E}">
        <p14:creationId xmlns:p14="http://schemas.microsoft.com/office/powerpoint/2010/main" val="301795692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body" idx="1"/>
          </p:nvPr>
        </p:nvSpPr>
        <p:spPr>
          <a:xfrm>
            <a:off x="2555875" y="6092825"/>
            <a:ext cx="3959225" cy="647700"/>
          </a:xfrm>
          <a:noFill/>
          <a:ln/>
        </p:spPr>
        <p:txBody>
          <a:bodyPr/>
          <a:lstStyle/>
          <a:p>
            <a:pPr>
              <a:buFont typeface="Wingdings" pitchFamily="2" charset="2"/>
              <a:buNone/>
            </a:pPr>
            <a:r>
              <a:rPr lang="en-US" altLang="zh-CN"/>
              <a:t>(a</a:t>
            </a:r>
            <a:r>
              <a:rPr lang="en-US" altLang="zh-CN" baseline="-25000"/>
              <a:t>1</a:t>
            </a:r>
            <a:r>
              <a:rPr lang="en-US" altLang="zh-CN"/>
              <a:t> </a:t>
            </a:r>
            <a:r>
              <a:rPr lang="en-US" altLang="zh-CN">
                <a:sym typeface="Symbol" pitchFamily="18" charset="2"/>
              </a:rPr>
              <a:t> b</a:t>
            </a:r>
            <a:r>
              <a:rPr lang="en-US" altLang="zh-CN" baseline="-25000">
                <a:sym typeface="Symbol" pitchFamily="18" charset="2"/>
              </a:rPr>
              <a:t>1</a:t>
            </a:r>
            <a:r>
              <a:rPr lang="en-US" altLang="zh-CN"/>
              <a:t>) </a:t>
            </a:r>
            <a:r>
              <a:rPr lang="en-US" altLang="zh-CN" sz="2800">
                <a:latin typeface="Book Antiqua" pitchFamily="18" charset="0"/>
                <a:ea typeface="MingLiU" pitchFamily="49" charset="-120"/>
                <a:sym typeface="Symbol" pitchFamily="18" charset="2"/>
              </a:rPr>
              <a:t> </a:t>
            </a:r>
            <a:r>
              <a:rPr lang="en-US" altLang="zh-CN"/>
              <a:t>(a</a:t>
            </a:r>
            <a:r>
              <a:rPr lang="en-US" altLang="zh-CN" baseline="-25000"/>
              <a:t>2</a:t>
            </a:r>
            <a:r>
              <a:rPr lang="en-US" altLang="zh-CN"/>
              <a:t> </a:t>
            </a:r>
            <a:r>
              <a:rPr lang="en-US" altLang="zh-CN">
                <a:sym typeface="Symbol" pitchFamily="18" charset="2"/>
              </a:rPr>
              <a:t> </a:t>
            </a:r>
            <a:r>
              <a:rPr lang="en-US" altLang="zh-CN"/>
              <a:t>b</a:t>
            </a:r>
            <a:r>
              <a:rPr lang="en-US" altLang="zh-CN" baseline="-25000"/>
              <a:t>2</a:t>
            </a:r>
            <a:r>
              <a:rPr lang="en-US" altLang="zh-CN"/>
              <a:t>) </a:t>
            </a:r>
          </a:p>
        </p:txBody>
      </p:sp>
      <p:sp>
        <p:nvSpPr>
          <p:cNvPr id="63492" name="Oval 4"/>
          <p:cNvSpPr>
            <a:spLocks noChangeArrowheads="1"/>
          </p:cNvSpPr>
          <p:nvPr/>
        </p:nvSpPr>
        <p:spPr bwMode="auto">
          <a:xfrm>
            <a:off x="3997325" y="18446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1</a:t>
            </a:r>
          </a:p>
        </p:txBody>
      </p:sp>
      <p:sp>
        <p:nvSpPr>
          <p:cNvPr id="63493" name="Oval 5"/>
          <p:cNvSpPr>
            <a:spLocks noChangeArrowheads="1"/>
          </p:cNvSpPr>
          <p:nvPr/>
        </p:nvSpPr>
        <p:spPr bwMode="auto">
          <a:xfrm>
            <a:off x="2557463" y="2708275"/>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3494" name="Oval 6"/>
          <p:cNvSpPr>
            <a:spLocks noChangeArrowheads="1"/>
          </p:cNvSpPr>
          <p:nvPr/>
        </p:nvSpPr>
        <p:spPr bwMode="auto">
          <a:xfrm>
            <a:off x="5508625" y="27082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3495" name="Oval 7"/>
          <p:cNvSpPr>
            <a:spLocks noChangeArrowheads="1"/>
          </p:cNvSpPr>
          <p:nvPr/>
        </p:nvSpPr>
        <p:spPr bwMode="auto">
          <a:xfrm>
            <a:off x="1476375" y="35718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3496" name="Oval 8"/>
          <p:cNvSpPr>
            <a:spLocks noChangeArrowheads="1"/>
          </p:cNvSpPr>
          <p:nvPr/>
        </p:nvSpPr>
        <p:spPr bwMode="auto">
          <a:xfrm>
            <a:off x="541338"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3497" name="Oval 9"/>
          <p:cNvSpPr>
            <a:spLocks noChangeArrowheads="1"/>
          </p:cNvSpPr>
          <p:nvPr/>
        </p:nvSpPr>
        <p:spPr bwMode="auto">
          <a:xfrm>
            <a:off x="1549400"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3498" name="Oval 10"/>
          <p:cNvSpPr>
            <a:spLocks noChangeArrowheads="1"/>
          </p:cNvSpPr>
          <p:nvPr/>
        </p:nvSpPr>
        <p:spPr bwMode="auto">
          <a:xfrm>
            <a:off x="6732588" y="3571875"/>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3499" name="Oval 11"/>
          <p:cNvSpPr>
            <a:spLocks noChangeArrowheads="1"/>
          </p:cNvSpPr>
          <p:nvPr/>
        </p:nvSpPr>
        <p:spPr bwMode="auto">
          <a:xfrm>
            <a:off x="6877050"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3500" name="Oval 12"/>
          <p:cNvSpPr>
            <a:spLocks noChangeArrowheads="1"/>
          </p:cNvSpPr>
          <p:nvPr/>
        </p:nvSpPr>
        <p:spPr bwMode="auto">
          <a:xfrm>
            <a:off x="7885113"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3501" name="Line 13"/>
          <p:cNvSpPr>
            <a:spLocks noChangeShapeType="1"/>
          </p:cNvSpPr>
          <p:nvPr/>
        </p:nvSpPr>
        <p:spPr bwMode="auto">
          <a:xfrm flipH="1">
            <a:off x="3348038" y="2347913"/>
            <a:ext cx="7921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2" name="Line 14"/>
          <p:cNvSpPr>
            <a:spLocks noChangeShapeType="1"/>
          </p:cNvSpPr>
          <p:nvPr/>
        </p:nvSpPr>
        <p:spPr bwMode="auto">
          <a:xfrm flipH="1">
            <a:off x="2195513" y="3211513"/>
            <a:ext cx="504825"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3" name="Line 15"/>
          <p:cNvSpPr>
            <a:spLocks noChangeShapeType="1"/>
          </p:cNvSpPr>
          <p:nvPr/>
        </p:nvSpPr>
        <p:spPr bwMode="auto">
          <a:xfrm flipH="1">
            <a:off x="1116013" y="4076700"/>
            <a:ext cx="5762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4" name="Line 16"/>
          <p:cNvSpPr>
            <a:spLocks noChangeShapeType="1"/>
          </p:cNvSpPr>
          <p:nvPr/>
        </p:nvSpPr>
        <p:spPr bwMode="auto">
          <a:xfrm>
            <a:off x="1979613" y="4148138"/>
            <a:ext cx="71437"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5" name="Line 17"/>
          <p:cNvSpPr>
            <a:spLocks noChangeShapeType="1"/>
          </p:cNvSpPr>
          <p:nvPr/>
        </p:nvSpPr>
        <p:spPr bwMode="auto">
          <a:xfrm>
            <a:off x="7308850" y="4148138"/>
            <a:ext cx="0"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6" name="Line 18"/>
          <p:cNvSpPr>
            <a:spLocks noChangeShapeType="1"/>
          </p:cNvSpPr>
          <p:nvPr/>
        </p:nvSpPr>
        <p:spPr bwMode="auto">
          <a:xfrm>
            <a:off x="7596188" y="4076700"/>
            <a:ext cx="647700"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7" name="Line 19"/>
          <p:cNvSpPr>
            <a:spLocks noChangeShapeType="1"/>
          </p:cNvSpPr>
          <p:nvPr/>
        </p:nvSpPr>
        <p:spPr bwMode="auto">
          <a:xfrm flipH="1">
            <a:off x="4284663" y="3284538"/>
            <a:ext cx="1582737" cy="23764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8" name="Line 20"/>
          <p:cNvSpPr>
            <a:spLocks noChangeShapeType="1"/>
          </p:cNvSpPr>
          <p:nvPr/>
        </p:nvSpPr>
        <p:spPr bwMode="auto">
          <a:xfrm>
            <a:off x="6372225" y="3140075"/>
            <a:ext cx="647700"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09" name="Line 21"/>
          <p:cNvSpPr>
            <a:spLocks noChangeShapeType="1"/>
          </p:cNvSpPr>
          <p:nvPr/>
        </p:nvSpPr>
        <p:spPr bwMode="auto">
          <a:xfrm>
            <a:off x="3276600" y="3284538"/>
            <a:ext cx="1008063" cy="23764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0" name="Line 22"/>
          <p:cNvSpPr>
            <a:spLocks noChangeShapeType="1"/>
          </p:cNvSpPr>
          <p:nvPr/>
        </p:nvSpPr>
        <p:spPr bwMode="auto">
          <a:xfrm>
            <a:off x="4859338" y="2276475"/>
            <a:ext cx="936625"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1" name="Rectangle 23"/>
          <p:cNvSpPr>
            <a:spLocks noChangeArrowheads="1"/>
          </p:cNvSpPr>
          <p:nvPr/>
        </p:nvSpPr>
        <p:spPr bwMode="auto">
          <a:xfrm>
            <a:off x="8027988"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12" name="Rectangle 24"/>
          <p:cNvSpPr>
            <a:spLocks noChangeArrowheads="1"/>
          </p:cNvSpPr>
          <p:nvPr/>
        </p:nvSpPr>
        <p:spPr bwMode="auto">
          <a:xfrm>
            <a:off x="745172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13" name="Rectangle 25"/>
          <p:cNvSpPr>
            <a:spLocks noChangeArrowheads="1"/>
          </p:cNvSpPr>
          <p:nvPr/>
        </p:nvSpPr>
        <p:spPr bwMode="auto">
          <a:xfrm>
            <a:off x="8459788"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14" name="Rectangle 26"/>
          <p:cNvSpPr>
            <a:spLocks noChangeArrowheads="1"/>
          </p:cNvSpPr>
          <p:nvPr/>
        </p:nvSpPr>
        <p:spPr bwMode="auto">
          <a:xfrm>
            <a:off x="701992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15" name="Line 27"/>
          <p:cNvSpPr>
            <a:spLocks noChangeShapeType="1"/>
          </p:cNvSpPr>
          <p:nvPr/>
        </p:nvSpPr>
        <p:spPr bwMode="auto">
          <a:xfrm flipH="1">
            <a:off x="7235825" y="5084763"/>
            <a:ext cx="73025"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6" name="Line 28"/>
          <p:cNvSpPr>
            <a:spLocks noChangeShapeType="1"/>
          </p:cNvSpPr>
          <p:nvPr/>
        </p:nvSpPr>
        <p:spPr bwMode="auto">
          <a:xfrm>
            <a:off x="7451725" y="5084763"/>
            <a:ext cx="144463"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7" name="Line 29"/>
          <p:cNvSpPr>
            <a:spLocks noChangeShapeType="1"/>
          </p:cNvSpPr>
          <p:nvPr/>
        </p:nvSpPr>
        <p:spPr bwMode="auto">
          <a:xfrm flipH="1">
            <a:off x="8172450" y="5084763"/>
            <a:ext cx="71438"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8" name="Line 30"/>
          <p:cNvSpPr>
            <a:spLocks noChangeShapeType="1"/>
          </p:cNvSpPr>
          <p:nvPr/>
        </p:nvSpPr>
        <p:spPr bwMode="auto">
          <a:xfrm>
            <a:off x="8532813" y="5084763"/>
            <a:ext cx="142875"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19" name="Rectangle 31"/>
          <p:cNvSpPr>
            <a:spLocks noChangeArrowheads="1"/>
          </p:cNvSpPr>
          <p:nvPr/>
        </p:nvSpPr>
        <p:spPr bwMode="auto">
          <a:xfrm>
            <a:off x="3419475" y="234791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20" name="Rectangle 32"/>
          <p:cNvSpPr>
            <a:spLocks noChangeArrowheads="1"/>
          </p:cNvSpPr>
          <p:nvPr/>
        </p:nvSpPr>
        <p:spPr bwMode="auto">
          <a:xfrm>
            <a:off x="2195513" y="31400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21" name="Rectangle 33"/>
          <p:cNvSpPr>
            <a:spLocks noChangeArrowheads="1"/>
          </p:cNvSpPr>
          <p:nvPr/>
        </p:nvSpPr>
        <p:spPr bwMode="auto">
          <a:xfrm>
            <a:off x="1116013" y="40767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22" name="Rectangle 34"/>
          <p:cNvSpPr>
            <a:spLocks noChangeArrowheads="1"/>
          </p:cNvSpPr>
          <p:nvPr/>
        </p:nvSpPr>
        <p:spPr bwMode="auto">
          <a:xfrm>
            <a:off x="5435600" y="321151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23" name="Rectangle 35"/>
          <p:cNvSpPr>
            <a:spLocks noChangeArrowheads="1"/>
          </p:cNvSpPr>
          <p:nvPr/>
        </p:nvSpPr>
        <p:spPr bwMode="auto">
          <a:xfrm>
            <a:off x="6948488" y="42195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24" name="Rectangle 36"/>
          <p:cNvSpPr>
            <a:spLocks noChangeArrowheads="1"/>
          </p:cNvSpPr>
          <p:nvPr/>
        </p:nvSpPr>
        <p:spPr bwMode="auto">
          <a:xfrm>
            <a:off x="7019925"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25" name="Rectangle 37"/>
          <p:cNvSpPr>
            <a:spLocks noChangeArrowheads="1"/>
          </p:cNvSpPr>
          <p:nvPr/>
        </p:nvSpPr>
        <p:spPr bwMode="auto">
          <a:xfrm>
            <a:off x="7956550" y="515620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26" name="Rectangle 38"/>
          <p:cNvSpPr>
            <a:spLocks noChangeArrowheads="1"/>
          </p:cNvSpPr>
          <p:nvPr/>
        </p:nvSpPr>
        <p:spPr bwMode="auto">
          <a:xfrm>
            <a:off x="5292725" y="220345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27" name="Rectangle 39"/>
          <p:cNvSpPr>
            <a:spLocks noChangeArrowheads="1"/>
          </p:cNvSpPr>
          <p:nvPr/>
        </p:nvSpPr>
        <p:spPr bwMode="auto">
          <a:xfrm>
            <a:off x="6659563" y="31400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28" name="Rectangle 40"/>
          <p:cNvSpPr>
            <a:spLocks noChangeArrowheads="1"/>
          </p:cNvSpPr>
          <p:nvPr/>
        </p:nvSpPr>
        <p:spPr bwMode="auto">
          <a:xfrm>
            <a:off x="7812088" y="40767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29" name="Rectangle 41"/>
          <p:cNvSpPr>
            <a:spLocks noChangeArrowheads="1"/>
          </p:cNvSpPr>
          <p:nvPr/>
        </p:nvSpPr>
        <p:spPr bwMode="auto">
          <a:xfrm>
            <a:off x="3348038" y="3211513"/>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30" name="Rectangle 42"/>
          <p:cNvSpPr>
            <a:spLocks noChangeArrowheads="1"/>
          </p:cNvSpPr>
          <p:nvPr/>
        </p:nvSpPr>
        <p:spPr bwMode="auto">
          <a:xfrm>
            <a:off x="2051050" y="41481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31" name="Rectangle 43"/>
          <p:cNvSpPr>
            <a:spLocks noChangeArrowheads="1"/>
          </p:cNvSpPr>
          <p:nvPr/>
        </p:nvSpPr>
        <p:spPr bwMode="auto">
          <a:xfrm>
            <a:off x="7451725"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32" name="Rectangle 44"/>
          <p:cNvSpPr>
            <a:spLocks noChangeArrowheads="1"/>
          </p:cNvSpPr>
          <p:nvPr/>
        </p:nvSpPr>
        <p:spPr bwMode="auto">
          <a:xfrm>
            <a:off x="8532813" y="51562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33" name="Line 45"/>
          <p:cNvSpPr>
            <a:spLocks noChangeShapeType="1"/>
          </p:cNvSpPr>
          <p:nvPr/>
        </p:nvSpPr>
        <p:spPr bwMode="auto">
          <a:xfrm flipH="1">
            <a:off x="900113"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34" name="Rectangle 46"/>
          <p:cNvSpPr>
            <a:spLocks noChangeArrowheads="1"/>
          </p:cNvSpPr>
          <p:nvPr/>
        </p:nvSpPr>
        <p:spPr bwMode="auto">
          <a:xfrm>
            <a:off x="41402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35" name="Rectangle 47"/>
          <p:cNvSpPr>
            <a:spLocks noChangeArrowheads="1"/>
          </p:cNvSpPr>
          <p:nvPr/>
        </p:nvSpPr>
        <p:spPr bwMode="auto">
          <a:xfrm>
            <a:off x="212407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36" name="Rectangle 48"/>
          <p:cNvSpPr>
            <a:spLocks noChangeArrowheads="1"/>
          </p:cNvSpPr>
          <p:nvPr/>
        </p:nvSpPr>
        <p:spPr bwMode="auto">
          <a:xfrm>
            <a:off x="169227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37" name="Rectangle 49"/>
          <p:cNvSpPr>
            <a:spLocks noChangeArrowheads="1"/>
          </p:cNvSpPr>
          <p:nvPr/>
        </p:nvSpPr>
        <p:spPr bwMode="auto">
          <a:xfrm>
            <a:off x="111601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38" name="Rectangle 50"/>
          <p:cNvSpPr>
            <a:spLocks noChangeArrowheads="1"/>
          </p:cNvSpPr>
          <p:nvPr/>
        </p:nvSpPr>
        <p:spPr bwMode="auto">
          <a:xfrm>
            <a:off x="68421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39" name="Line 51"/>
          <p:cNvSpPr>
            <a:spLocks noChangeShapeType="1"/>
          </p:cNvSpPr>
          <p:nvPr/>
        </p:nvSpPr>
        <p:spPr bwMode="auto">
          <a:xfrm>
            <a:off x="1189038"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40" name="Line 52"/>
          <p:cNvSpPr>
            <a:spLocks noChangeShapeType="1"/>
          </p:cNvSpPr>
          <p:nvPr/>
        </p:nvSpPr>
        <p:spPr bwMode="auto">
          <a:xfrm flipH="1">
            <a:off x="1836738"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41" name="Line 53"/>
          <p:cNvSpPr>
            <a:spLocks noChangeShapeType="1"/>
          </p:cNvSpPr>
          <p:nvPr/>
        </p:nvSpPr>
        <p:spPr bwMode="auto">
          <a:xfrm>
            <a:off x="2124075" y="5084763"/>
            <a:ext cx="215900"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3542" name="Rectangle 54"/>
          <p:cNvSpPr>
            <a:spLocks noChangeArrowheads="1"/>
          </p:cNvSpPr>
          <p:nvPr/>
        </p:nvSpPr>
        <p:spPr bwMode="auto">
          <a:xfrm>
            <a:off x="684213" y="5156200"/>
            <a:ext cx="215900"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43" name="Rectangle 55"/>
          <p:cNvSpPr>
            <a:spLocks noChangeArrowheads="1"/>
          </p:cNvSpPr>
          <p:nvPr/>
        </p:nvSpPr>
        <p:spPr bwMode="auto">
          <a:xfrm>
            <a:off x="1620838" y="5227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3544" name="Rectangle 56"/>
          <p:cNvSpPr>
            <a:spLocks noChangeArrowheads="1"/>
          </p:cNvSpPr>
          <p:nvPr/>
        </p:nvSpPr>
        <p:spPr bwMode="auto">
          <a:xfrm>
            <a:off x="1189038" y="51562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45" name="Rectangle 57"/>
          <p:cNvSpPr>
            <a:spLocks noChangeArrowheads="1"/>
          </p:cNvSpPr>
          <p:nvPr/>
        </p:nvSpPr>
        <p:spPr bwMode="auto">
          <a:xfrm>
            <a:off x="2197100"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3546" name="Rectangle 58"/>
          <p:cNvSpPr>
            <a:spLocks noGrp="1" noChangeArrowheads="1"/>
          </p:cNvSpPr>
          <p:nvPr>
            <p:ph type="title"/>
          </p:nvPr>
        </p:nvSpPr>
        <p:spPr/>
        <p:txBody>
          <a:bodyPr/>
          <a:lstStyle/>
          <a:p>
            <a:r>
              <a:rPr lang="en-US" altLang="zh-CN">
                <a:latin typeface="Arial" charset="0"/>
              </a:rPr>
              <a:t>Reduced Ordered BDD</a:t>
            </a:r>
          </a:p>
        </p:txBody>
      </p:sp>
    </p:spTree>
    <p:extLst>
      <p:ext uri="{BB962C8B-B14F-4D97-AF65-F5344CB8AC3E}">
        <p14:creationId xmlns:p14="http://schemas.microsoft.com/office/powerpoint/2010/main" val="45959671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body" idx="1"/>
          </p:nvPr>
        </p:nvSpPr>
        <p:spPr>
          <a:xfrm>
            <a:off x="2555875" y="6165850"/>
            <a:ext cx="3959225" cy="647700"/>
          </a:xfrm>
          <a:noFill/>
          <a:ln/>
        </p:spPr>
        <p:txBody>
          <a:bodyPr/>
          <a:lstStyle/>
          <a:p>
            <a:pPr>
              <a:buFont typeface="Wingdings" pitchFamily="2" charset="2"/>
              <a:buNone/>
            </a:pPr>
            <a:r>
              <a:rPr lang="en-US" altLang="zh-CN"/>
              <a:t>(a</a:t>
            </a:r>
            <a:r>
              <a:rPr lang="en-US" altLang="zh-CN" baseline="-25000"/>
              <a:t>1</a:t>
            </a:r>
            <a:r>
              <a:rPr lang="en-US" altLang="zh-CN"/>
              <a:t> </a:t>
            </a:r>
            <a:r>
              <a:rPr lang="en-US" altLang="zh-CN">
                <a:sym typeface="Symbol" pitchFamily="18" charset="2"/>
              </a:rPr>
              <a:t> b</a:t>
            </a:r>
            <a:r>
              <a:rPr lang="en-US" altLang="zh-CN" baseline="-25000">
                <a:sym typeface="Symbol" pitchFamily="18" charset="2"/>
              </a:rPr>
              <a:t>1</a:t>
            </a:r>
            <a:r>
              <a:rPr lang="en-US" altLang="zh-CN"/>
              <a:t>) </a:t>
            </a:r>
            <a:r>
              <a:rPr lang="en-US" altLang="zh-CN" sz="2800">
                <a:latin typeface="Book Antiqua" pitchFamily="18" charset="0"/>
                <a:ea typeface="MingLiU" pitchFamily="49" charset="-120"/>
                <a:sym typeface="Symbol" pitchFamily="18" charset="2"/>
              </a:rPr>
              <a:t> </a:t>
            </a:r>
            <a:r>
              <a:rPr lang="en-US" altLang="zh-CN"/>
              <a:t>(a</a:t>
            </a:r>
            <a:r>
              <a:rPr lang="en-US" altLang="zh-CN" baseline="-25000"/>
              <a:t>2</a:t>
            </a:r>
            <a:r>
              <a:rPr lang="en-US" altLang="zh-CN"/>
              <a:t> </a:t>
            </a:r>
            <a:r>
              <a:rPr lang="en-US" altLang="zh-CN">
                <a:sym typeface="Symbol" pitchFamily="18" charset="2"/>
              </a:rPr>
              <a:t> </a:t>
            </a:r>
            <a:r>
              <a:rPr lang="en-US" altLang="zh-CN"/>
              <a:t>b</a:t>
            </a:r>
            <a:r>
              <a:rPr lang="en-US" altLang="zh-CN" baseline="-25000"/>
              <a:t>2</a:t>
            </a:r>
            <a:r>
              <a:rPr lang="en-US" altLang="zh-CN"/>
              <a:t>) </a:t>
            </a:r>
          </a:p>
        </p:txBody>
      </p:sp>
      <p:sp>
        <p:nvSpPr>
          <p:cNvPr id="64516" name="Oval 4"/>
          <p:cNvSpPr>
            <a:spLocks noChangeArrowheads="1"/>
          </p:cNvSpPr>
          <p:nvPr/>
        </p:nvSpPr>
        <p:spPr bwMode="auto">
          <a:xfrm>
            <a:off x="3997325" y="18446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1</a:t>
            </a:r>
          </a:p>
        </p:txBody>
      </p:sp>
      <p:sp>
        <p:nvSpPr>
          <p:cNvPr id="64517" name="Oval 5"/>
          <p:cNvSpPr>
            <a:spLocks noChangeArrowheads="1"/>
          </p:cNvSpPr>
          <p:nvPr/>
        </p:nvSpPr>
        <p:spPr bwMode="auto">
          <a:xfrm>
            <a:off x="2557463" y="2708275"/>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4518" name="Oval 6"/>
          <p:cNvSpPr>
            <a:spLocks noChangeArrowheads="1"/>
          </p:cNvSpPr>
          <p:nvPr/>
        </p:nvSpPr>
        <p:spPr bwMode="auto">
          <a:xfrm>
            <a:off x="5508625" y="27082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4519" name="Oval 7"/>
          <p:cNvSpPr>
            <a:spLocks noChangeArrowheads="1"/>
          </p:cNvSpPr>
          <p:nvPr/>
        </p:nvSpPr>
        <p:spPr bwMode="auto">
          <a:xfrm>
            <a:off x="1476375" y="35718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4520" name="Oval 8"/>
          <p:cNvSpPr>
            <a:spLocks noChangeArrowheads="1"/>
          </p:cNvSpPr>
          <p:nvPr/>
        </p:nvSpPr>
        <p:spPr bwMode="auto">
          <a:xfrm>
            <a:off x="541338"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4521" name="Oval 9"/>
          <p:cNvSpPr>
            <a:spLocks noChangeArrowheads="1"/>
          </p:cNvSpPr>
          <p:nvPr/>
        </p:nvSpPr>
        <p:spPr bwMode="auto">
          <a:xfrm>
            <a:off x="1549400"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4522" name="Line 10"/>
          <p:cNvSpPr>
            <a:spLocks noChangeShapeType="1"/>
          </p:cNvSpPr>
          <p:nvPr/>
        </p:nvSpPr>
        <p:spPr bwMode="auto">
          <a:xfrm flipH="1">
            <a:off x="3348038" y="2347913"/>
            <a:ext cx="7921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23" name="Line 11"/>
          <p:cNvSpPr>
            <a:spLocks noChangeShapeType="1"/>
          </p:cNvSpPr>
          <p:nvPr/>
        </p:nvSpPr>
        <p:spPr bwMode="auto">
          <a:xfrm flipH="1">
            <a:off x="2195513" y="3211513"/>
            <a:ext cx="504825"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24" name="Line 12"/>
          <p:cNvSpPr>
            <a:spLocks noChangeShapeType="1"/>
          </p:cNvSpPr>
          <p:nvPr/>
        </p:nvSpPr>
        <p:spPr bwMode="auto">
          <a:xfrm flipH="1">
            <a:off x="1116013" y="4076700"/>
            <a:ext cx="5762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25" name="Line 13"/>
          <p:cNvSpPr>
            <a:spLocks noChangeShapeType="1"/>
          </p:cNvSpPr>
          <p:nvPr/>
        </p:nvSpPr>
        <p:spPr bwMode="auto">
          <a:xfrm>
            <a:off x="1979613" y="4148138"/>
            <a:ext cx="71437"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26" name="Line 14"/>
          <p:cNvSpPr>
            <a:spLocks noChangeShapeType="1"/>
          </p:cNvSpPr>
          <p:nvPr/>
        </p:nvSpPr>
        <p:spPr bwMode="auto">
          <a:xfrm flipH="1">
            <a:off x="4356100" y="3284538"/>
            <a:ext cx="1511300" cy="23764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27" name="Line 15"/>
          <p:cNvSpPr>
            <a:spLocks noChangeShapeType="1"/>
          </p:cNvSpPr>
          <p:nvPr/>
        </p:nvSpPr>
        <p:spPr bwMode="auto">
          <a:xfrm flipH="1">
            <a:off x="2339975" y="3284538"/>
            <a:ext cx="3744913"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28" name="Line 16"/>
          <p:cNvSpPr>
            <a:spLocks noChangeShapeType="1"/>
          </p:cNvSpPr>
          <p:nvPr/>
        </p:nvSpPr>
        <p:spPr bwMode="auto">
          <a:xfrm>
            <a:off x="3276600" y="3284538"/>
            <a:ext cx="1008063" cy="23764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29" name="Line 17"/>
          <p:cNvSpPr>
            <a:spLocks noChangeShapeType="1"/>
          </p:cNvSpPr>
          <p:nvPr/>
        </p:nvSpPr>
        <p:spPr bwMode="auto">
          <a:xfrm>
            <a:off x="4859338" y="2276475"/>
            <a:ext cx="936625"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30" name="Rectangle 18"/>
          <p:cNvSpPr>
            <a:spLocks noChangeArrowheads="1"/>
          </p:cNvSpPr>
          <p:nvPr/>
        </p:nvSpPr>
        <p:spPr bwMode="auto">
          <a:xfrm>
            <a:off x="3419475" y="234791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4531" name="Rectangle 19"/>
          <p:cNvSpPr>
            <a:spLocks noChangeArrowheads="1"/>
          </p:cNvSpPr>
          <p:nvPr/>
        </p:nvSpPr>
        <p:spPr bwMode="auto">
          <a:xfrm>
            <a:off x="2195513" y="31400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4532" name="Rectangle 20"/>
          <p:cNvSpPr>
            <a:spLocks noChangeArrowheads="1"/>
          </p:cNvSpPr>
          <p:nvPr/>
        </p:nvSpPr>
        <p:spPr bwMode="auto">
          <a:xfrm>
            <a:off x="1116013" y="40767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4533" name="Rectangle 21"/>
          <p:cNvSpPr>
            <a:spLocks noChangeArrowheads="1"/>
          </p:cNvSpPr>
          <p:nvPr/>
        </p:nvSpPr>
        <p:spPr bwMode="auto">
          <a:xfrm>
            <a:off x="5435600" y="321151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4534" name="Rectangle 22"/>
          <p:cNvSpPr>
            <a:spLocks noChangeArrowheads="1"/>
          </p:cNvSpPr>
          <p:nvPr/>
        </p:nvSpPr>
        <p:spPr bwMode="auto">
          <a:xfrm>
            <a:off x="5292725" y="220345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4535" name="Rectangle 23"/>
          <p:cNvSpPr>
            <a:spLocks noChangeArrowheads="1"/>
          </p:cNvSpPr>
          <p:nvPr/>
        </p:nvSpPr>
        <p:spPr bwMode="auto">
          <a:xfrm>
            <a:off x="4643438" y="3068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4536" name="Rectangle 24"/>
          <p:cNvSpPr>
            <a:spLocks noChangeArrowheads="1"/>
          </p:cNvSpPr>
          <p:nvPr/>
        </p:nvSpPr>
        <p:spPr bwMode="auto">
          <a:xfrm>
            <a:off x="3348038" y="3211513"/>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4537" name="Rectangle 25"/>
          <p:cNvSpPr>
            <a:spLocks noChangeArrowheads="1"/>
          </p:cNvSpPr>
          <p:nvPr/>
        </p:nvSpPr>
        <p:spPr bwMode="auto">
          <a:xfrm>
            <a:off x="2051050" y="41481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4538" name="Line 26"/>
          <p:cNvSpPr>
            <a:spLocks noChangeShapeType="1"/>
          </p:cNvSpPr>
          <p:nvPr/>
        </p:nvSpPr>
        <p:spPr bwMode="auto">
          <a:xfrm flipH="1">
            <a:off x="900113"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39" name="Rectangle 27"/>
          <p:cNvSpPr>
            <a:spLocks noChangeArrowheads="1"/>
          </p:cNvSpPr>
          <p:nvPr/>
        </p:nvSpPr>
        <p:spPr bwMode="auto">
          <a:xfrm>
            <a:off x="41402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4540" name="Rectangle 28"/>
          <p:cNvSpPr>
            <a:spLocks noChangeArrowheads="1"/>
          </p:cNvSpPr>
          <p:nvPr/>
        </p:nvSpPr>
        <p:spPr bwMode="auto">
          <a:xfrm>
            <a:off x="212407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4541" name="Rectangle 29"/>
          <p:cNvSpPr>
            <a:spLocks noChangeArrowheads="1"/>
          </p:cNvSpPr>
          <p:nvPr/>
        </p:nvSpPr>
        <p:spPr bwMode="auto">
          <a:xfrm>
            <a:off x="1692275"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4542" name="Rectangle 30"/>
          <p:cNvSpPr>
            <a:spLocks noChangeArrowheads="1"/>
          </p:cNvSpPr>
          <p:nvPr/>
        </p:nvSpPr>
        <p:spPr bwMode="auto">
          <a:xfrm>
            <a:off x="111601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4543" name="Rectangle 31"/>
          <p:cNvSpPr>
            <a:spLocks noChangeArrowheads="1"/>
          </p:cNvSpPr>
          <p:nvPr/>
        </p:nvSpPr>
        <p:spPr bwMode="auto">
          <a:xfrm>
            <a:off x="68421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4544" name="Line 32"/>
          <p:cNvSpPr>
            <a:spLocks noChangeShapeType="1"/>
          </p:cNvSpPr>
          <p:nvPr/>
        </p:nvSpPr>
        <p:spPr bwMode="auto">
          <a:xfrm>
            <a:off x="1189038"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45" name="Line 33"/>
          <p:cNvSpPr>
            <a:spLocks noChangeShapeType="1"/>
          </p:cNvSpPr>
          <p:nvPr/>
        </p:nvSpPr>
        <p:spPr bwMode="auto">
          <a:xfrm flipH="1">
            <a:off x="1836738"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46" name="Line 34"/>
          <p:cNvSpPr>
            <a:spLocks noChangeShapeType="1"/>
          </p:cNvSpPr>
          <p:nvPr/>
        </p:nvSpPr>
        <p:spPr bwMode="auto">
          <a:xfrm>
            <a:off x="2124075" y="5084763"/>
            <a:ext cx="215900"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4547" name="Rectangle 35"/>
          <p:cNvSpPr>
            <a:spLocks noChangeArrowheads="1"/>
          </p:cNvSpPr>
          <p:nvPr/>
        </p:nvSpPr>
        <p:spPr bwMode="auto">
          <a:xfrm>
            <a:off x="684213" y="5156200"/>
            <a:ext cx="215900"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4548" name="Rectangle 36"/>
          <p:cNvSpPr>
            <a:spLocks noChangeArrowheads="1"/>
          </p:cNvSpPr>
          <p:nvPr/>
        </p:nvSpPr>
        <p:spPr bwMode="auto">
          <a:xfrm>
            <a:off x="1620838" y="5227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4549" name="Rectangle 37"/>
          <p:cNvSpPr>
            <a:spLocks noChangeArrowheads="1"/>
          </p:cNvSpPr>
          <p:nvPr/>
        </p:nvSpPr>
        <p:spPr bwMode="auto">
          <a:xfrm>
            <a:off x="1189038" y="51562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4550" name="Rectangle 38"/>
          <p:cNvSpPr>
            <a:spLocks noChangeArrowheads="1"/>
          </p:cNvSpPr>
          <p:nvPr/>
        </p:nvSpPr>
        <p:spPr bwMode="auto">
          <a:xfrm>
            <a:off x="2197100" y="52276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4551" name="Rectangle 39"/>
          <p:cNvSpPr>
            <a:spLocks noGrp="1" noChangeArrowheads="1"/>
          </p:cNvSpPr>
          <p:nvPr>
            <p:ph type="title"/>
          </p:nvPr>
        </p:nvSpPr>
        <p:spPr/>
        <p:txBody>
          <a:bodyPr/>
          <a:lstStyle/>
          <a:p>
            <a:r>
              <a:rPr lang="en-US" altLang="zh-CN">
                <a:latin typeface="Arial" charset="0"/>
              </a:rPr>
              <a:t>Reduced Ordered BDD</a:t>
            </a:r>
          </a:p>
        </p:txBody>
      </p:sp>
    </p:spTree>
    <p:extLst>
      <p:ext uri="{BB962C8B-B14F-4D97-AF65-F5344CB8AC3E}">
        <p14:creationId xmlns:p14="http://schemas.microsoft.com/office/powerpoint/2010/main" val="99031293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2555875" y="6165850"/>
            <a:ext cx="3959225" cy="647700"/>
          </a:xfrm>
          <a:noFill/>
          <a:ln/>
        </p:spPr>
        <p:txBody>
          <a:bodyPr/>
          <a:lstStyle/>
          <a:p>
            <a:pPr>
              <a:buFont typeface="Wingdings" pitchFamily="2" charset="2"/>
              <a:buNone/>
            </a:pPr>
            <a:r>
              <a:rPr lang="en-US" altLang="zh-CN"/>
              <a:t>(a</a:t>
            </a:r>
            <a:r>
              <a:rPr lang="en-US" altLang="zh-CN" baseline="-25000"/>
              <a:t>1</a:t>
            </a:r>
            <a:r>
              <a:rPr lang="en-US" altLang="zh-CN"/>
              <a:t> </a:t>
            </a:r>
            <a:r>
              <a:rPr lang="en-US" altLang="zh-CN">
                <a:sym typeface="Symbol" pitchFamily="18" charset="2"/>
              </a:rPr>
              <a:t> b</a:t>
            </a:r>
            <a:r>
              <a:rPr lang="en-US" altLang="zh-CN" baseline="-25000">
                <a:sym typeface="Symbol" pitchFamily="18" charset="2"/>
              </a:rPr>
              <a:t>1</a:t>
            </a:r>
            <a:r>
              <a:rPr lang="en-US" altLang="zh-CN"/>
              <a:t>) </a:t>
            </a:r>
            <a:r>
              <a:rPr lang="en-US" altLang="zh-CN" sz="2800">
                <a:latin typeface="Book Antiqua" pitchFamily="18" charset="0"/>
                <a:ea typeface="MingLiU" pitchFamily="49" charset="-120"/>
                <a:sym typeface="Symbol" pitchFamily="18" charset="2"/>
              </a:rPr>
              <a:t> </a:t>
            </a:r>
            <a:r>
              <a:rPr lang="en-US" altLang="zh-CN"/>
              <a:t>(a</a:t>
            </a:r>
            <a:r>
              <a:rPr lang="en-US" altLang="zh-CN" baseline="-25000"/>
              <a:t>2</a:t>
            </a:r>
            <a:r>
              <a:rPr lang="en-US" altLang="zh-CN"/>
              <a:t> </a:t>
            </a:r>
            <a:r>
              <a:rPr lang="en-US" altLang="zh-CN">
                <a:sym typeface="Symbol" pitchFamily="18" charset="2"/>
              </a:rPr>
              <a:t> </a:t>
            </a:r>
            <a:r>
              <a:rPr lang="en-US" altLang="zh-CN"/>
              <a:t>b</a:t>
            </a:r>
            <a:r>
              <a:rPr lang="en-US" altLang="zh-CN" baseline="-25000"/>
              <a:t>2</a:t>
            </a:r>
            <a:r>
              <a:rPr lang="en-US" altLang="zh-CN"/>
              <a:t>) </a:t>
            </a:r>
          </a:p>
          <a:p>
            <a:pPr>
              <a:buFont typeface="Wingdings" pitchFamily="2" charset="2"/>
              <a:buNone/>
            </a:pPr>
            <a:endParaRPr lang="en-US" altLang="zh-CN" sz="2800"/>
          </a:p>
        </p:txBody>
      </p:sp>
      <p:sp>
        <p:nvSpPr>
          <p:cNvPr id="65540" name="Oval 4"/>
          <p:cNvSpPr>
            <a:spLocks noChangeArrowheads="1"/>
          </p:cNvSpPr>
          <p:nvPr/>
        </p:nvSpPr>
        <p:spPr bwMode="auto">
          <a:xfrm>
            <a:off x="3997325" y="18446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1</a:t>
            </a:r>
          </a:p>
        </p:txBody>
      </p:sp>
      <p:sp>
        <p:nvSpPr>
          <p:cNvPr id="65541" name="Oval 5"/>
          <p:cNvSpPr>
            <a:spLocks noChangeArrowheads="1"/>
          </p:cNvSpPr>
          <p:nvPr/>
        </p:nvSpPr>
        <p:spPr bwMode="auto">
          <a:xfrm>
            <a:off x="2557463" y="2708275"/>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5542" name="Oval 6"/>
          <p:cNvSpPr>
            <a:spLocks noChangeArrowheads="1"/>
          </p:cNvSpPr>
          <p:nvPr/>
        </p:nvSpPr>
        <p:spPr bwMode="auto">
          <a:xfrm>
            <a:off x="5508625" y="27082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sym typeface="Symbol" pitchFamily="18" charset="2"/>
              </a:rPr>
              <a:t>b</a:t>
            </a:r>
            <a:r>
              <a:rPr lang="en-US" altLang="zh-CN" sz="3200" baseline="-25000">
                <a:latin typeface="Arial" charset="0"/>
                <a:sym typeface="Symbol" pitchFamily="18" charset="2"/>
              </a:rPr>
              <a:t>1</a:t>
            </a:r>
          </a:p>
        </p:txBody>
      </p:sp>
      <p:sp>
        <p:nvSpPr>
          <p:cNvPr id="65543" name="Oval 7"/>
          <p:cNvSpPr>
            <a:spLocks noChangeArrowheads="1"/>
          </p:cNvSpPr>
          <p:nvPr/>
        </p:nvSpPr>
        <p:spPr bwMode="auto">
          <a:xfrm>
            <a:off x="1476375" y="3571875"/>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a</a:t>
            </a:r>
            <a:r>
              <a:rPr lang="en-US" altLang="zh-CN" sz="3200" baseline="-25000">
                <a:latin typeface="Arial" charset="0"/>
              </a:rPr>
              <a:t>2</a:t>
            </a:r>
          </a:p>
        </p:txBody>
      </p:sp>
      <p:sp>
        <p:nvSpPr>
          <p:cNvPr id="65544" name="Oval 8"/>
          <p:cNvSpPr>
            <a:spLocks noChangeArrowheads="1"/>
          </p:cNvSpPr>
          <p:nvPr/>
        </p:nvSpPr>
        <p:spPr bwMode="auto">
          <a:xfrm>
            <a:off x="541338" y="4508500"/>
            <a:ext cx="935037"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5545" name="Oval 9"/>
          <p:cNvSpPr>
            <a:spLocks noChangeArrowheads="1"/>
          </p:cNvSpPr>
          <p:nvPr/>
        </p:nvSpPr>
        <p:spPr bwMode="auto">
          <a:xfrm>
            <a:off x="1549400" y="4508500"/>
            <a:ext cx="935038" cy="574675"/>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b</a:t>
            </a:r>
            <a:r>
              <a:rPr lang="en-US" altLang="zh-CN" sz="3200" baseline="-25000">
                <a:latin typeface="Arial" charset="0"/>
              </a:rPr>
              <a:t>2</a:t>
            </a:r>
          </a:p>
        </p:txBody>
      </p:sp>
      <p:sp>
        <p:nvSpPr>
          <p:cNvPr id="65546" name="Line 10"/>
          <p:cNvSpPr>
            <a:spLocks noChangeShapeType="1"/>
          </p:cNvSpPr>
          <p:nvPr/>
        </p:nvSpPr>
        <p:spPr bwMode="auto">
          <a:xfrm flipH="1">
            <a:off x="3348038" y="2347913"/>
            <a:ext cx="7921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47" name="Line 11"/>
          <p:cNvSpPr>
            <a:spLocks noChangeShapeType="1"/>
          </p:cNvSpPr>
          <p:nvPr/>
        </p:nvSpPr>
        <p:spPr bwMode="auto">
          <a:xfrm flipH="1">
            <a:off x="2195513" y="3211513"/>
            <a:ext cx="504825"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48" name="Line 12"/>
          <p:cNvSpPr>
            <a:spLocks noChangeShapeType="1"/>
          </p:cNvSpPr>
          <p:nvPr/>
        </p:nvSpPr>
        <p:spPr bwMode="auto">
          <a:xfrm flipH="1">
            <a:off x="1116013" y="4076700"/>
            <a:ext cx="576262"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49" name="Line 13"/>
          <p:cNvSpPr>
            <a:spLocks noChangeShapeType="1"/>
          </p:cNvSpPr>
          <p:nvPr/>
        </p:nvSpPr>
        <p:spPr bwMode="auto">
          <a:xfrm>
            <a:off x="1979613" y="4148138"/>
            <a:ext cx="71437" cy="3603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50" name="Line 14"/>
          <p:cNvSpPr>
            <a:spLocks noChangeShapeType="1"/>
          </p:cNvSpPr>
          <p:nvPr/>
        </p:nvSpPr>
        <p:spPr bwMode="auto">
          <a:xfrm>
            <a:off x="3276600" y="3284538"/>
            <a:ext cx="1008063" cy="23764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51" name="Line 15"/>
          <p:cNvSpPr>
            <a:spLocks noChangeShapeType="1"/>
          </p:cNvSpPr>
          <p:nvPr/>
        </p:nvSpPr>
        <p:spPr bwMode="auto">
          <a:xfrm>
            <a:off x="4859338" y="2276475"/>
            <a:ext cx="936625"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52" name="Rectangle 16"/>
          <p:cNvSpPr>
            <a:spLocks noChangeArrowheads="1"/>
          </p:cNvSpPr>
          <p:nvPr/>
        </p:nvSpPr>
        <p:spPr bwMode="auto">
          <a:xfrm>
            <a:off x="3419475" y="234791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5553" name="Rectangle 17"/>
          <p:cNvSpPr>
            <a:spLocks noChangeArrowheads="1"/>
          </p:cNvSpPr>
          <p:nvPr/>
        </p:nvSpPr>
        <p:spPr bwMode="auto">
          <a:xfrm>
            <a:off x="2195513" y="314007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5554" name="Rectangle 18"/>
          <p:cNvSpPr>
            <a:spLocks noChangeArrowheads="1"/>
          </p:cNvSpPr>
          <p:nvPr/>
        </p:nvSpPr>
        <p:spPr bwMode="auto">
          <a:xfrm>
            <a:off x="1116013" y="40767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5555" name="Rectangle 19"/>
          <p:cNvSpPr>
            <a:spLocks noChangeArrowheads="1"/>
          </p:cNvSpPr>
          <p:nvPr/>
        </p:nvSpPr>
        <p:spPr bwMode="auto">
          <a:xfrm>
            <a:off x="5292725" y="2203450"/>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5556" name="Rectangle 20"/>
          <p:cNvSpPr>
            <a:spLocks noChangeArrowheads="1"/>
          </p:cNvSpPr>
          <p:nvPr/>
        </p:nvSpPr>
        <p:spPr bwMode="auto">
          <a:xfrm>
            <a:off x="3348038" y="3211513"/>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5557" name="Rectangle 21"/>
          <p:cNvSpPr>
            <a:spLocks noChangeArrowheads="1"/>
          </p:cNvSpPr>
          <p:nvPr/>
        </p:nvSpPr>
        <p:spPr bwMode="auto">
          <a:xfrm>
            <a:off x="2051050" y="4148138"/>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5558" name="Line 22"/>
          <p:cNvSpPr>
            <a:spLocks noChangeShapeType="1"/>
          </p:cNvSpPr>
          <p:nvPr/>
        </p:nvSpPr>
        <p:spPr bwMode="auto">
          <a:xfrm flipH="1">
            <a:off x="900113" y="5084763"/>
            <a:ext cx="71437"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59" name="Rectangle 23"/>
          <p:cNvSpPr>
            <a:spLocks noChangeArrowheads="1"/>
          </p:cNvSpPr>
          <p:nvPr/>
        </p:nvSpPr>
        <p:spPr bwMode="auto">
          <a:xfrm>
            <a:off x="4140200" y="5661025"/>
            <a:ext cx="360363"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5560" name="Rectangle 24"/>
          <p:cNvSpPr>
            <a:spLocks noChangeArrowheads="1"/>
          </p:cNvSpPr>
          <p:nvPr/>
        </p:nvSpPr>
        <p:spPr bwMode="auto">
          <a:xfrm>
            <a:off x="684213" y="5661025"/>
            <a:ext cx="360362" cy="3587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5561" name="Line 25"/>
          <p:cNvSpPr>
            <a:spLocks noChangeShapeType="1"/>
          </p:cNvSpPr>
          <p:nvPr/>
        </p:nvSpPr>
        <p:spPr bwMode="auto">
          <a:xfrm>
            <a:off x="1189038" y="5084763"/>
            <a:ext cx="3022600"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62" name="Line 26"/>
          <p:cNvSpPr>
            <a:spLocks noChangeShapeType="1"/>
          </p:cNvSpPr>
          <p:nvPr/>
        </p:nvSpPr>
        <p:spPr bwMode="auto">
          <a:xfrm>
            <a:off x="1979613" y="5084763"/>
            <a:ext cx="2305050"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63" name="Line 27"/>
          <p:cNvSpPr>
            <a:spLocks noChangeShapeType="1"/>
          </p:cNvSpPr>
          <p:nvPr/>
        </p:nvSpPr>
        <p:spPr bwMode="auto">
          <a:xfrm flipH="1">
            <a:off x="971550" y="5084763"/>
            <a:ext cx="1152525" cy="576262"/>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64" name="Rectangle 28"/>
          <p:cNvSpPr>
            <a:spLocks noChangeArrowheads="1"/>
          </p:cNvSpPr>
          <p:nvPr/>
        </p:nvSpPr>
        <p:spPr bwMode="auto">
          <a:xfrm>
            <a:off x="684213" y="5156200"/>
            <a:ext cx="215900"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5565" name="Rectangle 29"/>
          <p:cNvSpPr>
            <a:spLocks noChangeArrowheads="1"/>
          </p:cNvSpPr>
          <p:nvPr/>
        </p:nvSpPr>
        <p:spPr bwMode="auto">
          <a:xfrm>
            <a:off x="2916238" y="501332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5566" name="Rectangle 30"/>
          <p:cNvSpPr>
            <a:spLocks noChangeArrowheads="1"/>
          </p:cNvSpPr>
          <p:nvPr/>
        </p:nvSpPr>
        <p:spPr bwMode="auto">
          <a:xfrm>
            <a:off x="1331913" y="5013325"/>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5567" name="Rectangle 31"/>
          <p:cNvSpPr>
            <a:spLocks noChangeArrowheads="1"/>
          </p:cNvSpPr>
          <p:nvPr/>
        </p:nvSpPr>
        <p:spPr bwMode="auto">
          <a:xfrm>
            <a:off x="1619250" y="5300663"/>
            <a:ext cx="287338"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5568" name="Line 32"/>
          <p:cNvSpPr>
            <a:spLocks noChangeShapeType="1"/>
          </p:cNvSpPr>
          <p:nvPr/>
        </p:nvSpPr>
        <p:spPr bwMode="auto">
          <a:xfrm flipH="1">
            <a:off x="4356100" y="3284538"/>
            <a:ext cx="1439863" cy="2376487"/>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69" name="Rectangle 33"/>
          <p:cNvSpPr>
            <a:spLocks noChangeArrowheads="1"/>
          </p:cNvSpPr>
          <p:nvPr/>
        </p:nvSpPr>
        <p:spPr bwMode="auto">
          <a:xfrm>
            <a:off x="5148263" y="3644900"/>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0</a:t>
            </a:r>
          </a:p>
        </p:txBody>
      </p:sp>
      <p:sp>
        <p:nvSpPr>
          <p:cNvPr id="65570" name="Line 34"/>
          <p:cNvSpPr>
            <a:spLocks noChangeShapeType="1"/>
          </p:cNvSpPr>
          <p:nvPr/>
        </p:nvSpPr>
        <p:spPr bwMode="auto">
          <a:xfrm flipH="1">
            <a:off x="2339975" y="3284538"/>
            <a:ext cx="3744913" cy="431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571" name="Rectangle 35"/>
          <p:cNvSpPr>
            <a:spLocks noChangeArrowheads="1"/>
          </p:cNvSpPr>
          <p:nvPr/>
        </p:nvSpPr>
        <p:spPr bwMode="auto">
          <a:xfrm>
            <a:off x="4643438" y="3068638"/>
            <a:ext cx="287337" cy="288925"/>
          </a:xfrm>
          <a:prstGeom prst="rect">
            <a:avLst/>
          </a:prstGeom>
          <a:solidFill>
            <a:schemeClr val="accent2">
              <a:alpha val="0"/>
            </a:schemeClr>
          </a:solidFill>
          <a:ln w="9525">
            <a:solidFill>
              <a:schemeClr val="bg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3200">
                <a:latin typeface="Arial" charset="0"/>
              </a:rPr>
              <a:t>1</a:t>
            </a:r>
          </a:p>
        </p:txBody>
      </p:sp>
      <p:sp>
        <p:nvSpPr>
          <p:cNvPr id="65572" name="Rectangle 36"/>
          <p:cNvSpPr>
            <a:spLocks noGrp="1" noChangeArrowheads="1"/>
          </p:cNvSpPr>
          <p:nvPr>
            <p:ph type="title"/>
          </p:nvPr>
        </p:nvSpPr>
        <p:spPr/>
        <p:txBody>
          <a:bodyPr/>
          <a:lstStyle/>
          <a:p>
            <a:r>
              <a:rPr lang="en-US" altLang="zh-CN">
                <a:latin typeface="Arial" charset="0"/>
              </a:rPr>
              <a:t>Reduced Ordered BDD</a:t>
            </a:r>
          </a:p>
        </p:txBody>
      </p:sp>
    </p:spTree>
    <p:extLst>
      <p:ext uri="{BB962C8B-B14F-4D97-AF65-F5344CB8AC3E}">
        <p14:creationId xmlns:p14="http://schemas.microsoft.com/office/powerpoint/2010/main" val="18222012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主要优化技术</a:t>
            </a:r>
            <a:endParaRPr lang="zh-CN" altLang="en-US" dirty="0"/>
          </a:p>
        </p:txBody>
      </p:sp>
      <p:sp>
        <p:nvSpPr>
          <p:cNvPr id="5" name="内容占位符 4"/>
          <p:cNvSpPr>
            <a:spLocks noGrp="1"/>
          </p:cNvSpPr>
          <p:nvPr>
            <p:ph idx="1"/>
          </p:nvPr>
        </p:nvSpPr>
        <p:spPr/>
        <p:txBody>
          <a:bodyPr/>
          <a:lstStyle/>
          <a:p>
            <a:r>
              <a:rPr lang="en-US" altLang="zh-CN" dirty="0" smtClean="0"/>
              <a:t>On-the-fly</a:t>
            </a:r>
            <a:r>
              <a:rPr lang="zh-CN" altLang="en-US" dirty="0"/>
              <a:t>技术</a:t>
            </a:r>
          </a:p>
          <a:p>
            <a:r>
              <a:rPr lang="zh-CN" altLang="en-US" dirty="0" smtClean="0"/>
              <a:t>对</a:t>
            </a:r>
            <a:r>
              <a:rPr lang="zh-CN" altLang="en-US" dirty="0"/>
              <a:t>称技术（</a:t>
            </a:r>
            <a:r>
              <a:rPr lang="en-US" altLang="zh-CN" dirty="0"/>
              <a:t>Symmetry</a:t>
            </a:r>
            <a:r>
              <a:rPr lang="zh-CN" altLang="en-US" dirty="0" smtClean="0"/>
              <a:t>）</a:t>
            </a:r>
            <a:endParaRPr lang="en-US" altLang="zh-CN" dirty="0" smtClean="0"/>
          </a:p>
          <a:p>
            <a:r>
              <a:rPr lang="zh-CN" altLang="en-US" dirty="0"/>
              <a:t>偏序规约技术（</a:t>
            </a:r>
            <a:r>
              <a:rPr lang="en-US" altLang="zh-CN" dirty="0"/>
              <a:t>Partial order reduction</a:t>
            </a:r>
            <a:r>
              <a:rPr lang="zh-CN" altLang="en-US" dirty="0" smtClean="0"/>
              <a:t>）</a:t>
            </a:r>
            <a:endParaRPr lang="zh-CN" altLang="en-US" dirty="0"/>
          </a:p>
          <a:p>
            <a:r>
              <a:rPr lang="zh-CN" altLang="en-US" dirty="0" smtClean="0"/>
              <a:t>反例制导的抽象精化（</a:t>
            </a:r>
            <a:r>
              <a:rPr lang="en-US" altLang="zh-CN" dirty="0" smtClean="0"/>
              <a:t>Counterexample Guided Abstraction Refinement, CEGAR</a:t>
            </a:r>
            <a:r>
              <a:rPr lang="zh-CN" altLang="en-US" dirty="0" smtClean="0"/>
              <a:t>）</a:t>
            </a:r>
            <a:endParaRPr lang="zh-CN" altLang="en-US" dirty="0"/>
          </a:p>
        </p:txBody>
      </p:sp>
    </p:spTree>
    <p:extLst>
      <p:ext uri="{BB962C8B-B14F-4D97-AF65-F5344CB8AC3E}">
        <p14:creationId xmlns:p14="http://schemas.microsoft.com/office/powerpoint/2010/main" val="212164611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en-US" altLang="zh-CN" dirty="0" smtClean="0"/>
              <a:t>On the fly</a:t>
            </a:r>
          </a:p>
          <a:p>
            <a:pPr lvl="1"/>
            <a:r>
              <a:rPr lang="zh-CN" altLang="en-US" dirty="0" smtClean="0"/>
              <a:t>把</a:t>
            </a:r>
            <a:r>
              <a:rPr lang="zh-CN" altLang="en-US" dirty="0"/>
              <a:t>状态空间生成和检验它是否满足性</a:t>
            </a:r>
            <a:r>
              <a:rPr lang="zh-CN" altLang="en-US" dirty="0" smtClean="0"/>
              <a:t>质合</a:t>
            </a:r>
            <a:r>
              <a:rPr lang="zh-CN" altLang="en-US" dirty="0"/>
              <a:t>在一起做，而不去预先生成整个状</a:t>
            </a:r>
            <a:r>
              <a:rPr lang="zh-CN" altLang="en-US" dirty="0" smtClean="0"/>
              <a:t>态空</a:t>
            </a:r>
            <a:r>
              <a:rPr lang="zh-CN" altLang="en-US" dirty="0"/>
              <a:t>间，从而尽可能避免状态爆炸</a:t>
            </a:r>
            <a:r>
              <a:rPr lang="zh-CN" altLang="en-US" dirty="0" smtClean="0"/>
              <a:t>。</a:t>
            </a:r>
            <a:endParaRPr lang="en-US" altLang="zh-CN" dirty="0" smtClean="0"/>
          </a:p>
          <a:p>
            <a:pPr lvl="1"/>
            <a:endParaRPr lang="en-US" altLang="zh-CN" dirty="0"/>
          </a:p>
          <a:p>
            <a:r>
              <a:rPr lang="en-US" altLang="zh-CN" dirty="0" smtClean="0"/>
              <a:t>Symmetry Reduction</a:t>
            </a:r>
          </a:p>
          <a:p>
            <a:pPr lvl="1"/>
            <a:r>
              <a:rPr lang="zh-CN" altLang="en-US" dirty="0"/>
              <a:t>针对由多个完全类似的进程组成的系统</a:t>
            </a:r>
            <a:r>
              <a:rPr lang="zh-CN" altLang="en-US" dirty="0" smtClean="0"/>
              <a:t>，利</a:t>
            </a:r>
            <a:r>
              <a:rPr lang="zh-CN" altLang="en-US" dirty="0"/>
              <a:t>用其模型的状态空间的对称性来生</a:t>
            </a:r>
            <a:r>
              <a:rPr lang="zh-CN" altLang="en-US" dirty="0" smtClean="0"/>
              <a:t>成压</a:t>
            </a:r>
            <a:r>
              <a:rPr lang="zh-CN" altLang="en-US" dirty="0"/>
              <a:t>缩的且对模型检验等价的模型</a:t>
            </a:r>
          </a:p>
        </p:txBody>
      </p:sp>
    </p:spTree>
    <p:extLst>
      <p:ext uri="{BB962C8B-B14F-4D97-AF65-F5344CB8AC3E}">
        <p14:creationId xmlns:p14="http://schemas.microsoft.com/office/powerpoint/2010/main" val="172298764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zh-CN" dirty="0">
                <a:latin typeface="Arial" charset="0"/>
              </a:rPr>
              <a:t>Partial Order Reduction</a:t>
            </a:r>
          </a:p>
        </p:txBody>
      </p:sp>
      <p:sp>
        <p:nvSpPr>
          <p:cNvPr id="77827" name="Rectangle 3"/>
          <p:cNvSpPr>
            <a:spLocks noGrp="1" noChangeArrowheads="1"/>
          </p:cNvSpPr>
          <p:nvPr>
            <p:ph type="body" idx="1"/>
          </p:nvPr>
        </p:nvSpPr>
        <p:spPr/>
        <p:txBody>
          <a:bodyPr/>
          <a:lstStyle/>
          <a:p>
            <a:r>
              <a:rPr lang="zh-TW" altLang="en-US" dirty="0" smtClean="0"/>
              <a:t>通过发掘系统中并发执</a:t>
            </a:r>
            <a:r>
              <a:rPr lang="zh-TW" altLang="en-US" dirty="0"/>
              <a:t>行的迁</a:t>
            </a:r>
            <a:r>
              <a:rPr lang="zh-TW" altLang="en-US" dirty="0" smtClean="0"/>
              <a:t>移的交换性</a:t>
            </a:r>
            <a:r>
              <a:rPr lang="en-US" altLang="zh-TW" dirty="0"/>
              <a:t>,</a:t>
            </a:r>
            <a:r>
              <a:rPr lang="zh-TW" altLang="en-US" dirty="0"/>
              <a:t>减少本质上相同的状态</a:t>
            </a:r>
            <a:r>
              <a:rPr lang="en-US" altLang="zh-TW" dirty="0"/>
              <a:t>,</a:t>
            </a:r>
            <a:r>
              <a:rPr lang="zh-TW" altLang="en-US" dirty="0"/>
              <a:t>从而仅</a:t>
            </a:r>
            <a:r>
              <a:rPr lang="zh-TW" altLang="en-US" dirty="0" smtClean="0"/>
              <a:t>生成足以检验</a:t>
            </a:r>
            <a:r>
              <a:rPr lang="zh-TW" altLang="en-US" dirty="0"/>
              <a:t>性质的小部分状态空间 </a:t>
            </a:r>
          </a:p>
          <a:p>
            <a:endParaRPr lang="en-US" altLang="zh-CN" dirty="0">
              <a:latin typeface="Arial" charset="0"/>
            </a:endParaRPr>
          </a:p>
        </p:txBody>
      </p:sp>
      <p:sp>
        <p:nvSpPr>
          <p:cNvPr id="77828" name="Oval 4"/>
          <p:cNvSpPr>
            <a:spLocks noChangeArrowheads="1"/>
          </p:cNvSpPr>
          <p:nvPr/>
        </p:nvSpPr>
        <p:spPr bwMode="auto">
          <a:xfrm>
            <a:off x="2389709" y="3075310"/>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77829" name="Oval 5"/>
          <p:cNvSpPr>
            <a:spLocks noChangeArrowheads="1"/>
          </p:cNvSpPr>
          <p:nvPr/>
        </p:nvSpPr>
        <p:spPr bwMode="auto">
          <a:xfrm>
            <a:off x="1627709" y="3837310"/>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77830" name="Text Box 6"/>
          <p:cNvSpPr txBox="1">
            <a:spLocks noChangeArrowheads="1"/>
          </p:cNvSpPr>
          <p:nvPr/>
        </p:nvSpPr>
        <p:spPr bwMode="auto">
          <a:xfrm>
            <a:off x="1627709" y="3837310"/>
            <a:ext cx="184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endParaRPr lang="zh-CN" altLang="zh-CN">
              <a:latin typeface="Times" pitchFamily="18" charset="0"/>
            </a:endParaRPr>
          </a:p>
        </p:txBody>
      </p:sp>
      <p:sp>
        <p:nvSpPr>
          <p:cNvPr id="77831" name="Oval 7"/>
          <p:cNvSpPr>
            <a:spLocks noChangeArrowheads="1"/>
          </p:cNvSpPr>
          <p:nvPr/>
        </p:nvSpPr>
        <p:spPr bwMode="auto">
          <a:xfrm>
            <a:off x="3151709" y="3837310"/>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77832" name="Oval 8"/>
          <p:cNvSpPr>
            <a:spLocks noChangeArrowheads="1"/>
          </p:cNvSpPr>
          <p:nvPr/>
        </p:nvSpPr>
        <p:spPr bwMode="auto">
          <a:xfrm>
            <a:off x="2389709" y="4675510"/>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eaLnBrk="0" hangingPunct="0"/>
            <a:r>
              <a:rPr lang="en-US" altLang="zh-CN">
                <a:latin typeface="Arial" charset="0"/>
              </a:rPr>
              <a:t>r</a:t>
            </a:r>
          </a:p>
        </p:txBody>
      </p:sp>
      <p:cxnSp>
        <p:nvCxnSpPr>
          <p:cNvPr id="77833" name="AutoShape 9"/>
          <p:cNvCxnSpPr>
            <a:cxnSpLocks noChangeShapeType="1"/>
            <a:stCxn id="77828" idx="5"/>
            <a:endCxn id="77831" idx="1"/>
          </p:cNvCxnSpPr>
          <p:nvPr/>
        </p:nvCxnSpPr>
        <p:spPr bwMode="auto">
          <a:xfrm>
            <a:off x="2715146" y="3400748"/>
            <a:ext cx="492125" cy="492125"/>
          </a:xfrm>
          <a:prstGeom prst="straightConnector1">
            <a:avLst/>
          </a:prstGeom>
          <a:noFill/>
          <a:ln w="952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7834" name="AutoShape 10"/>
          <p:cNvCxnSpPr>
            <a:cxnSpLocks noChangeShapeType="1"/>
            <a:stCxn id="77831" idx="3"/>
            <a:endCxn id="77832" idx="7"/>
          </p:cNvCxnSpPr>
          <p:nvPr/>
        </p:nvCxnSpPr>
        <p:spPr bwMode="auto">
          <a:xfrm flipH="1">
            <a:off x="2715146" y="4162748"/>
            <a:ext cx="492125" cy="568325"/>
          </a:xfrm>
          <a:prstGeom prst="straightConnector1">
            <a:avLst/>
          </a:prstGeom>
          <a:noFill/>
          <a:ln w="952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7835" name="AutoShape 11"/>
          <p:cNvCxnSpPr>
            <a:cxnSpLocks noChangeShapeType="1"/>
            <a:stCxn id="77828" idx="3"/>
            <a:endCxn id="77829" idx="7"/>
          </p:cNvCxnSpPr>
          <p:nvPr/>
        </p:nvCxnSpPr>
        <p:spPr bwMode="auto">
          <a:xfrm flipH="1">
            <a:off x="1953146" y="3400748"/>
            <a:ext cx="492125" cy="492125"/>
          </a:xfrm>
          <a:prstGeom prst="straightConnector1">
            <a:avLst/>
          </a:prstGeom>
          <a:noFill/>
          <a:ln w="952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7836" name="AutoShape 12"/>
          <p:cNvCxnSpPr>
            <a:cxnSpLocks noChangeShapeType="1"/>
            <a:stCxn id="77829" idx="5"/>
            <a:endCxn id="77832" idx="1"/>
          </p:cNvCxnSpPr>
          <p:nvPr/>
        </p:nvCxnSpPr>
        <p:spPr bwMode="auto">
          <a:xfrm>
            <a:off x="1953146" y="4162748"/>
            <a:ext cx="492125" cy="568325"/>
          </a:xfrm>
          <a:prstGeom prst="straightConnector1">
            <a:avLst/>
          </a:prstGeom>
          <a:noFill/>
          <a:ln w="952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7837" name="Text Box 13"/>
          <p:cNvSpPr txBox="1">
            <a:spLocks noChangeArrowheads="1"/>
          </p:cNvSpPr>
          <p:nvPr/>
        </p:nvSpPr>
        <p:spPr bwMode="auto">
          <a:xfrm>
            <a:off x="2434159" y="3068960"/>
            <a:ext cx="2984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a:latin typeface="Arial" charset="0"/>
              </a:rPr>
              <a:t>s</a:t>
            </a:r>
          </a:p>
        </p:txBody>
      </p:sp>
      <p:sp>
        <p:nvSpPr>
          <p:cNvPr id="77838" name="Text Box 14"/>
          <p:cNvSpPr txBox="1">
            <a:spLocks noChangeArrowheads="1"/>
          </p:cNvSpPr>
          <p:nvPr/>
        </p:nvSpPr>
        <p:spPr bwMode="auto">
          <a:xfrm>
            <a:off x="3151709" y="3792860"/>
            <a:ext cx="382587"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a:latin typeface="Arial" charset="0"/>
              </a:rPr>
              <a:t>s</a:t>
            </a:r>
            <a:r>
              <a:rPr lang="en-US" altLang="zh-CN" baseline="-25000">
                <a:latin typeface="Arial" charset="0"/>
              </a:rPr>
              <a:t>2</a:t>
            </a:r>
          </a:p>
        </p:txBody>
      </p:sp>
      <p:sp>
        <p:nvSpPr>
          <p:cNvPr id="77839" name="Text Box 15"/>
          <p:cNvSpPr txBox="1">
            <a:spLocks noChangeArrowheads="1"/>
          </p:cNvSpPr>
          <p:nvPr/>
        </p:nvSpPr>
        <p:spPr bwMode="auto">
          <a:xfrm>
            <a:off x="1646759" y="3808735"/>
            <a:ext cx="382587"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a:latin typeface="Arial" charset="0"/>
              </a:rPr>
              <a:t>s</a:t>
            </a:r>
            <a:r>
              <a:rPr lang="en-US" altLang="zh-CN" baseline="-25000">
                <a:latin typeface="Arial" charset="0"/>
              </a:rPr>
              <a:t>1</a:t>
            </a:r>
          </a:p>
        </p:txBody>
      </p:sp>
      <p:sp>
        <p:nvSpPr>
          <p:cNvPr id="77840" name="Text Box 16"/>
          <p:cNvSpPr txBox="1">
            <a:spLocks noChangeArrowheads="1"/>
          </p:cNvSpPr>
          <p:nvPr/>
        </p:nvSpPr>
        <p:spPr bwMode="auto">
          <a:xfrm>
            <a:off x="1910284" y="3297560"/>
            <a:ext cx="311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a:solidFill>
                  <a:srgbClr val="FF0000"/>
                </a:solidFill>
                <a:latin typeface="Arial" charset="0"/>
              </a:rPr>
              <a:t>a</a:t>
            </a:r>
          </a:p>
        </p:txBody>
      </p:sp>
      <p:sp>
        <p:nvSpPr>
          <p:cNvPr id="77841" name="Text Box 17"/>
          <p:cNvSpPr txBox="1">
            <a:spLocks noChangeArrowheads="1"/>
          </p:cNvSpPr>
          <p:nvPr/>
        </p:nvSpPr>
        <p:spPr bwMode="auto">
          <a:xfrm>
            <a:off x="2916759" y="4356423"/>
            <a:ext cx="3111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a:solidFill>
                  <a:srgbClr val="FF0000"/>
                </a:solidFill>
                <a:latin typeface="Arial" charset="0"/>
              </a:rPr>
              <a:t>a</a:t>
            </a:r>
          </a:p>
        </p:txBody>
      </p:sp>
      <p:sp>
        <p:nvSpPr>
          <p:cNvPr id="77842" name="Text Box 18"/>
          <p:cNvSpPr txBox="1">
            <a:spLocks noChangeArrowheads="1"/>
          </p:cNvSpPr>
          <p:nvPr/>
        </p:nvSpPr>
        <p:spPr bwMode="auto">
          <a:xfrm>
            <a:off x="1908696" y="4362773"/>
            <a:ext cx="719138"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r>
              <a:rPr lang="en-US" altLang="zh-CN">
                <a:solidFill>
                  <a:srgbClr val="000099"/>
                </a:solidFill>
                <a:latin typeface="Arial" charset="0"/>
              </a:rPr>
              <a:t>b</a:t>
            </a:r>
          </a:p>
        </p:txBody>
      </p:sp>
      <p:sp>
        <p:nvSpPr>
          <p:cNvPr id="77843" name="Text Box 19"/>
          <p:cNvSpPr txBox="1">
            <a:spLocks noChangeArrowheads="1"/>
          </p:cNvSpPr>
          <p:nvPr/>
        </p:nvSpPr>
        <p:spPr bwMode="auto">
          <a:xfrm>
            <a:off x="2916759" y="3297560"/>
            <a:ext cx="3111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a:solidFill>
                  <a:srgbClr val="000099"/>
                </a:solidFill>
                <a:latin typeface="Arial" charset="0"/>
              </a:rPr>
              <a:t>b</a:t>
            </a:r>
          </a:p>
        </p:txBody>
      </p:sp>
      <p:sp>
        <p:nvSpPr>
          <p:cNvPr id="77868" name="Text Box 44"/>
          <p:cNvSpPr txBox="1">
            <a:spLocks noChangeArrowheads="1"/>
          </p:cNvSpPr>
          <p:nvPr/>
        </p:nvSpPr>
        <p:spPr bwMode="auto">
          <a:xfrm>
            <a:off x="1449909" y="5205735"/>
            <a:ext cx="21859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sz="2400">
                <a:latin typeface="Arial" charset="0"/>
              </a:rPr>
              <a:t>No Reductions</a:t>
            </a:r>
          </a:p>
        </p:txBody>
      </p:sp>
      <p:sp>
        <p:nvSpPr>
          <p:cNvPr id="77870" name="Text Box 46"/>
          <p:cNvSpPr txBox="1">
            <a:spLocks noChangeArrowheads="1"/>
          </p:cNvSpPr>
          <p:nvPr/>
        </p:nvSpPr>
        <p:spPr bwMode="auto">
          <a:xfrm>
            <a:off x="5148064" y="5212085"/>
            <a:ext cx="23542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sz="2400">
                <a:latin typeface="Arial" charset="0"/>
              </a:rPr>
              <a:t>States Reduced</a:t>
            </a:r>
          </a:p>
        </p:txBody>
      </p:sp>
      <p:sp>
        <p:nvSpPr>
          <p:cNvPr id="77903" name="Oval 79"/>
          <p:cNvSpPr>
            <a:spLocks noChangeArrowheads="1"/>
          </p:cNvSpPr>
          <p:nvPr/>
        </p:nvSpPr>
        <p:spPr bwMode="auto">
          <a:xfrm>
            <a:off x="6141839" y="3086423"/>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77904" name="Oval 80"/>
          <p:cNvSpPr>
            <a:spLocks noChangeArrowheads="1"/>
          </p:cNvSpPr>
          <p:nvPr/>
        </p:nvSpPr>
        <p:spPr bwMode="auto">
          <a:xfrm>
            <a:off x="5379839" y="3848423"/>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77905" name="Text Box 81"/>
          <p:cNvSpPr txBox="1">
            <a:spLocks noChangeArrowheads="1"/>
          </p:cNvSpPr>
          <p:nvPr/>
        </p:nvSpPr>
        <p:spPr bwMode="auto">
          <a:xfrm>
            <a:off x="5379839" y="3848423"/>
            <a:ext cx="1841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endParaRPr lang="zh-CN" altLang="zh-CN">
              <a:latin typeface="Times" pitchFamily="18" charset="0"/>
            </a:endParaRPr>
          </a:p>
        </p:txBody>
      </p:sp>
      <p:sp>
        <p:nvSpPr>
          <p:cNvPr id="77907" name="Oval 83"/>
          <p:cNvSpPr>
            <a:spLocks noChangeArrowheads="1"/>
          </p:cNvSpPr>
          <p:nvPr/>
        </p:nvSpPr>
        <p:spPr bwMode="auto">
          <a:xfrm>
            <a:off x="6141839" y="4686623"/>
            <a:ext cx="381000" cy="381000"/>
          </a:xfrm>
          <a:prstGeom prst="ellipse">
            <a:avLst/>
          </a:prstGeom>
          <a:noFill/>
          <a:ln w="952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eaLnBrk="0" hangingPunct="0"/>
            <a:r>
              <a:rPr lang="en-US" altLang="zh-CN">
                <a:latin typeface="Arial" charset="0"/>
              </a:rPr>
              <a:t>r</a:t>
            </a:r>
          </a:p>
        </p:txBody>
      </p:sp>
      <p:cxnSp>
        <p:nvCxnSpPr>
          <p:cNvPr id="77909" name="AutoShape 85"/>
          <p:cNvCxnSpPr>
            <a:cxnSpLocks noChangeShapeType="1"/>
            <a:stCxn id="77903" idx="3"/>
            <a:endCxn id="77904" idx="7"/>
          </p:cNvCxnSpPr>
          <p:nvPr/>
        </p:nvCxnSpPr>
        <p:spPr bwMode="auto">
          <a:xfrm flipH="1">
            <a:off x="5705277" y="3411860"/>
            <a:ext cx="492125" cy="492125"/>
          </a:xfrm>
          <a:prstGeom prst="straightConnector1">
            <a:avLst/>
          </a:prstGeom>
          <a:noFill/>
          <a:ln w="952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7910" name="AutoShape 86"/>
          <p:cNvCxnSpPr>
            <a:cxnSpLocks noChangeShapeType="1"/>
            <a:stCxn id="77904" idx="5"/>
            <a:endCxn id="77907" idx="1"/>
          </p:cNvCxnSpPr>
          <p:nvPr/>
        </p:nvCxnSpPr>
        <p:spPr bwMode="auto">
          <a:xfrm>
            <a:off x="5705277" y="4173860"/>
            <a:ext cx="492125" cy="568325"/>
          </a:xfrm>
          <a:prstGeom prst="straightConnector1">
            <a:avLst/>
          </a:prstGeom>
          <a:noFill/>
          <a:ln w="952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77911" name="Text Box 87"/>
          <p:cNvSpPr txBox="1">
            <a:spLocks noChangeArrowheads="1"/>
          </p:cNvSpPr>
          <p:nvPr/>
        </p:nvSpPr>
        <p:spPr bwMode="auto">
          <a:xfrm>
            <a:off x="6186289" y="3080073"/>
            <a:ext cx="2984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a:latin typeface="Arial" charset="0"/>
              </a:rPr>
              <a:t>s</a:t>
            </a:r>
          </a:p>
        </p:txBody>
      </p:sp>
      <p:sp>
        <p:nvSpPr>
          <p:cNvPr id="77913" name="Text Box 89"/>
          <p:cNvSpPr txBox="1">
            <a:spLocks noChangeArrowheads="1"/>
          </p:cNvSpPr>
          <p:nvPr/>
        </p:nvSpPr>
        <p:spPr bwMode="auto">
          <a:xfrm>
            <a:off x="5398889" y="3819848"/>
            <a:ext cx="382588"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a:latin typeface="Arial" charset="0"/>
              </a:rPr>
              <a:t>s</a:t>
            </a:r>
            <a:r>
              <a:rPr lang="en-US" altLang="zh-CN" baseline="-25000">
                <a:latin typeface="Arial" charset="0"/>
              </a:rPr>
              <a:t>1</a:t>
            </a:r>
          </a:p>
        </p:txBody>
      </p:sp>
      <p:sp>
        <p:nvSpPr>
          <p:cNvPr id="77914" name="Text Box 90"/>
          <p:cNvSpPr txBox="1">
            <a:spLocks noChangeArrowheads="1"/>
          </p:cNvSpPr>
          <p:nvPr/>
        </p:nvSpPr>
        <p:spPr bwMode="auto">
          <a:xfrm>
            <a:off x="5662414" y="3308673"/>
            <a:ext cx="311150"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eaLnBrk="0" hangingPunct="0"/>
            <a:r>
              <a:rPr lang="en-US" altLang="zh-CN">
                <a:solidFill>
                  <a:srgbClr val="FF0000"/>
                </a:solidFill>
                <a:latin typeface="Arial" charset="0"/>
              </a:rPr>
              <a:t>a</a:t>
            </a:r>
          </a:p>
        </p:txBody>
      </p:sp>
      <p:sp>
        <p:nvSpPr>
          <p:cNvPr id="77915" name="Text Box 91"/>
          <p:cNvSpPr txBox="1">
            <a:spLocks noChangeArrowheads="1"/>
          </p:cNvSpPr>
          <p:nvPr/>
        </p:nvSpPr>
        <p:spPr bwMode="auto">
          <a:xfrm>
            <a:off x="5660827" y="4373885"/>
            <a:ext cx="719137"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eaLnBrk="0" hangingPunct="0"/>
            <a:r>
              <a:rPr lang="en-US" altLang="zh-CN">
                <a:solidFill>
                  <a:srgbClr val="000099"/>
                </a:solidFill>
                <a:latin typeface="Arial" charset="0"/>
              </a:rPr>
              <a:t>b</a:t>
            </a:r>
          </a:p>
        </p:txBody>
      </p:sp>
    </p:spTree>
    <p:extLst>
      <p:ext uri="{BB962C8B-B14F-4D97-AF65-F5344CB8AC3E}">
        <p14:creationId xmlns:p14="http://schemas.microsoft.com/office/powerpoint/2010/main" val="146500623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dirty="0"/>
              <a:t>反例制导的抽象精化</a:t>
            </a:r>
            <a:endParaRPr lang="en-US" altLang="zh-CN" dirty="0">
              <a:ea typeface="宋体" pitchFamily="2" charset="-122"/>
            </a:endParaRPr>
          </a:p>
        </p:txBody>
      </p:sp>
      <p:sp>
        <p:nvSpPr>
          <p:cNvPr id="43011" name="Line 3"/>
          <p:cNvSpPr>
            <a:spLocks noChangeShapeType="1"/>
          </p:cNvSpPr>
          <p:nvPr/>
        </p:nvSpPr>
        <p:spPr bwMode="auto">
          <a:xfrm>
            <a:off x="1524000" y="4800600"/>
            <a:ext cx="914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12" name="Oval 4"/>
          <p:cNvSpPr>
            <a:spLocks noChangeArrowheads="1"/>
          </p:cNvSpPr>
          <p:nvPr/>
        </p:nvSpPr>
        <p:spPr bwMode="auto">
          <a:xfrm>
            <a:off x="990600" y="21336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zh-CN">
                <a:ea typeface="宋体" pitchFamily="2" charset="-122"/>
              </a:rPr>
              <a:t>I</a:t>
            </a:r>
          </a:p>
        </p:txBody>
      </p:sp>
      <p:sp>
        <p:nvSpPr>
          <p:cNvPr id="43013" name="Oval 5"/>
          <p:cNvSpPr>
            <a:spLocks noChangeArrowheads="1"/>
          </p:cNvSpPr>
          <p:nvPr/>
        </p:nvSpPr>
        <p:spPr bwMode="auto">
          <a:xfrm>
            <a:off x="990600" y="33528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14" name="Oval 6"/>
          <p:cNvSpPr>
            <a:spLocks noChangeArrowheads="1"/>
          </p:cNvSpPr>
          <p:nvPr/>
        </p:nvSpPr>
        <p:spPr bwMode="auto">
          <a:xfrm>
            <a:off x="990600" y="45720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15" name="Oval 7"/>
          <p:cNvSpPr>
            <a:spLocks noChangeArrowheads="1"/>
          </p:cNvSpPr>
          <p:nvPr/>
        </p:nvSpPr>
        <p:spPr bwMode="auto">
          <a:xfrm>
            <a:off x="4038600" y="21336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16" name="Oval 8"/>
          <p:cNvSpPr>
            <a:spLocks noChangeArrowheads="1"/>
          </p:cNvSpPr>
          <p:nvPr/>
        </p:nvSpPr>
        <p:spPr bwMode="auto">
          <a:xfrm>
            <a:off x="2514600" y="21336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17" name="Oval 9"/>
          <p:cNvSpPr>
            <a:spLocks noChangeArrowheads="1"/>
          </p:cNvSpPr>
          <p:nvPr/>
        </p:nvSpPr>
        <p:spPr bwMode="auto">
          <a:xfrm>
            <a:off x="2514600" y="33528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18" name="Oval 10"/>
          <p:cNvSpPr>
            <a:spLocks noChangeArrowheads="1"/>
          </p:cNvSpPr>
          <p:nvPr/>
        </p:nvSpPr>
        <p:spPr bwMode="auto">
          <a:xfrm>
            <a:off x="2514600" y="4572000"/>
            <a:ext cx="457200" cy="4572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19" name="Line 11"/>
          <p:cNvSpPr>
            <a:spLocks noChangeShapeType="1"/>
          </p:cNvSpPr>
          <p:nvPr/>
        </p:nvSpPr>
        <p:spPr bwMode="auto">
          <a:xfrm>
            <a:off x="1219200" y="2667000"/>
            <a:ext cx="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20" name="Line 12"/>
          <p:cNvSpPr>
            <a:spLocks noChangeShapeType="1"/>
          </p:cNvSpPr>
          <p:nvPr/>
        </p:nvSpPr>
        <p:spPr bwMode="auto">
          <a:xfrm>
            <a:off x="1219200" y="3886200"/>
            <a:ext cx="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21" name="Freeform 13"/>
          <p:cNvSpPr>
            <a:spLocks/>
          </p:cNvSpPr>
          <p:nvPr/>
        </p:nvSpPr>
        <p:spPr bwMode="auto">
          <a:xfrm flipH="1">
            <a:off x="2895600" y="3810000"/>
            <a:ext cx="76200" cy="762000"/>
          </a:xfrm>
          <a:custGeom>
            <a:avLst/>
            <a:gdLst>
              <a:gd name="T0" fmla="*/ 48 w 48"/>
              <a:gd name="T1" fmla="*/ 0 h 480"/>
              <a:gd name="T2" fmla="*/ 0 w 48"/>
              <a:gd name="T3" fmla="*/ 240 h 480"/>
              <a:gd name="T4" fmla="*/ 48 w 48"/>
              <a:gd name="T5" fmla="*/ 480 h 480"/>
            </a:gdLst>
            <a:ahLst/>
            <a:cxnLst>
              <a:cxn ang="0">
                <a:pos x="T0" y="T1"/>
              </a:cxn>
              <a:cxn ang="0">
                <a:pos x="T2" y="T3"/>
              </a:cxn>
              <a:cxn ang="0">
                <a:pos x="T4" y="T5"/>
              </a:cxn>
            </a:cxnLst>
            <a:rect l="0" t="0" r="r" b="b"/>
            <a:pathLst>
              <a:path w="48" h="480">
                <a:moveTo>
                  <a:pt x="48" y="0"/>
                </a:moveTo>
                <a:cubicBezTo>
                  <a:pt x="24" y="80"/>
                  <a:pt x="0" y="160"/>
                  <a:pt x="0" y="240"/>
                </a:cubicBezTo>
                <a:cubicBezTo>
                  <a:pt x="0" y="320"/>
                  <a:pt x="40" y="440"/>
                  <a:pt x="48" y="480"/>
                </a:cubicBezTo>
              </a:path>
            </a:pathLst>
          </a:custGeom>
          <a:noFill/>
          <a:ln w="9525" cap="flat" cmpd="sng">
            <a:solidFill>
              <a:schemeClr val="tx1"/>
            </a:solidFill>
            <a:prstDash val="solid"/>
            <a:miter lim="800000"/>
            <a:headEn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22" name="Freeform 14"/>
          <p:cNvSpPr>
            <a:spLocks/>
          </p:cNvSpPr>
          <p:nvPr/>
        </p:nvSpPr>
        <p:spPr bwMode="auto">
          <a:xfrm>
            <a:off x="2514600" y="3810000"/>
            <a:ext cx="76200" cy="762000"/>
          </a:xfrm>
          <a:custGeom>
            <a:avLst/>
            <a:gdLst>
              <a:gd name="T0" fmla="*/ 48 w 48"/>
              <a:gd name="T1" fmla="*/ 0 h 480"/>
              <a:gd name="T2" fmla="*/ 0 w 48"/>
              <a:gd name="T3" fmla="*/ 240 h 480"/>
              <a:gd name="T4" fmla="*/ 48 w 48"/>
              <a:gd name="T5" fmla="*/ 480 h 480"/>
            </a:gdLst>
            <a:ahLst/>
            <a:cxnLst>
              <a:cxn ang="0">
                <a:pos x="T0" y="T1"/>
              </a:cxn>
              <a:cxn ang="0">
                <a:pos x="T2" y="T3"/>
              </a:cxn>
              <a:cxn ang="0">
                <a:pos x="T4" y="T5"/>
              </a:cxn>
            </a:cxnLst>
            <a:rect l="0" t="0" r="r" b="b"/>
            <a:pathLst>
              <a:path w="48" h="480">
                <a:moveTo>
                  <a:pt x="48" y="0"/>
                </a:moveTo>
                <a:cubicBezTo>
                  <a:pt x="24" y="80"/>
                  <a:pt x="0" y="160"/>
                  <a:pt x="0" y="240"/>
                </a:cubicBezTo>
                <a:cubicBezTo>
                  <a:pt x="0" y="320"/>
                  <a:pt x="40" y="440"/>
                  <a:pt x="48" y="480"/>
                </a:cubicBezTo>
              </a:path>
            </a:pathLst>
          </a:custGeom>
          <a:noFill/>
          <a:ln w="9525" cap="flat" cmpd="sng">
            <a:solidFill>
              <a:schemeClr val="tx1"/>
            </a:solidFill>
            <a:prstDash val="solid"/>
            <a:miter lim="800000"/>
            <a:headEnd type="triangl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23" name="Line 15"/>
          <p:cNvSpPr>
            <a:spLocks noChangeShapeType="1"/>
          </p:cNvSpPr>
          <p:nvPr/>
        </p:nvSpPr>
        <p:spPr bwMode="auto">
          <a:xfrm>
            <a:off x="1524000" y="2362200"/>
            <a:ext cx="914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24" name="Line 16"/>
          <p:cNvSpPr>
            <a:spLocks noChangeShapeType="1"/>
          </p:cNvSpPr>
          <p:nvPr/>
        </p:nvSpPr>
        <p:spPr bwMode="auto">
          <a:xfrm>
            <a:off x="3048000" y="2362200"/>
            <a:ext cx="914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25" name="Line 17"/>
          <p:cNvSpPr>
            <a:spLocks noChangeShapeType="1"/>
          </p:cNvSpPr>
          <p:nvPr/>
        </p:nvSpPr>
        <p:spPr bwMode="auto">
          <a:xfrm flipH="1">
            <a:off x="2971800" y="2590800"/>
            <a:ext cx="106680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26" name="Line 18"/>
          <p:cNvSpPr>
            <a:spLocks noChangeShapeType="1"/>
          </p:cNvSpPr>
          <p:nvPr/>
        </p:nvSpPr>
        <p:spPr bwMode="auto">
          <a:xfrm>
            <a:off x="2743200" y="2667000"/>
            <a:ext cx="0" cy="685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grpSp>
        <p:nvGrpSpPr>
          <p:cNvPr id="43027" name="Group 19"/>
          <p:cNvGrpSpPr>
            <a:grpSpLocks/>
          </p:cNvGrpSpPr>
          <p:nvPr/>
        </p:nvGrpSpPr>
        <p:grpSpPr bwMode="auto">
          <a:xfrm>
            <a:off x="4038600" y="1981200"/>
            <a:ext cx="4191000" cy="3048000"/>
            <a:chOff x="2544" y="1248"/>
            <a:chExt cx="2640" cy="1920"/>
          </a:xfrm>
        </p:grpSpPr>
        <p:sp>
          <p:nvSpPr>
            <p:cNvPr id="43028" name="Oval 20"/>
            <p:cNvSpPr>
              <a:spLocks noChangeArrowheads="1"/>
            </p:cNvSpPr>
            <p:nvPr/>
          </p:nvSpPr>
          <p:spPr bwMode="auto">
            <a:xfrm>
              <a:off x="2544" y="2112"/>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29" name="Oval 21"/>
            <p:cNvSpPr>
              <a:spLocks noChangeArrowheads="1"/>
            </p:cNvSpPr>
            <p:nvPr/>
          </p:nvSpPr>
          <p:spPr bwMode="auto">
            <a:xfrm>
              <a:off x="2544" y="2880"/>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nvGrpSpPr>
            <p:cNvPr id="43030" name="Group 22"/>
            <p:cNvGrpSpPr>
              <a:grpSpLocks/>
            </p:cNvGrpSpPr>
            <p:nvPr/>
          </p:nvGrpSpPr>
          <p:grpSpPr bwMode="auto">
            <a:xfrm>
              <a:off x="3552" y="1344"/>
              <a:ext cx="288" cy="1824"/>
              <a:chOff x="624" y="1152"/>
              <a:chExt cx="288" cy="1824"/>
            </a:xfrm>
          </p:grpSpPr>
          <p:sp>
            <p:nvSpPr>
              <p:cNvPr id="43031" name="Oval 23"/>
              <p:cNvSpPr>
                <a:spLocks noChangeArrowheads="1"/>
              </p:cNvSpPr>
              <p:nvPr/>
            </p:nvSpPr>
            <p:spPr bwMode="auto">
              <a:xfrm>
                <a:off x="624" y="1152"/>
                <a:ext cx="288" cy="28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32" name="Oval 24"/>
              <p:cNvSpPr>
                <a:spLocks noChangeArrowheads="1"/>
              </p:cNvSpPr>
              <p:nvPr/>
            </p:nvSpPr>
            <p:spPr bwMode="auto">
              <a:xfrm>
                <a:off x="624" y="1920"/>
                <a:ext cx="288" cy="28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33" name="Oval 25"/>
              <p:cNvSpPr>
                <a:spLocks noChangeArrowheads="1"/>
              </p:cNvSpPr>
              <p:nvPr/>
            </p:nvSpPr>
            <p:spPr bwMode="auto">
              <a:xfrm>
                <a:off x="624" y="2688"/>
                <a:ext cx="288" cy="288"/>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grpSp>
          <p:nvGrpSpPr>
            <p:cNvPr id="43034" name="Group 26"/>
            <p:cNvGrpSpPr>
              <a:grpSpLocks/>
            </p:cNvGrpSpPr>
            <p:nvPr/>
          </p:nvGrpSpPr>
          <p:grpSpPr bwMode="auto">
            <a:xfrm>
              <a:off x="4560" y="1344"/>
              <a:ext cx="288" cy="1824"/>
              <a:chOff x="624" y="1152"/>
              <a:chExt cx="288" cy="1824"/>
            </a:xfrm>
          </p:grpSpPr>
          <p:sp>
            <p:nvSpPr>
              <p:cNvPr id="43035" name="Oval 27"/>
              <p:cNvSpPr>
                <a:spLocks noChangeArrowheads="1"/>
              </p:cNvSpPr>
              <p:nvPr/>
            </p:nvSpPr>
            <p:spPr bwMode="auto">
              <a:xfrm>
                <a:off x="624" y="1152"/>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36" name="Oval 28"/>
              <p:cNvSpPr>
                <a:spLocks noChangeArrowheads="1"/>
              </p:cNvSpPr>
              <p:nvPr/>
            </p:nvSpPr>
            <p:spPr bwMode="auto">
              <a:xfrm>
                <a:off x="624" y="1920"/>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37" name="Oval 29"/>
              <p:cNvSpPr>
                <a:spLocks noChangeArrowheads="1"/>
              </p:cNvSpPr>
              <p:nvPr/>
            </p:nvSpPr>
            <p:spPr bwMode="auto">
              <a:xfrm>
                <a:off x="624" y="2688"/>
                <a:ext cx="288" cy="28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43038" name="Line 30"/>
            <p:cNvSpPr>
              <a:spLocks noChangeShapeType="1"/>
            </p:cNvSpPr>
            <p:nvPr/>
          </p:nvSpPr>
          <p:spPr bwMode="auto">
            <a:xfrm>
              <a:off x="3696" y="1680"/>
              <a:ext cx="0" cy="384"/>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39" name="Line 31"/>
            <p:cNvSpPr>
              <a:spLocks noChangeShapeType="1"/>
            </p:cNvSpPr>
            <p:nvPr/>
          </p:nvSpPr>
          <p:spPr bwMode="auto">
            <a:xfrm>
              <a:off x="3696" y="2448"/>
              <a:ext cx="0" cy="384"/>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40" name="Line 32"/>
            <p:cNvSpPr>
              <a:spLocks noChangeShapeType="1"/>
            </p:cNvSpPr>
            <p:nvPr/>
          </p:nvSpPr>
          <p:spPr bwMode="auto">
            <a:xfrm flipV="1">
              <a:off x="2688" y="2448"/>
              <a:ext cx="0" cy="384"/>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41" name="Line 33"/>
            <p:cNvSpPr>
              <a:spLocks noChangeShapeType="1"/>
            </p:cNvSpPr>
            <p:nvPr/>
          </p:nvSpPr>
          <p:spPr bwMode="auto">
            <a:xfrm>
              <a:off x="2880" y="3024"/>
              <a:ext cx="624"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42" name="Line 34"/>
            <p:cNvSpPr>
              <a:spLocks noChangeShapeType="1"/>
            </p:cNvSpPr>
            <p:nvPr/>
          </p:nvSpPr>
          <p:spPr bwMode="auto">
            <a:xfrm>
              <a:off x="3888" y="3024"/>
              <a:ext cx="624"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43" name="Freeform 35"/>
            <p:cNvSpPr>
              <a:spLocks/>
            </p:cNvSpPr>
            <p:nvPr/>
          </p:nvSpPr>
          <p:spPr bwMode="auto">
            <a:xfrm>
              <a:off x="2832" y="2016"/>
              <a:ext cx="336" cy="320"/>
            </a:xfrm>
            <a:custGeom>
              <a:avLst/>
              <a:gdLst>
                <a:gd name="T0" fmla="*/ 0 w 336"/>
                <a:gd name="T1" fmla="*/ 104 h 320"/>
                <a:gd name="T2" fmla="*/ 192 w 336"/>
                <a:gd name="T3" fmla="*/ 8 h 320"/>
                <a:gd name="T4" fmla="*/ 288 w 336"/>
                <a:gd name="T5" fmla="*/ 152 h 320"/>
                <a:gd name="T6" fmla="*/ 288 w 336"/>
                <a:gd name="T7" fmla="*/ 296 h 320"/>
                <a:gd name="T8" fmla="*/ 0 w 336"/>
                <a:gd name="T9" fmla="*/ 296 h 320"/>
              </a:gdLst>
              <a:ahLst/>
              <a:cxnLst>
                <a:cxn ang="0">
                  <a:pos x="T0" y="T1"/>
                </a:cxn>
                <a:cxn ang="0">
                  <a:pos x="T2" y="T3"/>
                </a:cxn>
                <a:cxn ang="0">
                  <a:pos x="T4" y="T5"/>
                </a:cxn>
                <a:cxn ang="0">
                  <a:pos x="T6" y="T7"/>
                </a:cxn>
                <a:cxn ang="0">
                  <a:pos x="T8" y="T9"/>
                </a:cxn>
              </a:cxnLst>
              <a:rect l="0" t="0" r="r" b="b"/>
              <a:pathLst>
                <a:path w="336" h="320">
                  <a:moveTo>
                    <a:pt x="0" y="104"/>
                  </a:moveTo>
                  <a:cubicBezTo>
                    <a:pt x="72" y="52"/>
                    <a:pt x="144" y="0"/>
                    <a:pt x="192" y="8"/>
                  </a:cubicBezTo>
                  <a:cubicBezTo>
                    <a:pt x="240" y="16"/>
                    <a:pt x="272" y="104"/>
                    <a:pt x="288" y="152"/>
                  </a:cubicBezTo>
                  <a:cubicBezTo>
                    <a:pt x="304" y="200"/>
                    <a:pt x="336" y="272"/>
                    <a:pt x="288" y="296"/>
                  </a:cubicBezTo>
                  <a:cubicBezTo>
                    <a:pt x="240" y="320"/>
                    <a:pt x="120" y="308"/>
                    <a:pt x="0" y="296"/>
                  </a:cubicBezTo>
                </a:path>
              </a:pathLst>
            </a:custGeom>
            <a:noFill/>
            <a:ln w="9525" cap="flat" cmpd="sng">
              <a:solidFill>
                <a:schemeClr val="tx1"/>
              </a:solidFill>
              <a:prstDash val="solid"/>
              <a:miter lim="800000"/>
              <a:headEn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44" name="Freeform 36"/>
            <p:cNvSpPr>
              <a:spLocks/>
            </p:cNvSpPr>
            <p:nvPr/>
          </p:nvSpPr>
          <p:spPr bwMode="auto">
            <a:xfrm>
              <a:off x="4848" y="1248"/>
              <a:ext cx="336" cy="320"/>
            </a:xfrm>
            <a:custGeom>
              <a:avLst/>
              <a:gdLst>
                <a:gd name="T0" fmla="*/ 0 w 336"/>
                <a:gd name="T1" fmla="*/ 104 h 320"/>
                <a:gd name="T2" fmla="*/ 192 w 336"/>
                <a:gd name="T3" fmla="*/ 8 h 320"/>
                <a:gd name="T4" fmla="*/ 288 w 336"/>
                <a:gd name="T5" fmla="*/ 152 h 320"/>
                <a:gd name="T6" fmla="*/ 288 w 336"/>
                <a:gd name="T7" fmla="*/ 296 h 320"/>
                <a:gd name="T8" fmla="*/ 0 w 336"/>
                <a:gd name="T9" fmla="*/ 296 h 320"/>
              </a:gdLst>
              <a:ahLst/>
              <a:cxnLst>
                <a:cxn ang="0">
                  <a:pos x="T0" y="T1"/>
                </a:cxn>
                <a:cxn ang="0">
                  <a:pos x="T2" y="T3"/>
                </a:cxn>
                <a:cxn ang="0">
                  <a:pos x="T4" y="T5"/>
                </a:cxn>
                <a:cxn ang="0">
                  <a:pos x="T6" y="T7"/>
                </a:cxn>
                <a:cxn ang="0">
                  <a:pos x="T8" y="T9"/>
                </a:cxn>
              </a:cxnLst>
              <a:rect l="0" t="0" r="r" b="b"/>
              <a:pathLst>
                <a:path w="336" h="320">
                  <a:moveTo>
                    <a:pt x="0" y="104"/>
                  </a:moveTo>
                  <a:cubicBezTo>
                    <a:pt x="72" y="52"/>
                    <a:pt x="144" y="0"/>
                    <a:pt x="192" y="8"/>
                  </a:cubicBezTo>
                  <a:cubicBezTo>
                    <a:pt x="240" y="16"/>
                    <a:pt x="272" y="104"/>
                    <a:pt x="288" y="152"/>
                  </a:cubicBezTo>
                  <a:cubicBezTo>
                    <a:pt x="304" y="200"/>
                    <a:pt x="336" y="272"/>
                    <a:pt x="288" y="296"/>
                  </a:cubicBezTo>
                  <a:cubicBezTo>
                    <a:pt x="240" y="320"/>
                    <a:pt x="120" y="308"/>
                    <a:pt x="0" y="296"/>
                  </a:cubicBezTo>
                </a:path>
              </a:pathLst>
            </a:custGeom>
            <a:noFill/>
            <a:ln w="9525" cap="flat" cmpd="sng">
              <a:solidFill>
                <a:schemeClr val="tx1"/>
              </a:solidFill>
              <a:prstDash val="solid"/>
              <a:miter lim="800000"/>
              <a:headEn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45" name="Line 37"/>
            <p:cNvSpPr>
              <a:spLocks noChangeShapeType="1"/>
            </p:cNvSpPr>
            <p:nvPr/>
          </p:nvSpPr>
          <p:spPr bwMode="auto">
            <a:xfrm flipV="1">
              <a:off x="4704" y="2448"/>
              <a:ext cx="0" cy="384"/>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46" name="Freeform 38"/>
            <p:cNvSpPr>
              <a:spLocks/>
            </p:cNvSpPr>
            <p:nvPr/>
          </p:nvSpPr>
          <p:spPr bwMode="auto">
            <a:xfrm>
              <a:off x="4560" y="1632"/>
              <a:ext cx="48" cy="480"/>
            </a:xfrm>
            <a:custGeom>
              <a:avLst/>
              <a:gdLst>
                <a:gd name="T0" fmla="*/ 48 w 48"/>
                <a:gd name="T1" fmla="*/ 0 h 480"/>
                <a:gd name="T2" fmla="*/ 0 w 48"/>
                <a:gd name="T3" fmla="*/ 240 h 480"/>
                <a:gd name="T4" fmla="*/ 48 w 48"/>
                <a:gd name="T5" fmla="*/ 480 h 480"/>
              </a:gdLst>
              <a:ahLst/>
              <a:cxnLst>
                <a:cxn ang="0">
                  <a:pos x="T0" y="T1"/>
                </a:cxn>
                <a:cxn ang="0">
                  <a:pos x="T2" y="T3"/>
                </a:cxn>
                <a:cxn ang="0">
                  <a:pos x="T4" y="T5"/>
                </a:cxn>
              </a:cxnLst>
              <a:rect l="0" t="0" r="r" b="b"/>
              <a:pathLst>
                <a:path w="48" h="480">
                  <a:moveTo>
                    <a:pt x="48" y="0"/>
                  </a:moveTo>
                  <a:cubicBezTo>
                    <a:pt x="24" y="80"/>
                    <a:pt x="0" y="160"/>
                    <a:pt x="0" y="240"/>
                  </a:cubicBezTo>
                  <a:cubicBezTo>
                    <a:pt x="0" y="320"/>
                    <a:pt x="40" y="440"/>
                    <a:pt x="48" y="480"/>
                  </a:cubicBezTo>
                </a:path>
              </a:pathLst>
            </a:custGeom>
            <a:noFill/>
            <a:ln w="9525" cap="flat" cmpd="sng">
              <a:solidFill>
                <a:schemeClr val="tx1"/>
              </a:solidFill>
              <a:prstDash val="solid"/>
              <a:miter lim="800000"/>
              <a:headEn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47" name="Freeform 39"/>
            <p:cNvSpPr>
              <a:spLocks/>
            </p:cNvSpPr>
            <p:nvPr/>
          </p:nvSpPr>
          <p:spPr bwMode="auto">
            <a:xfrm flipH="1">
              <a:off x="4800" y="1632"/>
              <a:ext cx="48" cy="480"/>
            </a:xfrm>
            <a:custGeom>
              <a:avLst/>
              <a:gdLst>
                <a:gd name="T0" fmla="*/ 48 w 48"/>
                <a:gd name="T1" fmla="*/ 0 h 480"/>
                <a:gd name="T2" fmla="*/ 0 w 48"/>
                <a:gd name="T3" fmla="*/ 240 h 480"/>
                <a:gd name="T4" fmla="*/ 48 w 48"/>
                <a:gd name="T5" fmla="*/ 480 h 480"/>
              </a:gdLst>
              <a:ahLst/>
              <a:cxnLst>
                <a:cxn ang="0">
                  <a:pos x="T0" y="T1"/>
                </a:cxn>
                <a:cxn ang="0">
                  <a:pos x="T2" y="T3"/>
                </a:cxn>
                <a:cxn ang="0">
                  <a:pos x="T4" y="T5"/>
                </a:cxn>
              </a:cxnLst>
              <a:rect l="0" t="0" r="r" b="b"/>
              <a:pathLst>
                <a:path w="48" h="480">
                  <a:moveTo>
                    <a:pt x="48" y="0"/>
                  </a:moveTo>
                  <a:cubicBezTo>
                    <a:pt x="24" y="80"/>
                    <a:pt x="0" y="160"/>
                    <a:pt x="0" y="240"/>
                  </a:cubicBezTo>
                  <a:cubicBezTo>
                    <a:pt x="0" y="320"/>
                    <a:pt x="40" y="440"/>
                    <a:pt x="48" y="480"/>
                  </a:cubicBezTo>
                </a:path>
              </a:pathLst>
            </a:custGeom>
            <a:noFill/>
            <a:ln w="9525" cap="flat" cmpd="sng">
              <a:solidFill>
                <a:schemeClr val="tx1"/>
              </a:solidFill>
              <a:prstDash val="solid"/>
              <a:miter lim="800000"/>
              <a:headEnd type="triangl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43048" name="Freeform 40"/>
            <p:cNvSpPr>
              <a:spLocks/>
            </p:cNvSpPr>
            <p:nvPr/>
          </p:nvSpPr>
          <p:spPr bwMode="auto">
            <a:xfrm>
              <a:off x="3840" y="1248"/>
              <a:ext cx="336" cy="320"/>
            </a:xfrm>
            <a:custGeom>
              <a:avLst/>
              <a:gdLst>
                <a:gd name="T0" fmla="*/ 0 w 336"/>
                <a:gd name="T1" fmla="*/ 104 h 320"/>
                <a:gd name="T2" fmla="*/ 192 w 336"/>
                <a:gd name="T3" fmla="*/ 8 h 320"/>
                <a:gd name="T4" fmla="*/ 288 w 336"/>
                <a:gd name="T5" fmla="*/ 152 h 320"/>
                <a:gd name="T6" fmla="*/ 288 w 336"/>
                <a:gd name="T7" fmla="*/ 296 h 320"/>
                <a:gd name="T8" fmla="*/ 0 w 336"/>
                <a:gd name="T9" fmla="*/ 296 h 320"/>
              </a:gdLst>
              <a:ahLst/>
              <a:cxnLst>
                <a:cxn ang="0">
                  <a:pos x="T0" y="T1"/>
                </a:cxn>
                <a:cxn ang="0">
                  <a:pos x="T2" y="T3"/>
                </a:cxn>
                <a:cxn ang="0">
                  <a:pos x="T4" y="T5"/>
                </a:cxn>
                <a:cxn ang="0">
                  <a:pos x="T6" y="T7"/>
                </a:cxn>
                <a:cxn ang="0">
                  <a:pos x="T8" y="T9"/>
                </a:cxn>
              </a:cxnLst>
              <a:rect l="0" t="0" r="r" b="b"/>
              <a:pathLst>
                <a:path w="336" h="320">
                  <a:moveTo>
                    <a:pt x="0" y="104"/>
                  </a:moveTo>
                  <a:cubicBezTo>
                    <a:pt x="72" y="52"/>
                    <a:pt x="144" y="0"/>
                    <a:pt x="192" y="8"/>
                  </a:cubicBezTo>
                  <a:cubicBezTo>
                    <a:pt x="240" y="16"/>
                    <a:pt x="272" y="104"/>
                    <a:pt x="288" y="152"/>
                  </a:cubicBezTo>
                  <a:cubicBezTo>
                    <a:pt x="304" y="200"/>
                    <a:pt x="336" y="272"/>
                    <a:pt x="288" y="296"/>
                  </a:cubicBezTo>
                  <a:cubicBezTo>
                    <a:pt x="240" y="320"/>
                    <a:pt x="120" y="308"/>
                    <a:pt x="0" y="296"/>
                  </a:cubicBezTo>
                </a:path>
              </a:pathLst>
            </a:custGeom>
            <a:noFill/>
            <a:ln w="9525" cap="flat" cmpd="sng">
              <a:solidFill>
                <a:schemeClr val="tx1"/>
              </a:solidFill>
              <a:prstDash val="solid"/>
              <a:miter lim="800000"/>
              <a:headEn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grpSp>
      <p:sp>
        <p:nvSpPr>
          <p:cNvPr id="43049" name="Oval 41"/>
          <p:cNvSpPr>
            <a:spLocks noChangeArrowheads="1"/>
          </p:cNvSpPr>
          <p:nvPr/>
        </p:nvSpPr>
        <p:spPr bwMode="auto">
          <a:xfrm>
            <a:off x="2438400" y="4495800"/>
            <a:ext cx="609600" cy="609600"/>
          </a:xfrm>
          <a:prstGeom prst="ellipse">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50" name="Oval 42"/>
          <p:cNvSpPr>
            <a:spLocks noChangeArrowheads="1"/>
          </p:cNvSpPr>
          <p:nvPr/>
        </p:nvSpPr>
        <p:spPr bwMode="auto">
          <a:xfrm>
            <a:off x="914400" y="2057400"/>
            <a:ext cx="609600" cy="609600"/>
          </a:xfrm>
          <a:prstGeom prst="ellipse">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nvGrpSpPr>
          <p:cNvPr id="43051" name="Group 43"/>
          <p:cNvGrpSpPr>
            <a:grpSpLocks/>
          </p:cNvGrpSpPr>
          <p:nvPr/>
        </p:nvGrpSpPr>
        <p:grpSpPr bwMode="auto">
          <a:xfrm>
            <a:off x="914400" y="2057400"/>
            <a:ext cx="2133600" cy="1828800"/>
            <a:chOff x="576" y="1296"/>
            <a:chExt cx="1344" cy="1152"/>
          </a:xfrm>
        </p:grpSpPr>
        <p:sp>
          <p:nvSpPr>
            <p:cNvPr id="43052" name="Oval 44"/>
            <p:cNvSpPr>
              <a:spLocks noChangeArrowheads="1"/>
            </p:cNvSpPr>
            <p:nvPr/>
          </p:nvSpPr>
          <p:spPr bwMode="auto">
            <a:xfrm>
              <a:off x="1536" y="1296"/>
              <a:ext cx="384" cy="384"/>
            </a:xfrm>
            <a:prstGeom prst="ellipse">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53" name="Oval 45"/>
            <p:cNvSpPr>
              <a:spLocks noChangeArrowheads="1"/>
            </p:cNvSpPr>
            <p:nvPr/>
          </p:nvSpPr>
          <p:spPr bwMode="auto">
            <a:xfrm>
              <a:off x="576" y="2064"/>
              <a:ext cx="384" cy="384"/>
            </a:xfrm>
            <a:prstGeom prst="ellipse">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grpSp>
        <p:nvGrpSpPr>
          <p:cNvPr id="43054" name="Group 46"/>
          <p:cNvGrpSpPr>
            <a:grpSpLocks/>
          </p:cNvGrpSpPr>
          <p:nvPr/>
        </p:nvGrpSpPr>
        <p:grpSpPr bwMode="auto">
          <a:xfrm>
            <a:off x="914400" y="2057400"/>
            <a:ext cx="3657600" cy="3048000"/>
            <a:chOff x="576" y="1296"/>
            <a:chExt cx="2304" cy="1920"/>
          </a:xfrm>
        </p:grpSpPr>
        <p:sp>
          <p:nvSpPr>
            <p:cNvPr id="43055" name="Oval 47"/>
            <p:cNvSpPr>
              <a:spLocks noChangeArrowheads="1"/>
            </p:cNvSpPr>
            <p:nvPr/>
          </p:nvSpPr>
          <p:spPr bwMode="auto">
            <a:xfrm>
              <a:off x="2496" y="1296"/>
              <a:ext cx="384" cy="384"/>
            </a:xfrm>
            <a:prstGeom prst="ellipse">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56" name="Oval 48"/>
            <p:cNvSpPr>
              <a:spLocks noChangeArrowheads="1"/>
            </p:cNvSpPr>
            <p:nvPr/>
          </p:nvSpPr>
          <p:spPr bwMode="auto">
            <a:xfrm>
              <a:off x="1536" y="2064"/>
              <a:ext cx="384" cy="384"/>
            </a:xfrm>
            <a:prstGeom prst="ellipse">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57" name="Oval 49"/>
            <p:cNvSpPr>
              <a:spLocks noChangeArrowheads="1"/>
            </p:cNvSpPr>
            <p:nvPr/>
          </p:nvSpPr>
          <p:spPr bwMode="auto">
            <a:xfrm>
              <a:off x="576" y="2832"/>
              <a:ext cx="384" cy="384"/>
            </a:xfrm>
            <a:prstGeom prst="ellipse">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43058" name="Text Box 50"/>
          <p:cNvSpPr txBox="1">
            <a:spLocks noChangeArrowheads="1"/>
          </p:cNvSpPr>
          <p:nvPr/>
        </p:nvSpPr>
        <p:spPr bwMode="auto">
          <a:xfrm>
            <a:off x="1371600" y="5638800"/>
            <a:ext cx="397033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a:r>
              <a:rPr kumimoji="1" lang="en-US" altLang="he-IL"/>
              <a:t>Too many states to handle !</a:t>
            </a:r>
          </a:p>
        </p:txBody>
      </p:sp>
      <p:sp>
        <p:nvSpPr>
          <p:cNvPr id="43059" name="Oval 51"/>
          <p:cNvSpPr>
            <a:spLocks noChangeArrowheads="1"/>
          </p:cNvSpPr>
          <p:nvPr/>
        </p:nvSpPr>
        <p:spPr bwMode="auto">
          <a:xfrm>
            <a:off x="304800" y="6324600"/>
            <a:ext cx="304800" cy="304800"/>
          </a:xfrm>
          <a:prstGeom prst="ellipse">
            <a:avLst/>
          </a:prstGeom>
          <a:solidFill>
            <a:srgbClr val="FF0000"/>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3060" name="Text Box 52"/>
          <p:cNvSpPr txBox="1">
            <a:spLocks noChangeArrowheads="1"/>
          </p:cNvSpPr>
          <p:nvPr/>
        </p:nvSpPr>
        <p:spPr bwMode="auto">
          <a:xfrm>
            <a:off x="587375" y="6205538"/>
            <a:ext cx="1754188" cy="457200"/>
          </a:xfrm>
          <a:prstGeom prst="rect">
            <a:avLst/>
          </a:prstGeom>
          <a:noFill/>
          <a:ln>
            <a:noFill/>
          </a:ln>
          <a:effectLst/>
          <a:extLst>
            <a:ext uri="{909E8E84-426E-40dd-AFC4-6F175D3DCCD1}">
              <a14:hiddenFill xmlns:a14="http://schemas.microsoft.com/office/drawing/2010/main" xmlns="">
                <a:solidFill>
                  <a:schemeClr val="bg2"/>
                </a:solidFill>
              </a14:hiddenFill>
            </a:ext>
            <a:ext uri="{91240B29-F687-4f45-9708-019B960494DF}">
              <a14:hiddenLine xmlns:a14="http://schemas.microsoft.com/office/drawing/2010/main" xmlns="" w="12700">
                <a:solidFill>
                  <a:schemeClr val="tx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a:r>
              <a:rPr kumimoji="1" lang="en-US" altLang="zh-CN">
                <a:ea typeface="宋体" pitchFamily="2" charset="-122"/>
              </a:rPr>
              <a:t>= bad state</a:t>
            </a:r>
          </a:p>
        </p:txBody>
      </p:sp>
      <p:sp>
        <p:nvSpPr>
          <p:cNvPr id="43062" name="AutoShape 54"/>
          <p:cNvSpPr>
            <a:spLocks noChangeArrowheads="1"/>
          </p:cNvSpPr>
          <p:nvPr/>
        </p:nvSpPr>
        <p:spPr bwMode="auto">
          <a:xfrm>
            <a:off x="5255840" y="5373216"/>
            <a:ext cx="3708648" cy="1179984"/>
          </a:xfrm>
          <a:prstGeom prst="star16">
            <a:avLst>
              <a:gd name="adj" fmla="val 37500"/>
            </a:avLst>
          </a:prstGeom>
          <a:solidFill>
            <a:srgbClr val="ECD882"/>
          </a:solidFill>
          <a:ln w="254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zh-CN" sz="2000" b="1" dirty="0" smtClean="0">
                <a:solidFill>
                  <a:srgbClr val="FF0000"/>
                </a:solidFill>
                <a:ea typeface="宋体" pitchFamily="2" charset="-122"/>
              </a:rPr>
              <a:t>MUST </a:t>
            </a:r>
            <a:r>
              <a:rPr lang="en-US" altLang="zh-CN" sz="2000" b="1" dirty="0">
                <a:solidFill>
                  <a:srgbClr val="FF0000"/>
                </a:solidFill>
                <a:ea typeface="宋体" pitchFamily="2" charset="-122"/>
              </a:rPr>
              <a:t>ABSTRACT!!</a:t>
            </a:r>
          </a:p>
        </p:txBody>
      </p:sp>
    </p:spTree>
    <p:extLst>
      <p:ext uri="{BB962C8B-B14F-4D97-AF65-F5344CB8AC3E}">
        <p14:creationId xmlns:p14="http://schemas.microsoft.com/office/powerpoint/2010/main" val="35348256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6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zh-CN" altLang="en-US" dirty="0" smtClean="0">
                <a:ea typeface="宋体" pitchFamily="2" charset="-122"/>
              </a:rPr>
              <a:t>抽象（</a:t>
            </a:r>
            <a:r>
              <a:rPr lang="en-US" altLang="zh-CN" dirty="0" smtClean="0">
                <a:ea typeface="宋体" pitchFamily="2" charset="-122"/>
              </a:rPr>
              <a:t>Abstraction</a:t>
            </a:r>
            <a:r>
              <a:rPr lang="zh-CN" altLang="en-US" dirty="0" smtClean="0">
                <a:ea typeface="宋体" pitchFamily="2" charset="-122"/>
              </a:rPr>
              <a:t>）</a:t>
            </a:r>
            <a:endParaRPr lang="en-US" altLang="zh-CN" dirty="0">
              <a:ea typeface="宋体" pitchFamily="2" charset="-122"/>
            </a:endParaRPr>
          </a:p>
        </p:txBody>
      </p:sp>
      <p:sp>
        <p:nvSpPr>
          <p:cNvPr id="4099" name="Rectangle 3"/>
          <p:cNvSpPr>
            <a:spLocks noGrp="1" noChangeArrowheads="1"/>
          </p:cNvSpPr>
          <p:nvPr>
            <p:ph type="body" idx="1"/>
          </p:nvPr>
        </p:nvSpPr>
        <p:spPr>
          <a:xfrm>
            <a:off x="251520" y="1340768"/>
            <a:ext cx="8610600" cy="4525963"/>
          </a:xfrm>
        </p:spPr>
        <p:txBody>
          <a:bodyPr/>
          <a:lstStyle/>
          <a:p>
            <a:r>
              <a:rPr lang="zh-CN" altLang="en-US" dirty="0" smtClean="0">
                <a:ea typeface="宋体" pitchFamily="2" charset="-122"/>
              </a:rPr>
              <a:t>通过抽象来减化模型</a:t>
            </a:r>
            <a:endParaRPr lang="en-US" altLang="zh-CN" dirty="0" smtClean="0">
              <a:ea typeface="宋体" pitchFamily="2" charset="-122"/>
            </a:endParaRPr>
          </a:p>
          <a:p>
            <a:pPr lvl="1"/>
            <a:r>
              <a:rPr lang="zh-CN" altLang="en-US" dirty="0" smtClean="0">
                <a:ea typeface="宋体" pitchFamily="2" charset="-122"/>
              </a:rPr>
              <a:t>不规则状态规则化</a:t>
            </a:r>
            <a:endParaRPr lang="en-US" altLang="zh-CN" dirty="0" smtClean="0">
              <a:ea typeface="宋体" pitchFamily="2" charset="-122"/>
            </a:endParaRPr>
          </a:p>
          <a:p>
            <a:pPr lvl="1"/>
            <a:r>
              <a:rPr lang="zh-CN" altLang="en-US" dirty="0" smtClean="0">
                <a:ea typeface="宋体" pitchFamily="2" charset="-122"/>
              </a:rPr>
              <a:t>具体值集合化</a:t>
            </a:r>
            <a:endParaRPr lang="en-US" altLang="zh-CN" dirty="0" smtClean="0">
              <a:ea typeface="宋体" pitchFamily="2" charset="-122"/>
            </a:endParaRPr>
          </a:p>
          <a:p>
            <a:pPr lvl="1"/>
            <a:r>
              <a:rPr lang="zh-CN" altLang="zh-CN" dirty="0" smtClean="0">
                <a:ea typeface="宋体" pitchFamily="2" charset="-122"/>
              </a:rPr>
              <a:t>。</a:t>
            </a:r>
            <a:r>
              <a:rPr lang="zh-CN" altLang="en-US" dirty="0" smtClean="0">
                <a:ea typeface="宋体" pitchFamily="2" charset="-122"/>
              </a:rPr>
              <a:t>。。</a:t>
            </a:r>
            <a:endParaRPr lang="en-US" altLang="zh-CN" dirty="0">
              <a:ea typeface="宋体" pitchFamily="2" charset="-122"/>
            </a:endParaRPr>
          </a:p>
          <a:p>
            <a:endParaRPr lang="en-US" altLang="zh-CN" dirty="0" smtClean="0">
              <a:ea typeface="宋体" pitchFamily="2" charset="-122"/>
            </a:endParaRPr>
          </a:p>
          <a:p>
            <a:r>
              <a:rPr lang="zh-CN" altLang="en-US" dirty="0" smtClean="0">
                <a:ea typeface="宋体" pitchFamily="2" charset="-122"/>
              </a:rPr>
              <a:t>可能带来误报或漏报</a:t>
            </a:r>
            <a:endParaRPr lang="en-US" altLang="zh-CN" dirty="0">
              <a:ea typeface="宋体" pitchFamily="2" charset="-122"/>
            </a:endParaRPr>
          </a:p>
        </p:txBody>
      </p:sp>
      <p:pic>
        <p:nvPicPr>
          <p:cNvPr id="17" name="图片 5" descr="app.jpg"/>
          <p:cNvPicPr>
            <a:picLocks noChangeAspect="1"/>
          </p:cNvPicPr>
          <p:nvPr/>
        </p:nvPicPr>
        <p:blipFill>
          <a:blip r:embed="rId2" cstate="print"/>
          <a:srcRect/>
          <a:stretch>
            <a:fillRect/>
          </a:stretch>
        </p:blipFill>
        <p:spPr bwMode="auto">
          <a:xfrm>
            <a:off x="2267744" y="4125553"/>
            <a:ext cx="4343400" cy="977900"/>
          </a:xfrm>
          <a:prstGeom prst="rect">
            <a:avLst/>
          </a:prstGeom>
          <a:noFill/>
          <a:ln w="9525">
            <a:noFill/>
            <a:miter lim="800000"/>
            <a:headEnd/>
            <a:tailEnd/>
          </a:ln>
        </p:spPr>
      </p:pic>
      <p:sp>
        <p:nvSpPr>
          <p:cNvPr id="18" name="Text Box 4"/>
          <p:cNvSpPr txBox="1">
            <a:spLocks noChangeArrowheads="1"/>
          </p:cNvSpPr>
          <p:nvPr/>
        </p:nvSpPr>
        <p:spPr bwMode="auto">
          <a:xfrm>
            <a:off x="1688232" y="5437212"/>
            <a:ext cx="7842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a:r>
              <a:rPr lang="en-US" altLang="zh-CN">
                <a:ea typeface="宋体" pitchFamily="2" charset="-122"/>
              </a:rPr>
              <a:t>x:int</a:t>
            </a:r>
          </a:p>
        </p:txBody>
      </p:sp>
      <p:grpSp>
        <p:nvGrpSpPr>
          <p:cNvPr id="19" name="Group 6"/>
          <p:cNvGrpSpPr>
            <a:grpSpLocks/>
          </p:cNvGrpSpPr>
          <p:nvPr/>
        </p:nvGrpSpPr>
        <p:grpSpPr bwMode="auto">
          <a:xfrm>
            <a:off x="5498232" y="5170512"/>
            <a:ext cx="1981200" cy="1066800"/>
            <a:chOff x="3120" y="2304"/>
            <a:chExt cx="1248" cy="672"/>
          </a:xfrm>
        </p:grpSpPr>
        <p:sp>
          <p:nvSpPr>
            <p:cNvPr id="20" name="Oval 7"/>
            <p:cNvSpPr>
              <a:spLocks noChangeArrowheads="1"/>
            </p:cNvSpPr>
            <p:nvPr/>
          </p:nvSpPr>
          <p:spPr bwMode="auto">
            <a:xfrm>
              <a:off x="3120" y="2304"/>
              <a:ext cx="1248" cy="672"/>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21" name="Text Box 8"/>
            <p:cNvSpPr txBox="1">
              <a:spLocks noChangeArrowheads="1"/>
            </p:cNvSpPr>
            <p:nvPr/>
          </p:nvSpPr>
          <p:spPr bwMode="auto">
            <a:xfrm>
              <a:off x="3312" y="2400"/>
              <a:ext cx="62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a:r>
                <a:rPr lang="en-US" altLang="zh-CN" sz="1200" b="1" dirty="0">
                  <a:solidFill>
                    <a:schemeClr val="bg2"/>
                  </a:solidFill>
                  <a:ea typeface="宋体" pitchFamily="2" charset="-122"/>
                </a:rPr>
                <a:t>          Even</a:t>
              </a:r>
            </a:p>
          </p:txBody>
        </p:sp>
        <p:sp>
          <p:nvSpPr>
            <p:cNvPr id="22" name="Text Box 9"/>
            <p:cNvSpPr txBox="1">
              <a:spLocks noChangeArrowheads="1"/>
            </p:cNvSpPr>
            <p:nvPr/>
          </p:nvSpPr>
          <p:spPr bwMode="auto">
            <a:xfrm>
              <a:off x="3312" y="2688"/>
              <a:ext cx="618"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a:r>
                <a:rPr lang="en-US" altLang="zh-CN" sz="1200" b="1">
                  <a:solidFill>
                    <a:schemeClr val="bg2"/>
                  </a:solidFill>
                  <a:ea typeface="宋体" pitchFamily="2" charset="-122"/>
                </a:rPr>
                <a:t>           Odd</a:t>
              </a:r>
            </a:p>
          </p:txBody>
        </p:sp>
        <p:sp>
          <p:nvSpPr>
            <p:cNvPr id="23" name="Line 10"/>
            <p:cNvSpPr>
              <a:spLocks noChangeShapeType="1"/>
            </p:cNvSpPr>
            <p:nvPr/>
          </p:nvSpPr>
          <p:spPr bwMode="auto">
            <a:xfrm>
              <a:off x="3120" y="2640"/>
              <a:ext cx="1248" cy="0"/>
            </a:xfrm>
            <a:prstGeom prst="line">
              <a:avLst/>
            </a:prstGeom>
            <a:noFill/>
            <a:ln w="952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grpSp>
      <p:sp>
        <p:nvSpPr>
          <p:cNvPr id="24" name="Oval 12"/>
          <p:cNvSpPr>
            <a:spLocks noChangeArrowheads="1"/>
          </p:cNvSpPr>
          <p:nvPr/>
        </p:nvSpPr>
        <p:spPr bwMode="auto">
          <a:xfrm>
            <a:off x="2755032" y="5170512"/>
            <a:ext cx="1981200" cy="1066800"/>
          </a:xfrm>
          <a:prstGeom prst="ellipse">
            <a:avLst/>
          </a:prstGeom>
          <a:noFill/>
          <a:ln w="9525">
            <a:solidFill>
              <a:schemeClr val="tx1"/>
            </a:solidFill>
            <a:miter lim="800000"/>
            <a:headEnd/>
            <a:tailEnd/>
          </a:ln>
          <a:effectLst/>
          <a:extLst>
            <a:ext uri="{909E8E84-426E-40dd-AFC4-6F175D3DCCD1}">
              <a14:hiddenFill xmlns:a14="http://schemas.microsoft.com/office/drawing/2010/main" xmlns="">
                <a:solidFill>
                  <a:srgbClr val="E47A7A"/>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25" name="Text Box 13"/>
          <p:cNvSpPr txBox="1">
            <a:spLocks noChangeArrowheads="1"/>
          </p:cNvSpPr>
          <p:nvPr/>
        </p:nvSpPr>
        <p:spPr bwMode="auto">
          <a:xfrm>
            <a:off x="3059832" y="5780112"/>
            <a:ext cx="146685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a:r>
              <a:rPr lang="en-US" altLang="zh-CN" sz="1200" b="1">
                <a:solidFill>
                  <a:schemeClr val="bg2"/>
                </a:solidFill>
                <a:ea typeface="宋体" pitchFamily="2" charset="-122"/>
              </a:rPr>
              <a:t>…, -3, -1, 1, 3, …</a:t>
            </a:r>
          </a:p>
        </p:txBody>
      </p:sp>
      <p:sp>
        <p:nvSpPr>
          <p:cNvPr id="26" name="Line 14"/>
          <p:cNvSpPr>
            <a:spLocks noChangeShapeType="1"/>
          </p:cNvSpPr>
          <p:nvPr/>
        </p:nvSpPr>
        <p:spPr bwMode="auto">
          <a:xfrm>
            <a:off x="2755032" y="5703912"/>
            <a:ext cx="1981200" cy="38100"/>
          </a:xfrm>
          <a:prstGeom prst="line">
            <a:avLst/>
          </a:prstGeom>
          <a:noFill/>
          <a:ln w="952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27" name="Text Box 15"/>
          <p:cNvSpPr txBox="1">
            <a:spLocks noChangeArrowheads="1"/>
          </p:cNvSpPr>
          <p:nvPr/>
        </p:nvSpPr>
        <p:spPr bwMode="auto">
          <a:xfrm>
            <a:off x="3059832" y="5322912"/>
            <a:ext cx="1401763"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lgn="l"/>
            <a:r>
              <a:rPr lang="en-US" altLang="zh-CN" sz="1200" b="1">
                <a:solidFill>
                  <a:schemeClr val="bg2"/>
                </a:solidFill>
                <a:ea typeface="宋体" pitchFamily="2" charset="-122"/>
              </a:rPr>
              <a:t>…, -2, 0, 2, 4, …</a:t>
            </a:r>
          </a:p>
        </p:txBody>
      </p:sp>
      <p:grpSp>
        <p:nvGrpSpPr>
          <p:cNvPr id="28" name="Group 32"/>
          <p:cNvGrpSpPr>
            <a:grpSpLocks/>
          </p:cNvGrpSpPr>
          <p:nvPr/>
        </p:nvGrpSpPr>
        <p:grpSpPr bwMode="auto">
          <a:xfrm>
            <a:off x="4583832" y="5437212"/>
            <a:ext cx="1066800" cy="609600"/>
            <a:chOff x="2544" y="2448"/>
            <a:chExt cx="672" cy="384"/>
          </a:xfrm>
        </p:grpSpPr>
        <p:sp>
          <p:nvSpPr>
            <p:cNvPr id="29" name="Line 33"/>
            <p:cNvSpPr>
              <a:spLocks noChangeShapeType="1"/>
            </p:cNvSpPr>
            <p:nvPr/>
          </p:nvSpPr>
          <p:spPr bwMode="auto">
            <a:xfrm>
              <a:off x="2544" y="2448"/>
              <a:ext cx="672" cy="0"/>
            </a:xfrm>
            <a:prstGeom prst="line">
              <a:avLst/>
            </a:prstGeom>
            <a:noFill/>
            <a:ln w="25400" cap="rnd">
              <a:solidFill>
                <a:schemeClr val="folHlink"/>
              </a:solidFill>
              <a:prstDash val="sysDot"/>
              <a:miter lim="800000"/>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sp>
          <p:nvSpPr>
            <p:cNvPr id="30" name="Line 34"/>
            <p:cNvSpPr>
              <a:spLocks noChangeShapeType="1"/>
            </p:cNvSpPr>
            <p:nvPr/>
          </p:nvSpPr>
          <p:spPr bwMode="auto">
            <a:xfrm>
              <a:off x="2544" y="2832"/>
              <a:ext cx="672" cy="0"/>
            </a:xfrm>
            <a:prstGeom prst="line">
              <a:avLst/>
            </a:prstGeom>
            <a:noFill/>
            <a:ln w="25400" cap="rnd">
              <a:solidFill>
                <a:schemeClr val="folHlink"/>
              </a:solidFill>
              <a:prstDash val="sysDot"/>
              <a:miter lim="800000"/>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endParaRPr lang="zh-CN" altLang="en-US"/>
            </a:p>
          </p:txBody>
        </p:sp>
      </p:grpSp>
    </p:spTree>
    <p:extLst>
      <p:ext uri="{BB962C8B-B14F-4D97-AF65-F5344CB8AC3E}">
        <p14:creationId xmlns:p14="http://schemas.microsoft.com/office/powerpoint/2010/main" val="142724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323528" y="548680"/>
            <a:ext cx="7959725" cy="576262"/>
          </a:xfrm>
        </p:spPr>
        <p:txBody>
          <a:bodyPr/>
          <a:lstStyle/>
          <a:p>
            <a:r>
              <a:rPr lang="en-US" altLang="he-IL" sz="3600" dirty="0"/>
              <a:t>Counterexample-Guided </a:t>
            </a:r>
            <a:br>
              <a:rPr lang="en-US" altLang="he-IL" sz="3600" dirty="0"/>
            </a:br>
            <a:r>
              <a:rPr lang="en-US" altLang="he-IL" sz="3600" dirty="0" smtClean="0"/>
              <a:t>Abstraction-Refinement (CEGAR</a:t>
            </a:r>
            <a:r>
              <a:rPr lang="en-US" altLang="he-IL" sz="3600" dirty="0"/>
              <a:t>)</a:t>
            </a:r>
          </a:p>
        </p:txBody>
      </p:sp>
      <p:sp>
        <p:nvSpPr>
          <p:cNvPr id="51203" name="Oval 3"/>
          <p:cNvSpPr>
            <a:spLocks noChangeArrowheads="1"/>
          </p:cNvSpPr>
          <p:nvPr/>
        </p:nvSpPr>
        <p:spPr bwMode="auto">
          <a:xfrm>
            <a:off x="4878288" y="4343400"/>
            <a:ext cx="2286000" cy="1524000"/>
          </a:xfrm>
          <a:prstGeom prst="ellipse">
            <a:avLst/>
          </a:prstGeom>
          <a:solidFill>
            <a:srgbClr val="FFFF99"/>
          </a:solidFill>
          <a:ln w="9525">
            <a:solidFill>
              <a:srgbClr val="333333"/>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he-IL" sz="2000" b="1" dirty="0" smtClean="0"/>
              <a:t>Check </a:t>
            </a:r>
          </a:p>
          <a:p>
            <a:pPr algn="ctr"/>
            <a:r>
              <a:rPr lang="en-US" altLang="he-IL" sz="2000" b="1" dirty="0" smtClean="0"/>
              <a:t>Counterexample</a:t>
            </a:r>
            <a:endParaRPr lang="en-US" altLang="he-IL" sz="2000" b="1" dirty="0"/>
          </a:p>
        </p:txBody>
      </p:sp>
      <p:sp>
        <p:nvSpPr>
          <p:cNvPr id="51204" name="Oval 4"/>
          <p:cNvSpPr>
            <a:spLocks noChangeArrowheads="1"/>
          </p:cNvSpPr>
          <p:nvPr/>
        </p:nvSpPr>
        <p:spPr bwMode="auto">
          <a:xfrm>
            <a:off x="1193800" y="4419600"/>
            <a:ext cx="2286000" cy="1524000"/>
          </a:xfrm>
          <a:prstGeom prst="ellipse">
            <a:avLst/>
          </a:prstGeom>
          <a:solidFill>
            <a:srgbClr val="FFFF99"/>
          </a:solidFill>
          <a:ln w="9525">
            <a:solidFill>
              <a:srgbClr val="333333"/>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he-IL" sz="2000" b="1" dirty="0" smtClean="0"/>
              <a:t> Obtain </a:t>
            </a:r>
          </a:p>
          <a:p>
            <a:pPr algn="ctr"/>
            <a:r>
              <a:rPr lang="en-US" altLang="he-IL" sz="2000" b="1" dirty="0" smtClean="0"/>
              <a:t>Refinement </a:t>
            </a:r>
            <a:r>
              <a:rPr lang="en-US" altLang="he-IL" sz="2000" b="1" dirty="0"/>
              <a:t>Cue</a:t>
            </a:r>
          </a:p>
        </p:txBody>
      </p:sp>
      <p:sp>
        <p:nvSpPr>
          <p:cNvPr id="51205" name="Oval 5"/>
          <p:cNvSpPr>
            <a:spLocks noChangeArrowheads="1"/>
          </p:cNvSpPr>
          <p:nvPr/>
        </p:nvSpPr>
        <p:spPr bwMode="auto">
          <a:xfrm>
            <a:off x="4905375" y="1981200"/>
            <a:ext cx="2286000" cy="1524000"/>
          </a:xfrm>
          <a:prstGeom prst="ellipse">
            <a:avLst/>
          </a:prstGeom>
          <a:solidFill>
            <a:srgbClr val="FFFF99"/>
          </a:solidFill>
          <a:ln w="9525">
            <a:solidFill>
              <a:srgbClr val="333333"/>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he-IL" sz="2000" b="1"/>
              <a:t>Model Check</a:t>
            </a:r>
          </a:p>
        </p:txBody>
      </p:sp>
      <p:sp>
        <p:nvSpPr>
          <p:cNvPr id="51206" name="Oval 6"/>
          <p:cNvSpPr>
            <a:spLocks noChangeArrowheads="1"/>
          </p:cNvSpPr>
          <p:nvPr/>
        </p:nvSpPr>
        <p:spPr bwMode="auto">
          <a:xfrm>
            <a:off x="1270000" y="1981200"/>
            <a:ext cx="2286000" cy="1524000"/>
          </a:xfrm>
          <a:prstGeom prst="ellipse">
            <a:avLst/>
          </a:prstGeom>
          <a:solidFill>
            <a:srgbClr val="FFFF99"/>
          </a:solidFill>
          <a:ln w="9525">
            <a:solidFill>
              <a:srgbClr val="333333"/>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he-IL" sz="2000" b="1" dirty="0"/>
              <a:t>Build New </a:t>
            </a:r>
          </a:p>
          <a:p>
            <a:pPr algn="ctr"/>
            <a:r>
              <a:rPr lang="en-US" altLang="he-IL" sz="2000" b="1" dirty="0"/>
              <a:t>Abstract Model</a:t>
            </a:r>
          </a:p>
        </p:txBody>
      </p:sp>
      <p:sp>
        <p:nvSpPr>
          <p:cNvPr id="51207" name="AutoShape 7"/>
          <p:cNvSpPr>
            <a:spLocks noChangeArrowheads="1"/>
          </p:cNvSpPr>
          <p:nvPr/>
        </p:nvSpPr>
        <p:spPr bwMode="auto">
          <a:xfrm>
            <a:off x="3657600" y="2514600"/>
            <a:ext cx="1171575" cy="228600"/>
          </a:xfrm>
          <a:prstGeom prst="rightArrow">
            <a:avLst>
              <a:gd name="adj1" fmla="val 50000"/>
              <a:gd name="adj2" fmla="val 128125"/>
            </a:avLst>
          </a:prstGeom>
          <a:solidFill>
            <a:schemeClr val="accent1">
              <a:alpha val="50000"/>
            </a:schemeClr>
          </a:solidFill>
          <a:ln w="9525">
            <a:solidFill>
              <a:srgbClr val="333333"/>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208" name="Text Box 8"/>
          <p:cNvSpPr txBox="1">
            <a:spLocks noChangeArrowheads="1"/>
          </p:cNvSpPr>
          <p:nvPr/>
        </p:nvSpPr>
        <p:spPr bwMode="auto">
          <a:xfrm>
            <a:off x="4092575" y="2057400"/>
            <a:ext cx="484188" cy="457200"/>
          </a:xfrm>
          <a:prstGeom prst="rect">
            <a:avLst/>
          </a:prstGeom>
          <a:noFill/>
          <a:ln>
            <a:noFill/>
          </a:ln>
          <a:effectLst/>
          <a:extLst>
            <a:ext uri="{909E8E84-426E-40dd-AFC4-6F175D3DCCD1}">
              <a14:hiddenFill xmlns:a14="http://schemas.microsoft.com/office/drawing/2010/main" xmlns="">
                <a:solidFill>
                  <a:srgbClr val="00FF00">
                    <a:alpha val="50000"/>
                  </a:srgbClr>
                </a:solidFill>
              </a14:hiddenFill>
            </a:ext>
            <a:ext uri="{91240B29-F687-4f45-9708-019B960494DF}">
              <a14:hiddenLine xmlns:a14="http://schemas.microsoft.com/office/drawing/2010/main" xmlns="" w="9525">
                <a:solidFill>
                  <a:srgbClr val="333333"/>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he-IL"/>
              <a:t>M’</a:t>
            </a:r>
          </a:p>
        </p:txBody>
      </p:sp>
      <p:sp>
        <p:nvSpPr>
          <p:cNvPr id="51209" name="Text Box 9"/>
          <p:cNvSpPr txBox="1">
            <a:spLocks noChangeArrowheads="1"/>
          </p:cNvSpPr>
          <p:nvPr/>
        </p:nvSpPr>
        <p:spPr bwMode="auto">
          <a:xfrm>
            <a:off x="765175" y="2057400"/>
            <a:ext cx="419100" cy="457200"/>
          </a:xfrm>
          <a:prstGeom prst="rect">
            <a:avLst/>
          </a:prstGeom>
          <a:noFill/>
          <a:ln>
            <a:noFill/>
          </a:ln>
          <a:effectLst/>
          <a:extLst>
            <a:ext uri="{909E8E84-426E-40dd-AFC4-6F175D3DCCD1}">
              <a14:hiddenFill xmlns:a14="http://schemas.microsoft.com/office/drawing/2010/main" xmlns="">
                <a:solidFill>
                  <a:srgbClr val="00FF00">
                    <a:alpha val="50000"/>
                  </a:srgbClr>
                </a:solidFill>
              </a14:hiddenFill>
            </a:ext>
            <a:ext uri="{91240B29-F687-4f45-9708-019B960494DF}">
              <a14:hiddenLine xmlns:a14="http://schemas.microsoft.com/office/drawing/2010/main" xmlns="" w="9525">
                <a:solidFill>
                  <a:srgbClr val="333333"/>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he-IL"/>
              <a:t>M</a:t>
            </a:r>
          </a:p>
        </p:txBody>
      </p:sp>
      <p:sp>
        <p:nvSpPr>
          <p:cNvPr id="51210" name="AutoShape 10"/>
          <p:cNvSpPr>
            <a:spLocks noChangeArrowheads="1"/>
          </p:cNvSpPr>
          <p:nvPr/>
        </p:nvSpPr>
        <p:spPr bwMode="auto">
          <a:xfrm>
            <a:off x="381000" y="2514600"/>
            <a:ext cx="838200" cy="304800"/>
          </a:xfrm>
          <a:prstGeom prst="rightArrow">
            <a:avLst>
              <a:gd name="adj1" fmla="val 50000"/>
              <a:gd name="adj2" fmla="val 68750"/>
            </a:avLst>
          </a:prstGeom>
          <a:solidFill>
            <a:schemeClr val="accent1">
              <a:alpha val="50000"/>
            </a:schemeClr>
          </a:solidFill>
          <a:ln w="9525">
            <a:solidFill>
              <a:srgbClr val="333333"/>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211" name="AutoShape 11"/>
          <p:cNvSpPr>
            <a:spLocks noChangeArrowheads="1"/>
          </p:cNvSpPr>
          <p:nvPr/>
        </p:nvSpPr>
        <p:spPr bwMode="auto">
          <a:xfrm>
            <a:off x="5819775" y="3581400"/>
            <a:ext cx="304800" cy="685800"/>
          </a:xfrm>
          <a:prstGeom prst="downArrow">
            <a:avLst>
              <a:gd name="adj1" fmla="val 50000"/>
              <a:gd name="adj2" fmla="val 56250"/>
            </a:avLst>
          </a:prstGeom>
          <a:solidFill>
            <a:schemeClr val="accent1">
              <a:alpha val="50000"/>
            </a:schemeClr>
          </a:solidFill>
          <a:ln w="9525">
            <a:solidFill>
              <a:srgbClr val="333333"/>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212" name="AutoShape 12"/>
          <p:cNvSpPr>
            <a:spLocks noChangeArrowheads="1"/>
          </p:cNvSpPr>
          <p:nvPr/>
        </p:nvSpPr>
        <p:spPr bwMode="auto">
          <a:xfrm>
            <a:off x="7343775" y="2514600"/>
            <a:ext cx="838200" cy="304800"/>
          </a:xfrm>
          <a:prstGeom prst="rightArrow">
            <a:avLst>
              <a:gd name="adj1" fmla="val 50000"/>
              <a:gd name="adj2" fmla="val 68750"/>
            </a:avLst>
          </a:prstGeom>
          <a:solidFill>
            <a:schemeClr val="accent1">
              <a:alpha val="50000"/>
            </a:schemeClr>
          </a:solidFill>
          <a:ln w="9525">
            <a:solidFill>
              <a:srgbClr val="333333"/>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213" name="Text Box 13"/>
          <p:cNvSpPr txBox="1">
            <a:spLocks noChangeArrowheads="1"/>
          </p:cNvSpPr>
          <p:nvPr/>
        </p:nvSpPr>
        <p:spPr bwMode="auto">
          <a:xfrm>
            <a:off x="7708900" y="2743200"/>
            <a:ext cx="1293813" cy="457200"/>
          </a:xfrm>
          <a:prstGeom prst="rect">
            <a:avLst/>
          </a:prstGeom>
          <a:noFill/>
          <a:ln>
            <a:noFill/>
          </a:ln>
          <a:effectLst/>
          <a:extLst>
            <a:ext uri="{909E8E84-426E-40dd-AFC4-6F175D3DCCD1}">
              <a14:hiddenFill xmlns:a14="http://schemas.microsoft.com/office/drawing/2010/main" xmlns="">
                <a:solidFill>
                  <a:srgbClr val="00FF00">
                    <a:alpha val="50000"/>
                  </a:srgbClr>
                </a:solidFill>
              </a14:hiddenFill>
            </a:ext>
            <a:ext uri="{91240B29-F687-4f45-9708-019B960494DF}">
              <a14:hiddenLine xmlns:a14="http://schemas.microsoft.com/office/drawing/2010/main" xmlns="" w="9525">
                <a:solidFill>
                  <a:srgbClr val="333333"/>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he-IL" b="1">
                <a:solidFill>
                  <a:srgbClr val="00FF00"/>
                </a:solidFill>
              </a:rPr>
              <a:t>No Bug</a:t>
            </a:r>
          </a:p>
        </p:txBody>
      </p:sp>
      <p:sp>
        <p:nvSpPr>
          <p:cNvPr id="51214" name="Text Box 14"/>
          <p:cNvSpPr txBox="1">
            <a:spLocks noChangeArrowheads="1"/>
          </p:cNvSpPr>
          <p:nvPr/>
        </p:nvSpPr>
        <p:spPr bwMode="auto">
          <a:xfrm>
            <a:off x="7296150" y="2106613"/>
            <a:ext cx="752475" cy="396875"/>
          </a:xfrm>
          <a:prstGeom prst="rect">
            <a:avLst/>
          </a:prstGeom>
          <a:noFill/>
          <a:ln>
            <a:noFill/>
          </a:ln>
          <a:effectLst/>
          <a:extLst>
            <a:ext uri="{909E8E84-426E-40dd-AFC4-6F175D3DCCD1}">
              <a14:hiddenFill xmlns:a14="http://schemas.microsoft.com/office/drawing/2010/main" xmlns="">
                <a:solidFill>
                  <a:srgbClr val="00FF00">
                    <a:alpha val="50000"/>
                  </a:srgbClr>
                </a:solidFill>
              </a14:hiddenFill>
            </a:ext>
            <a:ext uri="{91240B29-F687-4f45-9708-019B960494DF}">
              <a14:hiddenLine xmlns:a14="http://schemas.microsoft.com/office/drawing/2010/main" xmlns="" w="9525">
                <a:solidFill>
                  <a:srgbClr val="333333"/>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he-IL" sz="2000">
                <a:latin typeface="Verdana" pitchFamily="34" charset="0"/>
              </a:rPr>
              <a:t>Pass</a:t>
            </a:r>
          </a:p>
        </p:txBody>
      </p:sp>
      <p:sp>
        <p:nvSpPr>
          <p:cNvPr id="51215" name="Text Box 15"/>
          <p:cNvSpPr txBox="1">
            <a:spLocks noChangeArrowheads="1"/>
          </p:cNvSpPr>
          <p:nvPr/>
        </p:nvSpPr>
        <p:spPr bwMode="auto">
          <a:xfrm>
            <a:off x="6091238" y="3706813"/>
            <a:ext cx="622300" cy="396875"/>
          </a:xfrm>
          <a:prstGeom prst="rect">
            <a:avLst/>
          </a:prstGeom>
          <a:noFill/>
          <a:ln>
            <a:noFill/>
          </a:ln>
          <a:effectLst/>
          <a:extLst>
            <a:ext uri="{909E8E84-426E-40dd-AFC4-6F175D3DCCD1}">
              <a14:hiddenFill xmlns:a14="http://schemas.microsoft.com/office/drawing/2010/main" xmlns="">
                <a:solidFill>
                  <a:srgbClr val="00FF00">
                    <a:alpha val="50000"/>
                  </a:srgbClr>
                </a:solidFill>
              </a14:hiddenFill>
            </a:ext>
            <a:ext uri="{91240B29-F687-4f45-9708-019B960494DF}">
              <a14:hiddenLine xmlns:a14="http://schemas.microsoft.com/office/drawing/2010/main" xmlns="" w="9525">
                <a:solidFill>
                  <a:srgbClr val="333333"/>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he-IL" sz="2000">
                <a:latin typeface="Verdana" pitchFamily="34" charset="0"/>
              </a:rPr>
              <a:t>Fail</a:t>
            </a:r>
          </a:p>
        </p:txBody>
      </p:sp>
      <p:sp>
        <p:nvSpPr>
          <p:cNvPr id="51216" name="AutoShape 16"/>
          <p:cNvSpPr>
            <a:spLocks noChangeArrowheads="1"/>
          </p:cNvSpPr>
          <p:nvPr/>
        </p:nvSpPr>
        <p:spPr bwMode="auto">
          <a:xfrm>
            <a:off x="7239000" y="4953000"/>
            <a:ext cx="838200" cy="304800"/>
          </a:xfrm>
          <a:prstGeom prst="rightArrow">
            <a:avLst>
              <a:gd name="adj1" fmla="val 50000"/>
              <a:gd name="adj2" fmla="val 68750"/>
            </a:avLst>
          </a:prstGeom>
          <a:solidFill>
            <a:schemeClr val="accent1">
              <a:alpha val="50000"/>
            </a:schemeClr>
          </a:solidFill>
          <a:ln w="9525">
            <a:solidFill>
              <a:srgbClr val="333333"/>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217" name="Text Box 17"/>
          <p:cNvSpPr txBox="1">
            <a:spLocks noChangeArrowheads="1"/>
          </p:cNvSpPr>
          <p:nvPr/>
        </p:nvSpPr>
        <p:spPr bwMode="auto">
          <a:xfrm>
            <a:off x="8021638" y="4833938"/>
            <a:ext cx="781050" cy="457200"/>
          </a:xfrm>
          <a:prstGeom prst="rect">
            <a:avLst/>
          </a:prstGeom>
          <a:noFill/>
          <a:ln>
            <a:noFill/>
          </a:ln>
          <a:effectLst/>
          <a:extLst>
            <a:ext uri="{909E8E84-426E-40dd-AFC4-6F175D3DCCD1}">
              <a14:hiddenFill xmlns:a14="http://schemas.microsoft.com/office/drawing/2010/main" xmlns="">
                <a:solidFill>
                  <a:srgbClr val="00FF00">
                    <a:alpha val="50000"/>
                  </a:srgbClr>
                </a:solidFill>
              </a14:hiddenFill>
            </a:ext>
            <a:ext uri="{91240B29-F687-4f45-9708-019B960494DF}">
              <a14:hiddenLine xmlns:a14="http://schemas.microsoft.com/office/drawing/2010/main" xmlns="" w="9525">
                <a:solidFill>
                  <a:srgbClr val="333333"/>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he-IL" b="1">
                <a:solidFill>
                  <a:srgbClr val="CC0000"/>
                </a:solidFill>
              </a:rPr>
              <a:t>Bug</a:t>
            </a:r>
          </a:p>
        </p:txBody>
      </p:sp>
      <p:sp>
        <p:nvSpPr>
          <p:cNvPr id="51218" name="AutoShape 18"/>
          <p:cNvSpPr>
            <a:spLocks noChangeArrowheads="1"/>
          </p:cNvSpPr>
          <p:nvPr/>
        </p:nvSpPr>
        <p:spPr bwMode="auto">
          <a:xfrm>
            <a:off x="3632200" y="5029200"/>
            <a:ext cx="1044575" cy="228600"/>
          </a:xfrm>
          <a:prstGeom prst="leftArrow">
            <a:avLst>
              <a:gd name="adj1" fmla="val 50000"/>
              <a:gd name="adj2" fmla="val 114236"/>
            </a:avLst>
          </a:prstGeom>
          <a:solidFill>
            <a:schemeClr val="accent1">
              <a:alpha val="50000"/>
            </a:schemeClr>
          </a:solidFill>
          <a:ln w="9525">
            <a:solidFill>
              <a:srgbClr val="333333"/>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219" name="Text Box 19"/>
          <p:cNvSpPr txBox="1">
            <a:spLocks noChangeArrowheads="1"/>
          </p:cNvSpPr>
          <p:nvPr/>
        </p:nvSpPr>
        <p:spPr bwMode="auto">
          <a:xfrm>
            <a:off x="7053263" y="4545013"/>
            <a:ext cx="1041400" cy="396875"/>
          </a:xfrm>
          <a:prstGeom prst="rect">
            <a:avLst/>
          </a:prstGeom>
          <a:noFill/>
          <a:ln>
            <a:noFill/>
          </a:ln>
          <a:effectLst/>
          <a:extLst>
            <a:ext uri="{909E8E84-426E-40dd-AFC4-6F175D3DCCD1}">
              <a14:hiddenFill xmlns:a14="http://schemas.microsoft.com/office/drawing/2010/main" xmlns="">
                <a:solidFill>
                  <a:srgbClr val="00FF00">
                    <a:alpha val="50000"/>
                  </a:srgbClr>
                </a:solidFill>
              </a14:hiddenFill>
            </a:ext>
            <a:ext uri="{91240B29-F687-4f45-9708-019B960494DF}">
              <a14:hiddenLine xmlns:a14="http://schemas.microsoft.com/office/drawing/2010/main" xmlns="" w="9525">
                <a:solidFill>
                  <a:srgbClr val="333333"/>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he-IL" sz="2000"/>
              <a:t>Real CE</a:t>
            </a:r>
          </a:p>
        </p:txBody>
      </p:sp>
      <p:sp>
        <p:nvSpPr>
          <p:cNvPr id="51220" name="Text Box 20"/>
          <p:cNvSpPr txBox="1">
            <a:spLocks noChangeArrowheads="1"/>
          </p:cNvSpPr>
          <p:nvPr/>
        </p:nvSpPr>
        <p:spPr bwMode="auto">
          <a:xfrm>
            <a:off x="3586163" y="4570413"/>
            <a:ext cx="1389062" cy="366712"/>
          </a:xfrm>
          <a:prstGeom prst="rect">
            <a:avLst/>
          </a:prstGeom>
          <a:noFill/>
          <a:ln>
            <a:noFill/>
          </a:ln>
          <a:effectLst/>
          <a:extLst>
            <a:ext uri="{909E8E84-426E-40dd-AFC4-6F175D3DCCD1}">
              <a14:hiddenFill xmlns:a14="http://schemas.microsoft.com/office/drawing/2010/main" xmlns="">
                <a:solidFill>
                  <a:srgbClr val="00FF00">
                    <a:alpha val="50000"/>
                  </a:srgbClr>
                </a:solidFill>
              </a14:hiddenFill>
            </a:ext>
            <a:ext uri="{91240B29-F687-4f45-9708-019B960494DF}">
              <a14:hiddenLine xmlns:a14="http://schemas.microsoft.com/office/drawing/2010/main" xmlns="" w="9525">
                <a:solidFill>
                  <a:srgbClr val="333333"/>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he-IL" sz="1800"/>
              <a:t>Spurious CE</a:t>
            </a:r>
          </a:p>
        </p:txBody>
      </p:sp>
      <p:sp>
        <p:nvSpPr>
          <p:cNvPr id="51221" name="AutoShape 21"/>
          <p:cNvSpPr>
            <a:spLocks noChangeArrowheads="1"/>
          </p:cNvSpPr>
          <p:nvPr/>
        </p:nvSpPr>
        <p:spPr bwMode="auto">
          <a:xfrm>
            <a:off x="2184400" y="3581400"/>
            <a:ext cx="304800" cy="685800"/>
          </a:xfrm>
          <a:prstGeom prst="upArrow">
            <a:avLst>
              <a:gd name="adj1" fmla="val 50000"/>
              <a:gd name="adj2" fmla="val 56250"/>
            </a:avLst>
          </a:prstGeom>
          <a:solidFill>
            <a:schemeClr val="accent1">
              <a:alpha val="50000"/>
            </a:schemeClr>
          </a:solidFill>
          <a:ln w="9525">
            <a:solidFill>
              <a:srgbClr val="333333"/>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20422887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323528" y="-27384"/>
            <a:ext cx="7772400" cy="1143000"/>
          </a:xfrm>
        </p:spPr>
        <p:txBody>
          <a:bodyPr/>
          <a:lstStyle/>
          <a:p>
            <a:r>
              <a:rPr lang="zh-CN" altLang="en-US" dirty="0" smtClean="0">
                <a:ea typeface="宋体" charset="-122"/>
              </a:rPr>
              <a:t>有界模型检验</a:t>
            </a:r>
            <a:r>
              <a:rPr lang="en-US" altLang="zh-CN" dirty="0" smtClean="0">
                <a:ea typeface="宋体" charset="-122"/>
              </a:rPr>
              <a:t/>
            </a:r>
            <a:br>
              <a:rPr lang="en-US" altLang="zh-CN" dirty="0" smtClean="0">
                <a:ea typeface="宋体" charset="-122"/>
              </a:rPr>
            </a:br>
            <a:r>
              <a:rPr lang="en-US" altLang="zh-CN" dirty="0" smtClean="0">
                <a:ea typeface="宋体" charset="-122"/>
              </a:rPr>
              <a:t>Bounded Model Checking (BMC)</a:t>
            </a:r>
            <a:endParaRPr lang="en-US" altLang="zh-CN" dirty="0">
              <a:ea typeface="宋体" charset="-122"/>
            </a:endParaRPr>
          </a:p>
        </p:txBody>
      </p:sp>
      <p:sp>
        <p:nvSpPr>
          <p:cNvPr id="4099" name="Rectangle 3"/>
          <p:cNvSpPr>
            <a:spLocks noGrp="1" noChangeArrowheads="1"/>
          </p:cNvSpPr>
          <p:nvPr>
            <p:ph type="body" idx="1"/>
          </p:nvPr>
        </p:nvSpPr>
        <p:spPr>
          <a:xfrm>
            <a:off x="755576" y="1340768"/>
            <a:ext cx="8001000" cy="4114800"/>
          </a:xfrm>
        </p:spPr>
        <p:txBody>
          <a:bodyPr/>
          <a:lstStyle/>
          <a:p>
            <a:pPr marL="609600" indent="-609600"/>
            <a:r>
              <a:rPr lang="en-US" altLang="zh-CN" dirty="0">
                <a:ea typeface="宋体" charset="-122"/>
              </a:rPr>
              <a:t>A.I. Planning problems: </a:t>
            </a:r>
            <a:r>
              <a:rPr lang="en-US" altLang="zh-CN" i="1" dirty="0">
                <a:solidFill>
                  <a:srgbClr val="000000"/>
                </a:solidFill>
                <a:ea typeface="宋体" charset="-122"/>
              </a:rPr>
              <a:t>can we reach a desired state in k steps?</a:t>
            </a:r>
          </a:p>
          <a:p>
            <a:pPr marL="609600" indent="-609600"/>
            <a:r>
              <a:rPr lang="en-US" altLang="zh-CN" dirty="0">
                <a:ea typeface="宋体" charset="-122"/>
              </a:rPr>
              <a:t>Verification of </a:t>
            </a:r>
            <a:r>
              <a:rPr lang="en-US" altLang="zh-CN" i="1" dirty="0">
                <a:ea typeface="宋体" charset="-122"/>
              </a:rPr>
              <a:t>safety</a:t>
            </a:r>
            <a:r>
              <a:rPr lang="en-US" altLang="zh-CN" dirty="0">
                <a:ea typeface="宋体" charset="-122"/>
              </a:rPr>
              <a:t> properties: </a:t>
            </a:r>
            <a:r>
              <a:rPr lang="en-US" altLang="zh-CN" i="1" dirty="0">
                <a:solidFill>
                  <a:srgbClr val="000000"/>
                </a:solidFill>
                <a:ea typeface="宋体" charset="-122"/>
              </a:rPr>
              <a:t>can we find a bad state in k steps?</a:t>
            </a:r>
          </a:p>
          <a:p>
            <a:pPr marL="609600" indent="-609600"/>
            <a:r>
              <a:rPr lang="en-US" altLang="zh-CN" dirty="0">
                <a:ea typeface="宋体" charset="-122"/>
              </a:rPr>
              <a:t>Verification:</a:t>
            </a:r>
            <a:r>
              <a:rPr lang="en-US" altLang="zh-CN" i="1" dirty="0">
                <a:ea typeface="宋体" charset="-122"/>
              </a:rPr>
              <a:t> </a:t>
            </a:r>
            <a:r>
              <a:rPr lang="en-US" altLang="zh-CN" i="1" dirty="0">
                <a:solidFill>
                  <a:srgbClr val="000000"/>
                </a:solidFill>
                <a:ea typeface="宋体" charset="-122"/>
              </a:rPr>
              <a:t>can we find a counterexample in k steps ?</a:t>
            </a:r>
            <a:r>
              <a:rPr lang="en-US" altLang="zh-CN" i="1" dirty="0">
                <a:ea typeface="宋体" charset="-122"/>
              </a:rPr>
              <a:t> </a:t>
            </a:r>
          </a:p>
        </p:txBody>
      </p:sp>
      <p:pic>
        <p:nvPicPr>
          <p:cNvPr id="5" name="Picture 3"/>
          <p:cNvPicPr>
            <a:picLocks noChangeAspect="1" noChangeArrowheads="1"/>
          </p:cNvPicPr>
          <p:nvPr/>
        </p:nvPicPr>
        <p:blipFill>
          <a:blip r:embed="rId2" cstate="print"/>
          <a:srcRect/>
          <a:stretch>
            <a:fillRect/>
          </a:stretch>
        </p:blipFill>
        <p:spPr bwMode="auto">
          <a:xfrm>
            <a:off x="3748144" y="4610260"/>
            <a:ext cx="2076450" cy="1971675"/>
          </a:xfrm>
          <a:prstGeom prst="rect">
            <a:avLst/>
          </a:prstGeom>
          <a:noFill/>
          <a:ln w="9525">
            <a:noFill/>
            <a:miter lim="800000"/>
            <a:headEnd/>
            <a:tailEnd/>
          </a:ln>
        </p:spPr>
      </p:pic>
      <p:pic>
        <p:nvPicPr>
          <p:cNvPr id="6" name="Picture 4"/>
          <p:cNvPicPr>
            <a:picLocks noChangeAspect="1" noChangeArrowheads="1"/>
          </p:cNvPicPr>
          <p:nvPr/>
        </p:nvPicPr>
        <p:blipFill>
          <a:blip r:embed="rId3" cstate="print"/>
          <a:srcRect/>
          <a:stretch>
            <a:fillRect/>
          </a:stretch>
        </p:blipFill>
        <p:spPr bwMode="auto">
          <a:xfrm>
            <a:off x="6748540" y="4610274"/>
            <a:ext cx="1971675" cy="2000250"/>
          </a:xfrm>
          <a:prstGeom prst="rect">
            <a:avLst/>
          </a:prstGeom>
          <a:noFill/>
          <a:ln w="9525">
            <a:noFill/>
            <a:miter lim="800000"/>
            <a:headEnd/>
            <a:tailEnd/>
          </a:ln>
        </p:spPr>
      </p:pic>
      <p:pic>
        <p:nvPicPr>
          <p:cNvPr id="7" name="Picture 5"/>
          <p:cNvPicPr>
            <a:picLocks noChangeAspect="1" noChangeArrowheads="1"/>
          </p:cNvPicPr>
          <p:nvPr/>
        </p:nvPicPr>
        <p:blipFill>
          <a:blip r:embed="rId4" cstate="print"/>
          <a:srcRect/>
          <a:stretch>
            <a:fillRect/>
          </a:stretch>
        </p:blipFill>
        <p:spPr bwMode="auto">
          <a:xfrm>
            <a:off x="971600" y="4653136"/>
            <a:ext cx="1847850" cy="1885950"/>
          </a:xfrm>
          <a:prstGeom prst="rect">
            <a:avLst/>
          </a:prstGeom>
          <a:noFill/>
          <a:ln w="9525">
            <a:noFill/>
            <a:miter lim="800000"/>
            <a:headEnd/>
            <a:tailEnd/>
          </a:ln>
        </p:spPr>
      </p:pic>
      <p:sp>
        <p:nvSpPr>
          <p:cNvPr id="8" name="右箭头 7"/>
          <p:cNvSpPr/>
          <p:nvPr/>
        </p:nvSpPr>
        <p:spPr bwMode="auto">
          <a:xfrm>
            <a:off x="2890888" y="5538954"/>
            <a:ext cx="857256" cy="142876"/>
          </a:xfrm>
          <a:prstGeom prst="rightArrow">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charset="0"/>
              <a:ea typeface="宋体" pitchFamily="2" charset="-122"/>
            </a:endParaRPr>
          </a:p>
        </p:txBody>
      </p:sp>
      <p:sp>
        <p:nvSpPr>
          <p:cNvPr id="9" name="右箭头 8"/>
          <p:cNvSpPr/>
          <p:nvPr/>
        </p:nvSpPr>
        <p:spPr bwMode="auto">
          <a:xfrm>
            <a:off x="5819846" y="5538954"/>
            <a:ext cx="857256" cy="142876"/>
          </a:xfrm>
          <a:prstGeom prst="rightArrow">
            <a:avLst/>
          </a:prstGeom>
          <a:solidFill>
            <a:schemeClr val="bg1"/>
          </a:solid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charset="0"/>
              <a:ea typeface="宋体" pitchFamily="2" charset="-122"/>
            </a:endParaRPr>
          </a:p>
        </p:txBody>
      </p:sp>
    </p:spTree>
    <p:extLst>
      <p:ext uri="{BB962C8B-B14F-4D97-AF65-F5344CB8AC3E}">
        <p14:creationId xmlns:p14="http://schemas.microsoft.com/office/powerpoint/2010/main" val="34745815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autoUpdateAnimBg="0"/>
      <p:bldP spid="8" grpId="0" animBg="1"/>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0" y="0"/>
            <a:ext cx="7772400" cy="1143000"/>
          </a:xfrm>
        </p:spPr>
        <p:txBody>
          <a:bodyPr/>
          <a:lstStyle/>
          <a:p>
            <a:r>
              <a:rPr lang="en-US" altLang="zh-CN" dirty="0" smtClean="0">
                <a:ea typeface="宋体" charset="-122"/>
              </a:rPr>
              <a:t>SAT</a:t>
            </a:r>
            <a:r>
              <a:rPr lang="zh-CN" altLang="en-US" dirty="0" smtClean="0">
                <a:ea typeface="宋体" charset="-122"/>
              </a:rPr>
              <a:t>技术</a:t>
            </a:r>
            <a:endParaRPr lang="en-US" altLang="zh-CN" dirty="0">
              <a:ea typeface="宋体" charset="-122"/>
            </a:endParaRPr>
          </a:p>
        </p:txBody>
      </p:sp>
      <p:sp>
        <p:nvSpPr>
          <p:cNvPr id="5123" name="AutoShape 3"/>
          <p:cNvSpPr>
            <a:spLocks/>
          </p:cNvSpPr>
          <p:nvPr/>
        </p:nvSpPr>
        <p:spPr bwMode="auto">
          <a:xfrm>
            <a:off x="6934200" y="5257800"/>
            <a:ext cx="1981200" cy="762000"/>
          </a:xfrm>
          <a:prstGeom prst="borderCallout2">
            <a:avLst>
              <a:gd name="adj1" fmla="val 15000"/>
              <a:gd name="adj2" fmla="val -3847"/>
              <a:gd name="adj3" fmla="val 15000"/>
              <a:gd name="adj4" fmla="val -3847"/>
              <a:gd name="adj5" fmla="val 132917"/>
              <a:gd name="adj6" fmla="val -30208"/>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dirty="0" err="1">
                <a:ea typeface="宋体" charset="-122"/>
              </a:rPr>
              <a:t>SATisfying</a:t>
            </a:r>
            <a:r>
              <a:rPr lang="en-US" altLang="zh-CN" dirty="0">
                <a:ea typeface="宋体" charset="-122"/>
              </a:rPr>
              <a:t> assignment!</a:t>
            </a:r>
          </a:p>
        </p:txBody>
      </p:sp>
      <p:sp>
        <p:nvSpPr>
          <p:cNvPr id="5124" name="Rectangle 4"/>
          <p:cNvSpPr>
            <a:spLocks noChangeArrowheads="1"/>
          </p:cNvSpPr>
          <p:nvPr/>
        </p:nvSpPr>
        <p:spPr bwMode="auto">
          <a:xfrm>
            <a:off x="599256" y="1628800"/>
            <a:ext cx="8077200" cy="10772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rtl="1"/>
            <a:r>
              <a:rPr lang="en-US" altLang="zh-CN" sz="3200" dirty="0" smtClean="0">
                <a:ea typeface="宋体" charset="-122"/>
                <a:cs typeface="Times New Roman" pitchFamily="18" charset="0"/>
              </a:rPr>
              <a:t>If </a:t>
            </a:r>
            <a:r>
              <a:rPr lang="en-US" altLang="zh-CN" sz="3200" dirty="0">
                <a:ea typeface="宋体" charset="-122"/>
                <a:cs typeface="Times New Roman" pitchFamily="18" charset="0"/>
              </a:rPr>
              <a:t>there exists an assignment to Boolean variables that makes the formula </a:t>
            </a:r>
            <a:r>
              <a:rPr lang="en-US" altLang="zh-CN" sz="3200" dirty="0" smtClean="0">
                <a:ea typeface="宋体" charset="-122"/>
                <a:cs typeface="Times New Roman" pitchFamily="18" charset="0"/>
              </a:rPr>
              <a:t>true</a:t>
            </a:r>
            <a:r>
              <a:rPr lang="zh-CN" altLang="en-US" sz="3200" dirty="0" smtClean="0">
                <a:ea typeface="宋体" charset="-122"/>
                <a:cs typeface="Times New Roman" pitchFamily="18" charset="0"/>
              </a:rPr>
              <a:t>？</a:t>
            </a:r>
            <a:endParaRPr lang="en-US" altLang="zh-CN" sz="3200" dirty="0">
              <a:ea typeface="宋体" charset="-122"/>
              <a:cs typeface="Times New Roman" pitchFamily="18" charset="0"/>
            </a:endParaRPr>
          </a:p>
        </p:txBody>
      </p:sp>
      <p:sp>
        <p:nvSpPr>
          <p:cNvPr id="5125" name="Text Box 5"/>
          <p:cNvSpPr txBox="1">
            <a:spLocks noChangeArrowheads="1"/>
          </p:cNvSpPr>
          <p:nvPr/>
        </p:nvSpPr>
        <p:spPr bwMode="auto">
          <a:xfrm>
            <a:off x="2362200" y="3886200"/>
            <a:ext cx="3962400" cy="2657475"/>
          </a:xfrm>
          <a:prstGeom prst="rect">
            <a:avLst/>
          </a:prstGeom>
          <a:solidFill>
            <a:srgbClr val="FFFFCC"/>
          </a:solidFill>
          <a:ln w="9525">
            <a:solidFill>
              <a:schemeClr val="hlink"/>
            </a:solidFill>
            <a:miter lim="800000"/>
            <a:headEnd/>
            <a:tailEnd/>
          </a:ln>
          <a:effectLst>
            <a:outerShdw dist="107763" dir="2700000" algn="ctr" rotWithShape="0">
              <a:schemeClr val="bg2"/>
            </a:outerShdw>
          </a:effectLst>
        </p:spPr>
        <p:txBody>
          <a:bodyPr>
            <a:spAutoFit/>
          </a:bodyPr>
          <a:lstStyle/>
          <a:p>
            <a:pPr>
              <a:spcBef>
                <a:spcPct val="50000"/>
              </a:spcBef>
            </a:pPr>
            <a:r>
              <a:rPr lang="en-US" altLang="zh-CN" i="1" dirty="0">
                <a:ea typeface="宋体" charset="-122"/>
                <a:sym typeface="Symbol" pitchFamily="18" charset="2"/>
              </a:rPr>
              <a:t></a:t>
            </a:r>
            <a:r>
              <a:rPr lang="en-US" altLang="zh-CN" i="1" baseline="-25000" dirty="0">
                <a:ea typeface="宋体" charset="-122"/>
                <a:sym typeface="Symbol" pitchFamily="18" charset="2"/>
              </a:rPr>
              <a:t>1</a:t>
            </a:r>
            <a:r>
              <a:rPr lang="en-US" altLang="zh-CN" i="1" dirty="0">
                <a:ea typeface="宋体" charset="-122"/>
                <a:sym typeface="Symbol" pitchFamily="18" charset="2"/>
              </a:rPr>
              <a:t> = </a:t>
            </a:r>
            <a:r>
              <a:rPr lang="en-US" altLang="zh-CN" i="1" dirty="0">
                <a:ea typeface="宋体" charset="-122"/>
              </a:rPr>
              <a:t>(b</a:t>
            </a:r>
            <a:r>
              <a:rPr lang="en-US" altLang="zh-CN" i="1" baseline="-25000" dirty="0">
                <a:ea typeface="宋体" charset="-122"/>
              </a:rPr>
              <a:t> </a:t>
            </a:r>
            <a:r>
              <a:rPr lang="en-US" altLang="zh-CN" i="1" dirty="0">
                <a:ea typeface="宋体" charset="-122"/>
                <a:sym typeface="Symbol" pitchFamily="18" charset="2"/>
              </a:rPr>
              <a:t>   c) </a:t>
            </a:r>
          </a:p>
          <a:p>
            <a:pPr>
              <a:spcBef>
                <a:spcPct val="50000"/>
              </a:spcBef>
            </a:pPr>
            <a:r>
              <a:rPr lang="en-US" altLang="zh-CN" i="1" dirty="0">
                <a:ea typeface="宋体" charset="-122"/>
                <a:sym typeface="Symbol" pitchFamily="18" charset="2"/>
              </a:rPr>
              <a:t></a:t>
            </a:r>
            <a:r>
              <a:rPr lang="en-US" altLang="zh-CN" i="1" baseline="-25000" dirty="0">
                <a:ea typeface="宋体" charset="-122"/>
                <a:sym typeface="Symbol" pitchFamily="18" charset="2"/>
              </a:rPr>
              <a:t>2</a:t>
            </a:r>
            <a:r>
              <a:rPr lang="en-US" altLang="zh-CN" i="1" dirty="0">
                <a:ea typeface="宋体" charset="-122"/>
                <a:sym typeface="Symbol" pitchFamily="18" charset="2"/>
              </a:rPr>
              <a:t> = </a:t>
            </a:r>
            <a:r>
              <a:rPr lang="en-US" altLang="zh-CN" i="1" dirty="0">
                <a:ea typeface="宋体" charset="-122"/>
              </a:rPr>
              <a:t>(</a:t>
            </a:r>
            <a:r>
              <a:rPr lang="en-US" altLang="zh-CN" i="1" dirty="0">
                <a:ea typeface="宋体" charset="-122"/>
                <a:sym typeface="Symbol" pitchFamily="18" charset="2"/>
              </a:rPr>
              <a:t></a:t>
            </a:r>
            <a:r>
              <a:rPr lang="en-US" altLang="zh-CN" i="1" dirty="0">
                <a:ea typeface="宋体" charset="-122"/>
              </a:rPr>
              <a:t>a</a:t>
            </a:r>
            <a:r>
              <a:rPr lang="en-US" altLang="zh-CN" i="1" baseline="-25000" dirty="0">
                <a:ea typeface="宋体" charset="-122"/>
              </a:rPr>
              <a:t> </a:t>
            </a:r>
            <a:r>
              <a:rPr lang="en-US" altLang="zh-CN" i="1" dirty="0">
                <a:ea typeface="宋体" charset="-122"/>
                <a:sym typeface="Symbol" pitchFamily="18" charset="2"/>
              </a:rPr>
              <a:t>    d)</a:t>
            </a:r>
          </a:p>
          <a:p>
            <a:pPr>
              <a:spcBef>
                <a:spcPct val="50000"/>
              </a:spcBef>
            </a:pPr>
            <a:r>
              <a:rPr lang="en-US" altLang="zh-CN" i="1" dirty="0">
                <a:ea typeface="宋体" charset="-122"/>
                <a:sym typeface="Symbol" pitchFamily="18" charset="2"/>
              </a:rPr>
              <a:t></a:t>
            </a:r>
            <a:r>
              <a:rPr lang="en-US" altLang="zh-CN" i="1" baseline="-25000" dirty="0">
                <a:ea typeface="宋体" charset="-122"/>
                <a:sym typeface="Symbol" pitchFamily="18" charset="2"/>
              </a:rPr>
              <a:t>3</a:t>
            </a:r>
            <a:r>
              <a:rPr lang="en-US" altLang="zh-CN" i="1" dirty="0">
                <a:ea typeface="宋体" charset="-122"/>
                <a:sym typeface="Symbol" pitchFamily="18" charset="2"/>
              </a:rPr>
              <a:t> = </a:t>
            </a:r>
            <a:r>
              <a:rPr lang="en-US" altLang="zh-CN" i="1" dirty="0">
                <a:ea typeface="宋体" charset="-122"/>
              </a:rPr>
              <a:t>(</a:t>
            </a:r>
            <a:r>
              <a:rPr lang="en-US" altLang="zh-CN" i="1" dirty="0">
                <a:ea typeface="宋体" charset="-122"/>
                <a:sym typeface="Symbol" pitchFamily="18" charset="2"/>
              </a:rPr>
              <a:t></a:t>
            </a:r>
            <a:r>
              <a:rPr lang="en-US" altLang="zh-CN" i="1" dirty="0">
                <a:ea typeface="宋体" charset="-122"/>
              </a:rPr>
              <a:t>b</a:t>
            </a:r>
            <a:r>
              <a:rPr lang="en-US" altLang="zh-CN" i="1" dirty="0">
                <a:ea typeface="宋体" charset="-122"/>
                <a:sym typeface="Symbol" pitchFamily="18" charset="2"/>
              </a:rPr>
              <a:t>     d)</a:t>
            </a:r>
          </a:p>
          <a:p>
            <a:pPr>
              <a:spcBef>
                <a:spcPct val="50000"/>
              </a:spcBef>
            </a:pPr>
            <a:r>
              <a:rPr lang="en-US" altLang="zh-CN" i="1" dirty="0">
                <a:ea typeface="宋体" charset="-122"/>
                <a:cs typeface="Times New Roman" pitchFamily="18" charset="0"/>
                <a:sym typeface="Symbol" pitchFamily="18" charset="2"/>
              </a:rPr>
              <a:t> = </a:t>
            </a:r>
            <a:r>
              <a:rPr lang="en-US" altLang="zh-CN" i="1" dirty="0">
                <a:ea typeface="宋体" charset="-122"/>
                <a:sym typeface="Symbol" pitchFamily="18" charset="2"/>
              </a:rPr>
              <a:t></a:t>
            </a:r>
            <a:r>
              <a:rPr lang="en-US" altLang="zh-CN" i="1" baseline="-25000" dirty="0">
                <a:ea typeface="宋体" charset="-122"/>
                <a:sym typeface="Symbol" pitchFamily="18" charset="2"/>
              </a:rPr>
              <a:t>1</a:t>
            </a:r>
            <a:r>
              <a:rPr lang="en-US" altLang="zh-CN" i="1" dirty="0">
                <a:ea typeface="宋体" charset="-122"/>
                <a:sym typeface="Symbol" pitchFamily="18" charset="2"/>
              </a:rPr>
              <a:t>    </a:t>
            </a:r>
            <a:r>
              <a:rPr lang="en-US" altLang="zh-CN" i="1" baseline="-25000" dirty="0">
                <a:ea typeface="宋体" charset="-122"/>
                <a:sym typeface="Symbol" pitchFamily="18" charset="2"/>
              </a:rPr>
              <a:t>2</a:t>
            </a:r>
            <a:r>
              <a:rPr lang="en-US" altLang="zh-CN" i="1" dirty="0">
                <a:ea typeface="宋体" charset="-122"/>
                <a:sym typeface="Symbol" pitchFamily="18" charset="2"/>
              </a:rPr>
              <a:t>     </a:t>
            </a:r>
            <a:r>
              <a:rPr lang="en-US" altLang="zh-CN" i="1" baseline="-25000" dirty="0">
                <a:ea typeface="宋体" charset="-122"/>
                <a:sym typeface="Symbol" pitchFamily="18" charset="2"/>
              </a:rPr>
              <a:t>3</a:t>
            </a:r>
            <a:r>
              <a:rPr lang="en-US" altLang="zh-CN" i="1" dirty="0">
                <a:ea typeface="宋体" charset="-122"/>
                <a:sym typeface="Symbol" pitchFamily="18" charset="2"/>
              </a:rPr>
              <a:t> </a:t>
            </a:r>
          </a:p>
          <a:p>
            <a:pPr>
              <a:spcBef>
                <a:spcPct val="50000"/>
              </a:spcBef>
            </a:pPr>
            <a:r>
              <a:rPr lang="en-US" altLang="zh-CN" i="1" dirty="0">
                <a:ea typeface="宋体" charset="-122"/>
                <a:sym typeface="Symbol" pitchFamily="18" charset="2"/>
              </a:rPr>
              <a:t>A = {a=0, b=1, c=0, d=1}</a:t>
            </a:r>
            <a:r>
              <a:rPr lang="en-US" altLang="zh-CN" i="1" dirty="0">
                <a:latin typeface="Tahoma" pitchFamily="34" charset="0"/>
                <a:ea typeface="宋体" charset="-122"/>
                <a:sym typeface="Symbol" pitchFamily="18" charset="2"/>
              </a:rPr>
              <a:t> </a:t>
            </a:r>
          </a:p>
        </p:txBody>
      </p:sp>
      <p:graphicFrame>
        <p:nvGraphicFramePr>
          <p:cNvPr id="5126" name="Object 6"/>
          <p:cNvGraphicFramePr>
            <a:graphicFrameLocks noChangeAspect="1"/>
          </p:cNvGraphicFramePr>
          <p:nvPr>
            <p:extLst>
              <p:ext uri="{D42A27DB-BD31-4B8C-83A1-F6EECF244321}">
                <p14:modId xmlns:p14="http://schemas.microsoft.com/office/powerpoint/2010/main" val="1595588070"/>
              </p:ext>
            </p:extLst>
          </p:nvPr>
        </p:nvGraphicFramePr>
        <p:xfrm>
          <a:off x="3119264" y="5214937"/>
          <a:ext cx="228600" cy="190500"/>
        </p:xfrm>
        <a:graphic>
          <a:graphicData uri="http://schemas.openxmlformats.org/presentationml/2006/ole">
            <mc:AlternateContent xmlns:mc="http://schemas.openxmlformats.org/markup-compatibility/2006">
              <mc:Choice xmlns:v="urn:schemas-microsoft-com:vml" Requires="v">
                <p:oleObj spid="_x0000_s7393" name="Equation" r:id="rId3" imgW="228600" imgH="190440" progId="Equation.3">
                  <p:embed/>
                </p:oleObj>
              </mc:Choice>
              <mc:Fallback>
                <p:oleObj name="Equation" r:id="rId3" imgW="228600" imgH="190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9264" y="5214937"/>
                        <a:ext cx="228600" cy="19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5128" name="Object 8"/>
          <p:cNvGraphicFramePr>
            <a:graphicFrameLocks noChangeAspect="1"/>
          </p:cNvGraphicFramePr>
          <p:nvPr>
            <p:extLst>
              <p:ext uri="{D42A27DB-BD31-4B8C-83A1-F6EECF244321}">
                <p14:modId xmlns:p14="http://schemas.microsoft.com/office/powerpoint/2010/main" val="1638642574"/>
              </p:ext>
            </p:extLst>
          </p:nvPr>
        </p:nvGraphicFramePr>
        <p:xfrm>
          <a:off x="3691742" y="5229200"/>
          <a:ext cx="228600" cy="190500"/>
        </p:xfrm>
        <a:graphic>
          <a:graphicData uri="http://schemas.openxmlformats.org/presentationml/2006/ole">
            <mc:AlternateContent xmlns:mc="http://schemas.openxmlformats.org/markup-compatibility/2006">
              <mc:Choice xmlns:v="urn:schemas-microsoft-com:vml" Requires="v">
                <p:oleObj spid="_x0000_s7394" name="Equation" r:id="rId5" imgW="228600" imgH="190440" progId="Equation.3">
                  <p:embed/>
                </p:oleObj>
              </mc:Choice>
              <mc:Fallback>
                <p:oleObj name="Equation" r:id="rId5" imgW="228600" imgH="190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1742" y="5229200"/>
                        <a:ext cx="228600" cy="19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5131" name="Line 11"/>
          <p:cNvSpPr>
            <a:spLocks noChangeShapeType="1"/>
          </p:cNvSpPr>
          <p:nvPr/>
        </p:nvSpPr>
        <p:spPr bwMode="auto">
          <a:xfrm flipH="1">
            <a:off x="5364088" y="5638800"/>
            <a:ext cx="18749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32" name="Text Box 12"/>
          <p:cNvSpPr txBox="1">
            <a:spLocks noChangeArrowheads="1"/>
          </p:cNvSpPr>
          <p:nvPr/>
        </p:nvSpPr>
        <p:spPr bwMode="auto">
          <a:xfrm>
            <a:off x="974725" y="4308475"/>
            <a:ext cx="10636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a:ea typeface="宋体" charset="-122"/>
              </a:rPr>
              <a:t>clauses</a:t>
            </a:r>
          </a:p>
        </p:txBody>
      </p:sp>
      <p:sp>
        <p:nvSpPr>
          <p:cNvPr id="5134" name="Line 14"/>
          <p:cNvSpPr>
            <a:spLocks noChangeShapeType="1"/>
          </p:cNvSpPr>
          <p:nvPr/>
        </p:nvSpPr>
        <p:spPr bwMode="auto">
          <a:xfrm flipV="1">
            <a:off x="1981200" y="4191000"/>
            <a:ext cx="4572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36" name="Line 16"/>
          <p:cNvSpPr>
            <a:spLocks noChangeShapeType="1"/>
          </p:cNvSpPr>
          <p:nvPr/>
        </p:nvSpPr>
        <p:spPr bwMode="auto">
          <a:xfrm>
            <a:off x="1981200" y="45720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37" name="Line 17"/>
          <p:cNvSpPr>
            <a:spLocks noChangeShapeType="1"/>
          </p:cNvSpPr>
          <p:nvPr/>
        </p:nvSpPr>
        <p:spPr bwMode="auto">
          <a:xfrm>
            <a:off x="1981200" y="4572000"/>
            <a:ext cx="457200" cy="5131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38" name="Text Box 18"/>
          <p:cNvSpPr txBox="1">
            <a:spLocks noChangeArrowheads="1"/>
          </p:cNvSpPr>
          <p:nvPr/>
        </p:nvSpPr>
        <p:spPr bwMode="auto">
          <a:xfrm>
            <a:off x="3962400" y="3352800"/>
            <a:ext cx="101123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a:ea typeface="宋体" charset="-122"/>
              </a:rPr>
              <a:t>literals</a:t>
            </a:r>
          </a:p>
        </p:txBody>
      </p:sp>
      <p:graphicFrame>
        <p:nvGraphicFramePr>
          <p:cNvPr id="5141" name="Object 21"/>
          <p:cNvGraphicFramePr>
            <a:graphicFrameLocks noChangeAspect="1"/>
          </p:cNvGraphicFramePr>
          <p:nvPr>
            <p:extLst>
              <p:ext uri="{D42A27DB-BD31-4B8C-83A1-F6EECF244321}">
                <p14:modId xmlns:p14="http://schemas.microsoft.com/office/powerpoint/2010/main" val="1953252360"/>
              </p:ext>
            </p:extLst>
          </p:nvPr>
        </p:nvGraphicFramePr>
        <p:xfrm>
          <a:off x="3347864" y="4819650"/>
          <a:ext cx="228600" cy="190500"/>
        </p:xfrm>
        <a:graphic>
          <a:graphicData uri="http://schemas.openxmlformats.org/presentationml/2006/ole">
            <mc:AlternateContent xmlns:mc="http://schemas.openxmlformats.org/markup-compatibility/2006">
              <mc:Choice xmlns:v="urn:schemas-microsoft-com:vml" Requires="v">
                <p:oleObj spid="_x0000_s7395" name="Equation" r:id="rId6" imgW="228600" imgH="190440" progId="Equation.3">
                  <p:embed/>
                </p:oleObj>
              </mc:Choice>
              <mc:Fallback>
                <p:oleObj name="Equation" r:id="rId6" imgW="228600" imgH="1904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7864" y="4819650"/>
                        <a:ext cx="228600" cy="19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5142" name="Object 22"/>
          <p:cNvGraphicFramePr>
            <a:graphicFrameLocks noChangeAspect="1"/>
          </p:cNvGraphicFramePr>
          <p:nvPr>
            <p:extLst>
              <p:ext uri="{D42A27DB-BD31-4B8C-83A1-F6EECF244321}">
                <p14:modId xmlns:p14="http://schemas.microsoft.com/office/powerpoint/2010/main" val="4171792080"/>
              </p:ext>
            </p:extLst>
          </p:nvPr>
        </p:nvGraphicFramePr>
        <p:xfrm>
          <a:off x="3131840" y="4005064"/>
          <a:ext cx="228600" cy="190500"/>
        </p:xfrm>
        <a:graphic>
          <a:graphicData uri="http://schemas.openxmlformats.org/presentationml/2006/ole">
            <mc:AlternateContent xmlns:mc="http://schemas.openxmlformats.org/markup-compatibility/2006">
              <mc:Choice xmlns:v="urn:schemas-microsoft-com:vml" Requires="v">
                <p:oleObj spid="_x0000_s7396" name="Equation" r:id="rId8" imgW="228600" imgH="190440" progId="Equation.3">
                  <p:embed/>
                </p:oleObj>
              </mc:Choice>
              <mc:Fallback>
                <p:oleObj name="Equation" r:id="rId8" imgW="228600" imgH="1904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1840" y="4005064"/>
                        <a:ext cx="228600" cy="19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graphicFrame>
        <p:nvGraphicFramePr>
          <p:cNvPr id="5144" name="Object 24"/>
          <p:cNvGraphicFramePr>
            <a:graphicFrameLocks noChangeAspect="1"/>
          </p:cNvGraphicFramePr>
          <p:nvPr>
            <p:extLst>
              <p:ext uri="{D42A27DB-BD31-4B8C-83A1-F6EECF244321}">
                <p14:modId xmlns:p14="http://schemas.microsoft.com/office/powerpoint/2010/main" val="156516640"/>
              </p:ext>
            </p:extLst>
          </p:nvPr>
        </p:nvGraphicFramePr>
        <p:xfrm>
          <a:off x="3419872" y="4397045"/>
          <a:ext cx="228600" cy="190500"/>
        </p:xfrm>
        <a:graphic>
          <a:graphicData uri="http://schemas.openxmlformats.org/presentationml/2006/ole">
            <mc:AlternateContent xmlns:mc="http://schemas.openxmlformats.org/markup-compatibility/2006">
              <mc:Choice xmlns:v="urn:schemas-microsoft-com:vml" Requires="v">
                <p:oleObj spid="_x0000_s7397" name="Equation" r:id="rId9" imgW="228600" imgH="190440" progId="Equation.3">
                  <p:embed/>
                </p:oleObj>
              </mc:Choice>
              <mc:Fallback>
                <p:oleObj name="Equation" r:id="rId9" imgW="228600" imgH="1904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9872" y="4397045"/>
                        <a:ext cx="228600" cy="19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5145" name="Line 25"/>
          <p:cNvSpPr>
            <a:spLocks noChangeShapeType="1"/>
          </p:cNvSpPr>
          <p:nvPr/>
        </p:nvSpPr>
        <p:spPr bwMode="auto">
          <a:xfrm flipH="1">
            <a:off x="3810000" y="3657600"/>
            <a:ext cx="2286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5147" name="Line 27"/>
          <p:cNvSpPr>
            <a:spLocks noChangeShapeType="1"/>
          </p:cNvSpPr>
          <p:nvPr/>
        </p:nvSpPr>
        <p:spPr bwMode="auto">
          <a:xfrm flipH="1">
            <a:off x="4191000" y="3733800"/>
            <a:ext cx="7620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0973957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730206" y="404813"/>
            <a:ext cx="6650106" cy="575915"/>
          </a:xfrm>
        </p:spPr>
        <p:txBody>
          <a:bodyPr/>
          <a:lstStyle/>
          <a:p>
            <a:r>
              <a:rPr lang="zh-CN" altLang="en-US" sz="3600" dirty="0" smtClean="0">
                <a:ea typeface="宋体" charset="-122"/>
              </a:rPr>
              <a:t>经典的</a:t>
            </a:r>
            <a:r>
              <a:rPr lang="en-US" altLang="zh-CN" sz="3600" dirty="0" smtClean="0">
                <a:ea typeface="宋体" charset="-122"/>
              </a:rPr>
              <a:t>SAT</a:t>
            </a:r>
            <a:r>
              <a:rPr lang="zh-CN" altLang="en-US" sz="3600" dirty="0" smtClean="0">
                <a:ea typeface="宋体" charset="-122"/>
              </a:rPr>
              <a:t>－</a:t>
            </a:r>
            <a:r>
              <a:rPr lang="en-US" altLang="zh-CN" sz="3600" dirty="0" smtClean="0">
                <a:ea typeface="宋体" charset="-122"/>
              </a:rPr>
              <a:t>Based BMC </a:t>
            </a:r>
            <a:r>
              <a:rPr lang="zh-CN" altLang="en-US" sz="3600" dirty="0" smtClean="0">
                <a:ea typeface="宋体" charset="-122"/>
              </a:rPr>
              <a:t>方法</a:t>
            </a:r>
            <a:endParaRPr lang="en-US" altLang="zh-CN" sz="3600" dirty="0">
              <a:ea typeface="宋体" charset="-122"/>
            </a:endParaRPr>
          </a:p>
        </p:txBody>
      </p:sp>
      <p:sp>
        <p:nvSpPr>
          <p:cNvPr id="22531" name="Text Box 3"/>
          <p:cNvSpPr txBox="1">
            <a:spLocks noChangeArrowheads="1"/>
          </p:cNvSpPr>
          <p:nvPr/>
        </p:nvSpPr>
        <p:spPr bwMode="auto">
          <a:xfrm>
            <a:off x="323528" y="1556792"/>
            <a:ext cx="744772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lang="zh-CN" altLang="en-US" sz="2800" dirty="0" smtClean="0">
                <a:ea typeface="宋体" charset="-122"/>
              </a:rPr>
              <a:t>输入</a:t>
            </a:r>
            <a:r>
              <a:rPr lang="en-US" altLang="zh-CN" sz="2800" dirty="0" smtClean="0">
                <a:ea typeface="宋体" charset="-122"/>
              </a:rPr>
              <a:t>: </a:t>
            </a:r>
            <a:r>
              <a:rPr lang="zh-CN" altLang="en-US" sz="2800" dirty="0" smtClean="0">
                <a:ea typeface="宋体" charset="-122"/>
              </a:rPr>
              <a:t>模型</a:t>
            </a:r>
            <a:r>
              <a:rPr lang="en-US" altLang="zh-CN" sz="2800" dirty="0" smtClean="0">
                <a:ea typeface="宋体" charset="-122"/>
              </a:rPr>
              <a:t> </a:t>
            </a:r>
            <a:r>
              <a:rPr lang="en-US" altLang="zh-CN" sz="2800" i="1" dirty="0">
                <a:ea typeface="宋体" charset="-122"/>
              </a:rPr>
              <a:t>M</a:t>
            </a:r>
            <a:r>
              <a:rPr lang="en-US" altLang="zh-CN" sz="2800" dirty="0">
                <a:ea typeface="宋体" charset="-122"/>
              </a:rPr>
              <a:t>, </a:t>
            </a:r>
            <a:r>
              <a:rPr lang="zh-CN" altLang="en-US" sz="2800" dirty="0" smtClean="0">
                <a:ea typeface="宋体" charset="-122"/>
              </a:rPr>
              <a:t>时序公式</a:t>
            </a:r>
            <a:r>
              <a:rPr lang="en-US" altLang="zh-CN" sz="2800" i="1" dirty="0" smtClean="0">
                <a:ea typeface="宋体" charset="-122"/>
              </a:rPr>
              <a:t>f</a:t>
            </a:r>
            <a:r>
              <a:rPr lang="en-US" altLang="zh-CN" sz="2800" dirty="0">
                <a:ea typeface="宋体" charset="-122"/>
              </a:rPr>
              <a:t>, and </a:t>
            </a:r>
            <a:r>
              <a:rPr lang="zh-CN" altLang="en-US" sz="2800" i="1" dirty="0" smtClean="0">
                <a:ea typeface="宋体" charset="-122"/>
              </a:rPr>
              <a:t>用户制定步长</a:t>
            </a:r>
            <a:r>
              <a:rPr lang="en-US" altLang="zh-CN" sz="2800" i="1" dirty="0" smtClean="0">
                <a:ea typeface="宋体" charset="-122"/>
              </a:rPr>
              <a:t>k</a:t>
            </a:r>
            <a:r>
              <a:rPr lang="en-US" altLang="zh-CN" sz="2800" dirty="0" smtClean="0">
                <a:ea typeface="宋体" charset="-122"/>
              </a:rPr>
              <a:t> </a:t>
            </a:r>
            <a:endParaRPr lang="en-US" altLang="zh-CN" sz="2800" dirty="0">
              <a:ea typeface="宋体" charset="-122"/>
            </a:endParaRPr>
          </a:p>
        </p:txBody>
      </p:sp>
      <p:sp>
        <p:nvSpPr>
          <p:cNvPr id="22532" name="Text Box 4"/>
          <p:cNvSpPr txBox="1">
            <a:spLocks noChangeArrowheads="1"/>
          </p:cNvSpPr>
          <p:nvPr/>
        </p:nvSpPr>
        <p:spPr bwMode="auto">
          <a:xfrm>
            <a:off x="220618" y="2209800"/>
            <a:ext cx="8407831" cy="9541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2800" dirty="0" smtClean="0">
                <a:latin typeface="Symbol" pitchFamily="18" charset="2"/>
                <a:ea typeface="宋体" charset="-122"/>
                <a:sym typeface="Symbol" pitchFamily="18" charset="2"/>
              </a:rPr>
              <a:t>构建命题公式</a:t>
            </a:r>
            <a:r>
              <a:rPr lang="en-US" altLang="zh-CN" sz="2800" dirty="0" smtClean="0">
                <a:latin typeface="Symbol" pitchFamily="18" charset="2"/>
                <a:ea typeface="宋体" charset="-122"/>
                <a:sym typeface="Symbol" pitchFamily="18" charset="2"/>
              </a:rPr>
              <a:t>W</a:t>
            </a:r>
            <a:r>
              <a:rPr lang="en-US" altLang="zh-CN" sz="2800" dirty="0">
                <a:ea typeface="宋体" charset="-122"/>
                <a:sym typeface="Symbol" pitchFamily="18" charset="2"/>
              </a:rPr>
              <a:t>(k) </a:t>
            </a:r>
            <a:r>
              <a:rPr lang="zh-CN" altLang="zh-CN" sz="2800" dirty="0" smtClean="0">
                <a:ea typeface="宋体" charset="-122"/>
                <a:sym typeface="Symbol" pitchFamily="18" charset="2"/>
              </a:rPr>
              <a:t>，</a:t>
            </a:r>
            <a:r>
              <a:rPr lang="zh-CN" altLang="en-US" sz="2800" dirty="0" smtClean="0">
                <a:ea typeface="宋体" charset="-122"/>
                <a:sym typeface="Symbol" pitchFamily="18" charset="2"/>
              </a:rPr>
              <a:t>此命题公式成真，</a:t>
            </a:r>
            <a:r>
              <a:rPr lang="en-US" altLang="zh-CN" sz="2800" i="1" dirty="0" err="1" smtClean="0">
                <a:ea typeface="宋体" charset="-122"/>
                <a:sym typeface="Symbol" pitchFamily="18" charset="2"/>
              </a:rPr>
              <a:t>satisfiable</a:t>
            </a:r>
            <a:r>
              <a:rPr lang="zh-CN" altLang="en-US" sz="2800" i="1" dirty="0" smtClean="0">
                <a:ea typeface="宋体" charset="-122"/>
                <a:sym typeface="Symbol" pitchFamily="18" charset="2"/>
              </a:rPr>
              <a:t>，</a:t>
            </a:r>
            <a:endParaRPr lang="en-US" altLang="zh-CN" sz="2800" i="1" dirty="0" smtClean="0">
              <a:ea typeface="宋体" charset="-122"/>
              <a:sym typeface="Symbol" pitchFamily="18" charset="2"/>
            </a:endParaRPr>
          </a:p>
          <a:p>
            <a:r>
              <a:rPr lang="en-US" altLang="zh-CN" sz="2800" i="1" dirty="0" smtClean="0">
                <a:ea typeface="宋体" charset="-122"/>
                <a:sym typeface="Symbol" pitchFamily="18" charset="2"/>
              </a:rPr>
              <a:t> </a:t>
            </a:r>
            <a:r>
              <a:rPr lang="zh-CN" altLang="en-US" sz="2800" dirty="0" smtClean="0">
                <a:ea typeface="宋体" charset="-122"/>
                <a:sym typeface="Symbol" pitchFamily="18" charset="2"/>
              </a:rPr>
              <a:t>当且仅当</a:t>
            </a:r>
            <a:r>
              <a:rPr lang="en-US" altLang="zh-CN" sz="2800" dirty="0" smtClean="0">
                <a:ea typeface="宋体" charset="-122"/>
                <a:sym typeface="Symbol" pitchFamily="18" charset="2"/>
              </a:rPr>
              <a:t> </a:t>
            </a:r>
            <a:r>
              <a:rPr lang="en-US" altLang="zh-CN" sz="2800" i="1" dirty="0">
                <a:ea typeface="宋体" charset="-122"/>
                <a:sym typeface="Symbol" pitchFamily="18" charset="2"/>
              </a:rPr>
              <a:t>f</a:t>
            </a:r>
            <a:r>
              <a:rPr lang="en-US" altLang="zh-CN" sz="2800" dirty="0">
                <a:ea typeface="宋体" charset="-122"/>
                <a:sym typeface="Symbol" pitchFamily="18" charset="2"/>
              </a:rPr>
              <a:t> </a:t>
            </a:r>
            <a:r>
              <a:rPr lang="zh-CN" altLang="en-US" sz="2800" dirty="0" smtClean="0">
                <a:ea typeface="宋体" charset="-122"/>
                <a:sym typeface="Symbol" pitchFamily="18" charset="2"/>
              </a:rPr>
              <a:t>在某个长度为</a:t>
            </a:r>
            <a:r>
              <a:rPr lang="en-US" altLang="zh-CN" sz="2800" dirty="0" smtClean="0">
                <a:ea typeface="宋体" charset="-122"/>
                <a:sym typeface="Symbol" pitchFamily="18" charset="2"/>
              </a:rPr>
              <a:t> </a:t>
            </a:r>
            <a:r>
              <a:rPr lang="en-US" altLang="zh-CN" sz="2800" i="1" dirty="0" smtClean="0">
                <a:ea typeface="宋体" charset="-122"/>
                <a:sym typeface="Symbol" pitchFamily="18" charset="2"/>
              </a:rPr>
              <a:t>k</a:t>
            </a:r>
            <a:r>
              <a:rPr lang="zh-CN" altLang="en-US" sz="2800" dirty="0" smtClean="0">
                <a:ea typeface="宋体" charset="-122"/>
                <a:sym typeface="Symbol" pitchFamily="18" charset="2"/>
              </a:rPr>
              <a:t>的路径上满足。</a:t>
            </a:r>
            <a:endParaRPr lang="en-US" altLang="zh-CN" sz="2800" dirty="0">
              <a:ea typeface="宋体" charset="-122"/>
              <a:sym typeface="Symbol" pitchFamily="18" charset="2"/>
            </a:endParaRPr>
          </a:p>
        </p:txBody>
      </p:sp>
      <p:sp>
        <p:nvSpPr>
          <p:cNvPr id="22533" name="Text Box 5"/>
          <p:cNvSpPr txBox="1">
            <a:spLocks noChangeArrowheads="1"/>
          </p:cNvSpPr>
          <p:nvPr/>
        </p:nvSpPr>
        <p:spPr bwMode="auto">
          <a:xfrm>
            <a:off x="280943" y="3317875"/>
            <a:ext cx="2644048"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2800" i="1" dirty="0" smtClean="0">
                <a:ea typeface="宋体" charset="-122"/>
              </a:rPr>
              <a:t>长度为</a:t>
            </a:r>
            <a:r>
              <a:rPr lang="en-US" altLang="zh-CN" sz="2800" i="1" dirty="0" smtClean="0">
                <a:ea typeface="宋体" charset="-122"/>
              </a:rPr>
              <a:t>k</a:t>
            </a:r>
            <a:r>
              <a:rPr lang="zh-CN" altLang="en-US" sz="2800" i="1" dirty="0" smtClean="0">
                <a:ea typeface="宋体" charset="-122"/>
              </a:rPr>
              <a:t>的路径</a:t>
            </a:r>
            <a:r>
              <a:rPr lang="en-US" altLang="zh-CN" sz="2800" dirty="0" smtClean="0">
                <a:ea typeface="宋体" charset="-122"/>
              </a:rPr>
              <a:t>: </a:t>
            </a:r>
            <a:endParaRPr lang="en-US" altLang="zh-CN" sz="2800" dirty="0">
              <a:ea typeface="宋体" charset="-122"/>
            </a:endParaRPr>
          </a:p>
        </p:txBody>
      </p:sp>
      <p:graphicFrame>
        <p:nvGraphicFramePr>
          <p:cNvPr id="22534" name="Object 6"/>
          <p:cNvGraphicFramePr>
            <a:graphicFrameLocks noChangeAspect="1"/>
          </p:cNvGraphicFramePr>
          <p:nvPr>
            <p:extLst>
              <p:ext uri="{D42A27DB-BD31-4B8C-83A1-F6EECF244321}">
                <p14:modId xmlns:p14="http://schemas.microsoft.com/office/powerpoint/2010/main" val="3677498022"/>
              </p:ext>
            </p:extLst>
          </p:nvPr>
        </p:nvGraphicFramePr>
        <p:xfrm>
          <a:off x="3020968" y="3155950"/>
          <a:ext cx="2628900" cy="749300"/>
        </p:xfrm>
        <a:graphic>
          <a:graphicData uri="http://schemas.openxmlformats.org/presentationml/2006/ole">
            <mc:AlternateContent xmlns:mc="http://schemas.openxmlformats.org/markup-compatibility/2006">
              <mc:Choice xmlns:v="urn:schemas-microsoft-com:vml" Requires="v">
                <p:oleObj spid="_x0000_s8288" name="Equation" r:id="rId3" imgW="2628720" imgH="749160" progId="Equation.3">
                  <p:embed/>
                </p:oleObj>
              </mc:Choice>
              <mc:Fallback>
                <p:oleObj name="Equation" r:id="rId3" imgW="2628720" imgH="7491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0968" y="3155950"/>
                        <a:ext cx="2628900" cy="7493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
        <p:nvSpPr>
          <p:cNvPr id="22536" name="Text Box 8"/>
          <p:cNvSpPr txBox="1">
            <a:spLocks noChangeArrowheads="1"/>
          </p:cNvSpPr>
          <p:nvPr/>
        </p:nvSpPr>
        <p:spPr bwMode="auto">
          <a:xfrm>
            <a:off x="296818" y="4191000"/>
            <a:ext cx="3615092" cy="26776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2800" dirty="0" smtClean="0">
                <a:ea typeface="宋体" charset="-122"/>
              </a:rPr>
              <a:t>假设</a:t>
            </a:r>
            <a:r>
              <a:rPr lang="en-US" altLang="zh-CN" sz="2800" dirty="0" smtClean="0">
                <a:ea typeface="宋体" charset="-122"/>
              </a:rPr>
              <a:t> </a:t>
            </a:r>
            <a:r>
              <a:rPr lang="en-US" altLang="zh-CN" sz="2800" i="1" dirty="0">
                <a:ea typeface="宋体" charset="-122"/>
              </a:rPr>
              <a:t>f = </a:t>
            </a:r>
            <a:r>
              <a:rPr lang="en-US" altLang="zh-CN" sz="2800" b="1" dirty="0">
                <a:ea typeface="宋体" charset="-122"/>
              </a:rPr>
              <a:t>EF </a:t>
            </a:r>
            <a:r>
              <a:rPr lang="en-US" altLang="zh-CN" sz="2800" i="1" dirty="0">
                <a:ea typeface="宋体" charset="-122"/>
              </a:rPr>
              <a:t>p</a:t>
            </a:r>
            <a:r>
              <a:rPr lang="en-US" altLang="zh-CN" sz="2800" dirty="0">
                <a:ea typeface="宋体" charset="-122"/>
              </a:rPr>
              <a:t> </a:t>
            </a:r>
            <a:r>
              <a:rPr lang="zh-CN" altLang="en-US" sz="2800" dirty="0" smtClean="0">
                <a:ea typeface="宋体" charset="-122"/>
              </a:rPr>
              <a:t>，</a:t>
            </a:r>
            <a:r>
              <a:rPr lang="en-US" altLang="zh-CN" sz="2800" i="1" dirty="0" smtClean="0">
                <a:ea typeface="宋体" charset="-122"/>
              </a:rPr>
              <a:t>k </a:t>
            </a:r>
            <a:r>
              <a:rPr lang="en-US" altLang="zh-CN" sz="2800" i="1" dirty="0">
                <a:ea typeface="宋体" charset="-122"/>
              </a:rPr>
              <a:t>= </a:t>
            </a:r>
            <a:r>
              <a:rPr lang="en-US" altLang="zh-CN" sz="2800" dirty="0">
                <a:ea typeface="宋体" charset="-122"/>
              </a:rPr>
              <a:t>2</a:t>
            </a:r>
            <a:r>
              <a:rPr lang="en-US" altLang="zh-CN" sz="2800" dirty="0" smtClean="0">
                <a:ea typeface="宋体" charset="-122"/>
              </a:rPr>
              <a:t>,</a:t>
            </a:r>
          </a:p>
          <a:p>
            <a:endParaRPr lang="en-US" altLang="zh-CN" sz="2800" dirty="0">
              <a:ea typeface="宋体" charset="-122"/>
            </a:endParaRPr>
          </a:p>
          <a:p>
            <a:endParaRPr lang="en-US" altLang="zh-CN" sz="2800" dirty="0" smtClean="0">
              <a:ea typeface="宋体" charset="-122"/>
            </a:endParaRPr>
          </a:p>
          <a:p>
            <a:endParaRPr lang="en-US" altLang="zh-CN" sz="2800" dirty="0">
              <a:ea typeface="宋体" charset="-122"/>
            </a:endParaRPr>
          </a:p>
          <a:p>
            <a:r>
              <a:rPr lang="en-US" altLang="zh-CN" sz="2800" b="1" dirty="0" smtClean="0">
                <a:ea typeface="宋体" charset="-122"/>
              </a:rPr>
              <a:t>AG</a:t>
            </a:r>
            <a:r>
              <a:rPr lang="zh-CN" altLang="en-US" sz="2800" dirty="0" smtClean="0">
                <a:ea typeface="宋体" charset="-122"/>
              </a:rPr>
              <a:t> </a:t>
            </a:r>
            <a:r>
              <a:rPr lang="en-US" altLang="zh-CN" sz="2800" dirty="0" smtClean="0">
                <a:ea typeface="宋体" charset="-122"/>
              </a:rPr>
              <a:t>p</a:t>
            </a:r>
            <a:r>
              <a:rPr lang="zh-CN" altLang="en-US" sz="2800" dirty="0" smtClean="0">
                <a:ea typeface="宋体" charset="-122"/>
              </a:rPr>
              <a:t>呢？</a:t>
            </a:r>
            <a:endParaRPr lang="en-US" altLang="zh-CN" sz="2800" dirty="0" smtClean="0">
              <a:ea typeface="宋体" charset="-122"/>
            </a:endParaRPr>
          </a:p>
          <a:p>
            <a:r>
              <a:rPr lang="en-US" altLang="zh-CN" sz="2800" dirty="0" smtClean="0">
                <a:ea typeface="宋体" charset="-122"/>
              </a:rPr>
              <a:t> </a:t>
            </a:r>
            <a:endParaRPr lang="en-US" altLang="zh-CN" sz="2800" dirty="0">
              <a:ea typeface="宋体" charset="-122"/>
            </a:endParaRPr>
          </a:p>
        </p:txBody>
      </p:sp>
      <p:graphicFrame>
        <p:nvGraphicFramePr>
          <p:cNvPr id="22537" name="Object 9"/>
          <p:cNvGraphicFramePr>
            <a:graphicFrameLocks noChangeAspect="1"/>
          </p:cNvGraphicFramePr>
          <p:nvPr>
            <p:extLst>
              <p:ext uri="{D42A27DB-BD31-4B8C-83A1-F6EECF244321}">
                <p14:modId xmlns:p14="http://schemas.microsoft.com/office/powerpoint/2010/main" val="1996869791"/>
              </p:ext>
            </p:extLst>
          </p:nvPr>
        </p:nvGraphicFramePr>
        <p:xfrm>
          <a:off x="639718" y="5157788"/>
          <a:ext cx="7062788" cy="430212"/>
        </p:xfrm>
        <a:graphic>
          <a:graphicData uri="http://schemas.openxmlformats.org/presentationml/2006/ole">
            <mc:AlternateContent xmlns:mc="http://schemas.openxmlformats.org/markup-compatibility/2006">
              <mc:Choice xmlns:v="urn:schemas-microsoft-com:vml" Requires="v">
                <p:oleObj spid="_x0000_s8289" name="Equation" r:id="rId5" imgW="7061040" imgH="431640" progId="Equation.3">
                  <p:embed/>
                </p:oleObj>
              </mc:Choice>
              <mc:Fallback>
                <p:oleObj name="Equation" r:id="rId5" imgW="7061040" imgH="431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718" y="5157788"/>
                        <a:ext cx="7062788" cy="4302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1879354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zh-CN">
                <a:ea typeface="宋体" charset="-122"/>
              </a:rPr>
              <a:t>BMC idea (cont’d)</a:t>
            </a:r>
          </a:p>
        </p:txBody>
      </p:sp>
      <p:sp>
        <p:nvSpPr>
          <p:cNvPr id="23555" name="Text Box 3"/>
          <p:cNvSpPr txBox="1">
            <a:spLocks noChangeArrowheads="1"/>
          </p:cNvSpPr>
          <p:nvPr/>
        </p:nvSpPr>
        <p:spPr bwMode="auto">
          <a:xfrm>
            <a:off x="33391" y="2114115"/>
            <a:ext cx="91165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b="1" dirty="0">
                <a:ea typeface="宋体" charset="-122"/>
              </a:rPr>
              <a:t>AG </a:t>
            </a:r>
            <a:r>
              <a:rPr lang="en-US" altLang="zh-CN" sz="2400" i="1" dirty="0">
                <a:ea typeface="宋体" charset="-122"/>
              </a:rPr>
              <a:t>p </a:t>
            </a:r>
            <a:r>
              <a:rPr lang="en-US" altLang="zh-CN" sz="2400" dirty="0">
                <a:ea typeface="宋体" charset="-122"/>
              </a:rPr>
              <a:t>means </a:t>
            </a:r>
            <a:r>
              <a:rPr lang="en-US" altLang="zh-CN" sz="2400" i="1" dirty="0">
                <a:ea typeface="宋体" charset="-122"/>
              </a:rPr>
              <a:t>p </a:t>
            </a:r>
            <a:r>
              <a:rPr lang="en-US" altLang="zh-CN" sz="2400" dirty="0">
                <a:ea typeface="宋体" charset="-122"/>
              </a:rPr>
              <a:t>must hold in every state along any path of length </a:t>
            </a:r>
            <a:r>
              <a:rPr lang="en-US" altLang="zh-CN" sz="2400" i="1" dirty="0">
                <a:ea typeface="宋体" charset="-122"/>
              </a:rPr>
              <a:t>k</a:t>
            </a:r>
            <a:endParaRPr lang="en-US" altLang="zh-CN" sz="2400" b="1" dirty="0">
              <a:ea typeface="宋体" charset="-122"/>
            </a:endParaRPr>
          </a:p>
        </p:txBody>
      </p:sp>
      <p:graphicFrame>
        <p:nvGraphicFramePr>
          <p:cNvPr id="23557" name="Object 5"/>
          <p:cNvGraphicFramePr>
            <a:graphicFrameLocks noChangeAspect="1"/>
          </p:cNvGraphicFramePr>
          <p:nvPr>
            <p:extLst/>
          </p:nvPr>
        </p:nvGraphicFramePr>
        <p:xfrm>
          <a:off x="1950457" y="3789040"/>
          <a:ext cx="5918300" cy="817289"/>
        </p:xfrm>
        <a:graphic>
          <a:graphicData uri="http://schemas.openxmlformats.org/presentationml/2006/ole">
            <mc:AlternateContent xmlns:mc="http://schemas.openxmlformats.org/markup-compatibility/2006">
              <mc:Choice xmlns:v="urn:schemas-microsoft-com:vml" Requires="v">
                <p:oleObj spid="_x0000_s18434" name="Equation" r:id="rId3" imgW="2666880" imgH="368280" progId="Equation.DSMT4">
                  <p:embed/>
                </p:oleObj>
              </mc:Choice>
              <mc:Fallback>
                <p:oleObj name="Equation" r:id="rId3" imgW="2666880" imgH="368280" progId="Equation.DSMT4">
                  <p:embed/>
                  <p:pic>
                    <p:nvPicPr>
                      <p:cNvPr id="0" name=""/>
                      <p:cNvPicPr>
                        <a:picLocks noChangeAspect="1" noChangeArrowheads="1"/>
                      </p:cNvPicPr>
                      <p:nvPr/>
                    </p:nvPicPr>
                    <p:blipFill>
                      <a:blip r:embed="rId4"/>
                      <a:srcRect/>
                      <a:stretch>
                        <a:fillRect/>
                      </a:stretch>
                    </p:blipFill>
                    <p:spPr bwMode="auto">
                      <a:xfrm>
                        <a:off x="1950457" y="3789040"/>
                        <a:ext cx="5918300" cy="817289"/>
                      </a:xfrm>
                      <a:prstGeom prst="rect">
                        <a:avLst/>
                      </a:prstGeom>
                      <a:noFill/>
                      <a:ln>
                        <a:noFill/>
                      </a:ln>
                      <a:effectLst/>
                      <a:extLst/>
                    </p:spPr>
                  </p:pic>
                </p:oleObj>
              </mc:Fallback>
            </mc:AlternateContent>
          </a:graphicData>
        </a:graphic>
      </p:graphicFrame>
      <p:sp>
        <p:nvSpPr>
          <p:cNvPr id="23559" name="Text Box 7"/>
          <p:cNvSpPr txBox="1">
            <a:spLocks noChangeArrowheads="1"/>
          </p:cNvSpPr>
          <p:nvPr/>
        </p:nvSpPr>
        <p:spPr bwMode="auto">
          <a:xfrm>
            <a:off x="762000" y="2743200"/>
            <a:ext cx="13076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ea typeface="宋体" charset="-122"/>
              </a:rPr>
              <a:t>We take</a:t>
            </a:r>
          </a:p>
        </p:txBody>
      </p:sp>
      <p:sp>
        <p:nvSpPr>
          <p:cNvPr id="23561" name="Text Box 9"/>
          <p:cNvSpPr txBox="1">
            <a:spLocks noChangeArrowheads="1"/>
          </p:cNvSpPr>
          <p:nvPr/>
        </p:nvSpPr>
        <p:spPr bwMode="auto">
          <a:xfrm>
            <a:off x="903801" y="4941168"/>
            <a:ext cx="58160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ea typeface="宋体" charset="-122"/>
              </a:rPr>
              <a:t>That means we look for counterexamples</a:t>
            </a:r>
          </a:p>
        </p:txBody>
      </p:sp>
    </p:spTree>
    <p:extLst>
      <p:ext uri="{BB962C8B-B14F-4D97-AF65-F5344CB8AC3E}">
        <p14:creationId xmlns:p14="http://schemas.microsoft.com/office/powerpoint/2010/main" val="86922690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a:lstStyle/>
          <a:p>
            <a:r>
              <a:rPr lang="en-US" altLang="zh-CN" dirty="0">
                <a:solidFill>
                  <a:schemeClr val="accent2"/>
                </a:solidFill>
                <a:ea typeface="宋体" charset="-122"/>
              </a:rPr>
              <a:t>Safety-checking as </a:t>
            </a:r>
            <a:r>
              <a:rPr lang="en-US" altLang="zh-CN" dirty="0" smtClean="0">
                <a:solidFill>
                  <a:schemeClr val="accent2"/>
                </a:solidFill>
                <a:ea typeface="宋体" charset="-122"/>
              </a:rPr>
              <a:t>BMC </a:t>
            </a:r>
            <a:endParaRPr lang="en-US" altLang="zh-CN" dirty="0">
              <a:ea typeface="宋体" charset="-122"/>
            </a:endParaRPr>
          </a:p>
        </p:txBody>
      </p:sp>
      <p:sp>
        <p:nvSpPr>
          <p:cNvPr id="7171" name="Text Box 3"/>
          <p:cNvSpPr txBox="1">
            <a:spLocks noChangeArrowheads="1"/>
          </p:cNvSpPr>
          <p:nvPr/>
        </p:nvSpPr>
        <p:spPr bwMode="auto">
          <a:xfrm>
            <a:off x="533400" y="1752600"/>
            <a:ext cx="81813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i="1" dirty="0">
                <a:ea typeface="宋体" charset="-122"/>
              </a:rPr>
              <a:t>p </a:t>
            </a:r>
            <a:r>
              <a:rPr lang="en-US" altLang="zh-CN" sz="2400" dirty="0">
                <a:ea typeface="宋体" charset="-122"/>
              </a:rPr>
              <a:t>is preserved up to </a:t>
            </a:r>
            <a:r>
              <a:rPr lang="en-US" altLang="zh-CN" sz="2400" i="1" dirty="0">
                <a:ea typeface="宋体" charset="-122"/>
              </a:rPr>
              <a:t>k-</a:t>
            </a:r>
            <a:r>
              <a:rPr lang="en-US" altLang="zh-CN" sz="2400" i="1" dirty="0" err="1">
                <a:ea typeface="宋体" charset="-122"/>
              </a:rPr>
              <a:t>th</a:t>
            </a:r>
            <a:r>
              <a:rPr lang="en-US" altLang="zh-CN" sz="2400" dirty="0">
                <a:ea typeface="宋体" charset="-122"/>
              </a:rPr>
              <a:t> transition </a:t>
            </a:r>
            <a:r>
              <a:rPr lang="en-US" altLang="zh-CN" sz="2400" dirty="0" err="1">
                <a:ea typeface="宋体" charset="-122"/>
              </a:rPr>
              <a:t>iff</a:t>
            </a:r>
            <a:r>
              <a:rPr lang="en-US" altLang="zh-CN" sz="2400" dirty="0">
                <a:ea typeface="宋体" charset="-122"/>
              </a:rPr>
              <a:t> </a:t>
            </a:r>
            <a:r>
              <a:rPr lang="en-US" altLang="zh-CN" sz="2400" dirty="0">
                <a:latin typeface="Symbol" pitchFamily="18" charset="2"/>
                <a:ea typeface="宋体" charset="-122"/>
              </a:rPr>
              <a:t>W</a:t>
            </a:r>
            <a:r>
              <a:rPr lang="en-US" altLang="zh-CN" sz="2400" dirty="0">
                <a:ea typeface="宋体" charset="-122"/>
              </a:rPr>
              <a:t>(</a:t>
            </a:r>
            <a:r>
              <a:rPr lang="en-US" altLang="zh-CN" sz="2400" i="1" dirty="0">
                <a:ea typeface="宋体" charset="-122"/>
              </a:rPr>
              <a:t>k</a:t>
            </a:r>
            <a:r>
              <a:rPr lang="en-US" altLang="zh-CN" sz="2400" dirty="0">
                <a:ea typeface="宋体" charset="-122"/>
              </a:rPr>
              <a:t>)</a:t>
            </a:r>
            <a:r>
              <a:rPr lang="en-US" altLang="zh-CN" sz="2400" i="1" dirty="0">
                <a:ea typeface="宋体" charset="-122"/>
                <a:sym typeface="Symbol" pitchFamily="18" charset="2"/>
              </a:rPr>
              <a:t> </a:t>
            </a:r>
            <a:r>
              <a:rPr lang="en-US" altLang="zh-CN" sz="2400" dirty="0">
                <a:ea typeface="宋体" charset="-122"/>
                <a:sym typeface="Symbol" pitchFamily="18" charset="2"/>
              </a:rPr>
              <a:t>is </a:t>
            </a:r>
            <a:r>
              <a:rPr lang="en-US" altLang="zh-CN" sz="2400" dirty="0" err="1">
                <a:ea typeface="宋体" charset="-122"/>
                <a:sym typeface="Symbol" pitchFamily="18" charset="2"/>
              </a:rPr>
              <a:t>unsatisfiable</a:t>
            </a:r>
            <a:r>
              <a:rPr lang="en-US" altLang="zh-CN" sz="2400" dirty="0">
                <a:ea typeface="宋体" charset="-122"/>
                <a:sym typeface="Symbol" pitchFamily="18" charset="2"/>
              </a:rPr>
              <a:t>: </a:t>
            </a:r>
            <a:r>
              <a:rPr lang="en-US" altLang="zh-CN" sz="2400" i="1" dirty="0">
                <a:ea typeface="宋体" charset="-122"/>
                <a:sym typeface="Symbol" pitchFamily="18" charset="2"/>
              </a:rPr>
              <a:t> </a:t>
            </a:r>
            <a:endParaRPr lang="en-US" altLang="zh-CN" sz="2400" dirty="0">
              <a:ea typeface="宋体" charset="-122"/>
            </a:endParaRPr>
          </a:p>
        </p:txBody>
      </p:sp>
      <p:grpSp>
        <p:nvGrpSpPr>
          <p:cNvPr id="7172" name="Group 4"/>
          <p:cNvGrpSpPr>
            <a:grpSpLocks/>
          </p:cNvGrpSpPr>
          <p:nvPr/>
        </p:nvGrpSpPr>
        <p:grpSpPr bwMode="auto">
          <a:xfrm>
            <a:off x="1828800" y="3733800"/>
            <a:ext cx="4902200" cy="930275"/>
            <a:chOff x="1088" y="2582"/>
            <a:chExt cx="3088" cy="586"/>
          </a:xfrm>
        </p:grpSpPr>
        <p:sp>
          <p:nvSpPr>
            <p:cNvPr id="7173" name="Line 5"/>
            <p:cNvSpPr>
              <a:spLocks noChangeShapeType="1"/>
            </p:cNvSpPr>
            <p:nvPr/>
          </p:nvSpPr>
          <p:spPr bwMode="auto">
            <a:xfrm>
              <a:off x="2007" y="2880"/>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4" name="Oval 6"/>
            <p:cNvSpPr>
              <a:spLocks noChangeArrowheads="1"/>
            </p:cNvSpPr>
            <p:nvPr/>
          </p:nvSpPr>
          <p:spPr bwMode="auto">
            <a:xfrm>
              <a:off x="2583" y="2832"/>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5" name="Line 7"/>
            <p:cNvSpPr>
              <a:spLocks noChangeShapeType="1"/>
            </p:cNvSpPr>
            <p:nvPr/>
          </p:nvSpPr>
          <p:spPr bwMode="auto">
            <a:xfrm>
              <a:off x="3408" y="2880"/>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6" name="Oval 8"/>
            <p:cNvSpPr>
              <a:spLocks noChangeArrowheads="1"/>
            </p:cNvSpPr>
            <p:nvPr/>
          </p:nvSpPr>
          <p:spPr bwMode="auto">
            <a:xfrm>
              <a:off x="3264" y="2832"/>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7" name="Oval 9"/>
            <p:cNvSpPr>
              <a:spLocks noChangeArrowheads="1"/>
            </p:cNvSpPr>
            <p:nvPr/>
          </p:nvSpPr>
          <p:spPr bwMode="auto">
            <a:xfrm>
              <a:off x="3984" y="2832"/>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8" name="Oval 10"/>
            <p:cNvSpPr>
              <a:spLocks noChangeArrowheads="1"/>
            </p:cNvSpPr>
            <p:nvPr/>
          </p:nvSpPr>
          <p:spPr bwMode="auto">
            <a:xfrm>
              <a:off x="1863" y="2832"/>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Line 11"/>
            <p:cNvSpPr>
              <a:spLocks noChangeShapeType="1"/>
            </p:cNvSpPr>
            <p:nvPr/>
          </p:nvSpPr>
          <p:spPr bwMode="auto">
            <a:xfrm>
              <a:off x="1296" y="2880"/>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0" name="Oval 12"/>
            <p:cNvSpPr>
              <a:spLocks noChangeArrowheads="1"/>
            </p:cNvSpPr>
            <p:nvPr/>
          </p:nvSpPr>
          <p:spPr bwMode="auto">
            <a:xfrm>
              <a:off x="1152" y="2832"/>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1" name="Text Box 13"/>
            <p:cNvSpPr txBox="1">
              <a:spLocks noChangeArrowheads="1"/>
            </p:cNvSpPr>
            <p:nvPr/>
          </p:nvSpPr>
          <p:spPr bwMode="auto">
            <a:xfrm>
              <a:off x="2764" y="2688"/>
              <a:ext cx="3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charset="-122"/>
                </a:rPr>
                <a:t>. . .</a:t>
              </a:r>
            </a:p>
          </p:txBody>
        </p:sp>
        <p:sp>
          <p:nvSpPr>
            <p:cNvPr id="7182" name="Text Box 14"/>
            <p:cNvSpPr txBox="1">
              <a:spLocks noChangeArrowheads="1"/>
            </p:cNvSpPr>
            <p:nvPr/>
          </p:nvSpPr>
          <p:spPr bwMode="auto">
            <a:xfrm>
              <a:off x="1088" y="2858"/>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a typeface="宋体" charset="-122"/>
                </a:rPr>
                <a:t>s</a:t>
              </a:r>
              <a:r>
                <a:rPr lang="en-US" altLang="zh-CN" baseline="-25000">
                  <a:ea typeface="宋体" charset="-122"/>
                </a:rPr>
                <a:t>0</a:t>
              </a:r>
              <a:endParaRPr lang="en-US" altLang="zh-CN">
                <a:ea typeface="宋体" charset="-122"/>
              </a:endParaRPr>
            </a:p>
          </p:txBody>
        </p:sp>
        <p:sp>
          <p:nvSpPr>
            <p:cNvPr id="7183" name="Text Box 15"/>
            <p:cNvSpPr txBox="1">
              <a:spLocks noChangeArrowheads="1"/>
            </p:cNvSpPr>
            <p:nvPr/>
          </p:nvSpPr>
          <p:spPr bwMode="auto">
            <a:xfrm>
              <a:off x="1809" y="288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a typeface="宋体" charset="-122"/>
                </a:rPr>
                <a:t>s</a:t>
              </a:r>
              <a:r>
                <a:rPr lang="en-US" altLang="zh-CN" baseline="-25000">
                  <a:ea typeface="宋体" charset="-122"/>
                </a:rPr>
                <a:t>1</a:t>
              </a:r>
              <a:endParaRPr lang="en-US" altLang="zh-CN">
                <a:ea typeface="宋体" charset="-122"/>
              </a:endParaRPr>
            </a:p>
          </p:txBody>
        </p:sp>
        <p:sp>
          <p:nvSpPr>
            <p:cNvPr id="7184" name="Text Box 16"/>
            <p:cNvSpPr txBox="1">
              <a:spLocks noChangeArrowheads="1"/>
            </p:cNvSpPr>
            <p:nvPr/>
          </p:nvSpPr>
          <p:spPr bwMode="auto">
            <a:xfrm>
              <a:off x="2448" y="2880"/>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a typeface="宋体" charset="-122"/>
                </a:rPr>
                <a:t>s</a:t>
              </a:r>
              <a:r>
                <a:rPr lang="en-US" altLang="zh-CN" baseline="-25000">
                  <a:ea typeface="宋体" charset="-122"/>
                </a:rPr>
                <a:t>2</a:t>
              </a:r>
              <a:endParaRPr lang="en-US" altLang="zh-CN">
                <a:ea typeface="宋体" charset="-122"/>
              </a:endParaRPr>
            </a:p>
          </p:txBody>
        </p:sp>
        <p:sp>
          <p:nvSpPr>
            <p:cNvPr id="7185" name="Text Box 17"/>
            <p:cNvSpPr txBox="1">
              <a:spLocks noChangeArrowheads="1"/>
            </p:cNvSpPr>
            <p:nvPr/>
          </p:nvSpPr>
          <p:spPr bwMode="auto">
            <a:xfrm>
              <a:off x="3197" y="2880"/>
              <a:ext cx="3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a typeface="宋体" charset="-122"/>
                </a:rPr>
                <a:t>s</a:t>
              </a:r>
              <a:r>
                <a:rPr lang="en-US" altLang="zh-CN" i="1" baseline="-25000">
                  <a:ea typeface="宋体" charset="-122"/>
                </a:rPr>
                <a:t>k</a:t>
              </a:r>
              <a:r>
                <a:rPr lang="en-US" altLang="zh-CN" baseline="-25000">
                  <a:ea typeface="宋体" charset="-122"/>
                </a:rPr>
                <a:t>-1</a:t>
              </a:r>
              <a:endParaRPr lang="en-US" altLang="zh-CN">
                <a:ea typeface="宋体" charset="-122"/>
              </a:endParaRPr>
            </a:p>
          </p:txBody>
        </p:sp>
        <p:sp>
          <p:nvSpPr>
            <p:cNvPr id="7186" name="Text Box 18"/>
            <p:cNvSpPr txBox="1">
              <a:spLocks noChangeArrowheads="1"/>
            </p:cNvSpPr>
            <p:nvPr/>
          </p:nvSpPr>
          <p:spPr bwMode="auto">
            <a:xfrm>
              <a:off x="3928" y="2880"/>
              <a:ext cx="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a:ea typeface="宋体" charset="-122"/>
                </a:rPr>
                <a:t>s</a:t>
              </a:r>
              <a:r>
                <a:rPr lang="en-US" altLang="zh-CN" i="1" baseline="-25000">
                  <a:ea typeface="宋体" charset="-122"/>
                </a:rPr>
                <a:t>k</a:t>
              </a:r>
              <a:endParaRPr lang="en-US" altLang="zh-CN">
                <a:ea typeface="宋体" charset="-122"/>
              </a:endParaRPr>
            </a:p>
          </p:txBody>
        </p:sp>
        <p:sp>
          <p:nvSpPr>
            <p:cNvPr id="7187" name="Text Box 19"/>
            <p:cNvSpPr txBox="1">
              <a:spLocks noChangeArrowheads="1"/>
            </p:cNvSpPr>
            <p:nvPr/>
          </p:nvSpPr>
          <p:spPr bwMode="auto">
            <a:xfrm>
              <a:off x="1104" y="258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0066"/>
                  </a:solidFill>
                  <a:ea typeface="宋体" charset="-122"/>
                </a:rPr>
                <a:t>p</a:t>
              </a:r>
              <a:endParaRPr lang="en-US" altLang="zh-CN">
                <a:solidFill>
                  <a:srgbClr val="FF0066"/>
                </a:solidFill>
                <a:ea typeface="宋体" charset="-122"/>
              </a:endParaRPr>
            </a:p>
          </p:txBody>
        </p:sp>
        <p:sp>
          <p:nvSpPr>
            <p:cNvPr id="7188" name="Text Box 20"/>
            <p:cNvSpPr txBox="1">
              <a:spLocks noChangeArrowheads="1"/>
            </p:cNvSpPr>
            <p:nvPr/>
          </p:nvSpPr>
          <p:spPr bwMode="auto">
            <a:xfrm>
              <a:off x="1826" y="258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0066"/>
                  </a:solidFill>
                  <a:ea typeface="宋体" charset="-122"/>
                </a:rPr>
                <a:t>p</a:t>
              </a:r>
              <a:endParaRPr lang="en-US" altLang="zh-CN">
                <a:solidFill>
                  <a:srgbClr val="FF0066"/>
                </a:solidFill>
                <a:ea typeface="宋体" charset="-122"/>
              </a:endParaRPr>
            </a:p>
          </p:txBody>
        </p:sp>
        <p:sp>
          <p:nvSpPr>
            <p:cNvPr id="7189" name="Text Box 21"/>
            <p:cNvSpPr txBox="1">
              <a:spLocks noChangeArrowheads="1"/>
            </p:cNvSpPr>
            <p:nvPr/>
          </p:nvSpPr>
          <p:spPr bwMode="auto">
            <a:xfrm>
              <a:off x="2530" y="259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0066"/>
                  </a:solidFill>
                  <a:ea typeface="宋体" charset="-122"/>
                </a:rPr>
                <a:t>p</a:t>
              </a:r>
              <a:endParaRPr lang="en-US" altLang="zh-CN">
                <a:solidFill>
                  <a:srgbClr val="FF0066"/>
                </a:solidFill>
                <a:ea typeface="宋体" charset="-122"/>
              </a:endParaRPr>
            </a:p>
          </p:txBody>
        </p:sp>
        <p:sp>
          <p:nvSpPr>
            <p:cNvPr id="7190" name="Text Box 22"/>
            <p:cNvSpPr txBox="1">
              <a:spLocks noChangeArrowheads="1"/>
            </p:cNvSpPr>
            <p:nvPr/>
          </p:nvSpPr>
          <p:spPr bwMode="auto">
            <a:xfrm>
              <a:off x="3128" y="2582"/>
              <a:ext cx="31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a:solidFill>
                    <a:srgbClr val="FF0066"/>
                  </a:solidFill>
                  <a:sym typeface="Symbol" pitchFamily="18" charset="2"/>
                </a:rPr>
                <a:t></a:t>
              </a:r>
              <a:r>
                <a:rPr lang="en-US" altLang="zh-CN" sz="2000" i="1">
                  <a:solidFill>
                    <a:srgbClr val="FF0066"/>
                  </a:solidFill>
                  <a:ea typeface="宋体" charset="-122"/>
                </a:rPr>
                <a:t>p</a:t>
              </a:r>
              <a:endParaRPr lang="en-US" altLang="zh-CN">
                <a:solidFill>
                  <a:srgbClr val="FF0066"/>
                </a:solidFill>
                <a:ea typeface="宋体" charset="-122"/>
              </a:endParaRPr>
            </a:p>
          </p:txBody>
        </p:sp>
        <p:sp>
          <p:nvSpPr>
            <p:cNvPr id="7191" name="Text Box 23"/>
            <p:cNvSpPr txBox="1">
              <a:spLocks noChangeArrowheads="1"/>
            </p:cNvSpPr>
            <p:nvPr/>
          </p:nvSpPr>
          <p:spPr bwMode="auto">
            <a:xfrm>
              <a:off x="3936" y="2592"/>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i="1">
                  <a:solidFill>
                    <a:srgbClr val="FF0066"/>
                  </a:solidFill>
                  <a:ea typeface="宋体" charset="-122"/>
                </a:rPr>
                <a:t>p</a:t>
              </a:r>
              <a:endParaRPr lang="en-US" altLang="zh-CN">
                <a:solidFill>
                  <a:srgbClr val="FF0066"/>
                </a:solidFill>
                <a:ea typeface="宋体" charset="-122"/>
              </a:endParaRPr>
            </a:p>
          </p:txBody>
        </p:sp>
      </p:grpSp>
      <p:sp>
        <p:nvSpPr>
          <p:cNvPr id="7194" name="Text Box 26"/>
          <p:cNvSpPr txBox="1">
            <a:spLocks noChangeArrowheads="1"/>
          </p:cNvSpPr>
          <p:nvPr/>
        </p:nvSpPr>
        <p:spPr bwMode="auto">
          <a:xfrm>
            <a:off x="107504" y="5181600"/>
            <a:ext cx="894668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dirty="0">
                <a:ea typeface="宋体" charset="-122"/>
              </a:rPr>
              <a:t>If </a:t>
            </a:r>
            <a:r>
              <a:rPr lang="en-US" altLang="zh-CN" sz="2400" dirty="0" err="1">
                <a:ea typeface="宋体" charset="-122"/>
              </a:rPr>
              <a:t>satisfiable</a:t>
            </a:r>
            <a:r>
              <a:rPr lang="en-US" altLang="zh-CN" sz="2400" dirty="0">
                <a:ea typeface="宋体" charset="-122"/>
              </a:rPr>
              <a:t>, satisfying assignment gives counterexample to the </a:t>
            </a:r>
          </a:p>
          <a:p>
            <a:r>
              <a:rPr lang="en-US" altLang="zh-CN" sz="2400" dirty="0">
                <a:ea typeface="宋体" charset="-122"/>
              </a:rPr>
              <a:t>safety property.</a:t>
            </a:r>
          </a:p>
        </p:txBody>
      </p:sp>
      <p:graphicFrame>
        <p:nvGraphicFramePr>
          <p:cNvPr id="2" name="对象 1"/>
          <p:cNvGraphicFramePr>
            <a:graphicFrameLocks noChangeAspect="1"/>
          </p:cNvGraphicFramePr>
          <p:nvPr>
            <p:extLst/>
          </p:nvPr>
        </p:nvGraphicFramePr>
        <p:xfrm>
          <a:off x="1530350" y="2708920"/>
          <a:ext cx="5918200" cy="817562"/>
        </p:xfrm>
        <a:graphic>
          <a:graphicData uri="http://schemas.openxmlformats.org/presentationml/2006/ole">
            <mc:AlternateContent xmlns:mc="http://schemas.openxmlformats.org/markup-compatibility/2006">
              <mc:Choice xmlns:v="urn:schemas-microsoft-com:vml" Requires="v">
                <p:oleObj spid="_x0000_s19458" name="Equation" r:id="rId3" imgW="2666880" imgH="368280" progId="Equation.DSMT4">
                  <p:embed/>
                </p:oleObj>
              </mc:Choice>
              <mc:Fallback>
                <p:oleObj name="Equation" r:id="rId3" imgW="2666880" imgH="3682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0350" y="2708920"/>
                        <a:ext cx="59182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1280863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62000" y="476672"/>
            <a:ext cx="6340475" cy="762000"/>
          </a:xfrm>
        </p:spPr>
        <p:txBody>
          <a:bodyPr/>
          <a:lstStyle/>
          <a:p>
            <a:r>
              <a:rPr lang="en-US" altLang="zh-CN">
                <a:solidFill>
                  <a:schemeClr val="accent2"/>
                </a:solidFill>
                <a:ea typeface="宋体" charset="-122"/>
              </a:rPr>
              <a:t>Example: a two bit counter</a:t>
            </a:r>
            <a:endParaRPr lang="en-US" altLang="zh-CN">
              <a:ea typeface="宋体" charset="-122"/>
            </a:endParaRPr>
          </a:p>
        </p:txBody>
      </p:sp>
      <p:sp>
        <p:nvSpPr>
          <p:cNvPr id="6148" name="Text Box 4"/>
          <p:cNvSpPr txBox="1">
            <a:spLocks noChangeArrowheads="1"/>
          </p:cNvSpPr>
          <p:nvPr/>
        </p:nvSpPr>
        <p:spPr bwMode="auto">
          <a:xfrm>
            <a:off x="3962400" y="3296072"/>
            <a:ext cx="2849563" cy="4667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FF3300"/>
                </a:solidFill>
                <a:ea typeface="宋体" charset="-122"/>
              </a:rPr>
              <a:t>Safety</a:t>
            </a:r>
            <a:r>
              <a:rPr lang="en-US" altLang="zh-CN">
                <a:ea typeface="宋体" charset="-122"/>
              </a:rPr>
              <a:t> property:</a:t>
            </a:r>
            <a:r>
              <a:rPr lang="en-US" altLang="zh-CN" i="1">
                <a:solidFill>
                  <a:srgbClr val="FF0066"/>
                </a:solidFill>
                <a:ea typeface="宋体" charset="-122"/>
              </a:rPr>
              <a:t>   </a:t>
            </a:r>
            <a:r>
              <a:rPr lang="en-US" altLang="zh-CN" b="1">
                <a:ea typeface="宋体" charset="-122"/>
              </a:rPr>
              <a:t>AG</a:t>
            </a:r>
            <a:endParaRPr lang="en-US" altLang="zh-CN">
              <a:solidFill>
                <a:srgbClr val="FF0066"/>
              </a:solidFill>
              <a:ea typeface="宋体" charset="-122"/>
            </a:endParaRPr>
          </a:p>
        </p:txBody>
      </p:sp>
      <p:grpSp>
        <p:nvGrpSpPr>
          <p:cNvPr id="6149" name="Group 5"/>
          <p:cNvGrpSpPr>
            <a:grpSpLocks/>
          </p:cNvGrpSpPr>
          <p:nvPr/>
        </p:nvGrpSpPr>
        <p:grpSpPr bwMode="auto">
          <a:xfrm>
            <a:off x="684213" y="2076872"/>
            <a:ext cx="2146300" cy="1463675"/>
            <a:chOff x="3072" y="1056"/>
            <a:chExt cx="1352" cy="922"/>
          </a:xfrm>
        </p:grpSpPr>
        <p:sp>
          <p:nvSpPr>
            <p:cNvPr id="6150" name="Line 6"/>
            <p:cNvSpPr>
              <a:spLocks noChangeShapeType="1"/>
            </p:cNvSpPr>
            <p:nvPr/>
          </p:nvSpPr>
          <p:spPr bwMode="auto">
            <a:xfrm>
              <a:off x="3476" y="1296"/>
              <a:ext cx="528" cy="0"/>
            </a:xfrm>
            <a:prstGeom prst="line">
              <a:avLst/>
            </a:prstGeom>
            <a:noFill/>
            <a:ln w="952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1" name="Oval 7"/>
            <p:cNvSpPr>
              <a:spLocks noChangeArrowheads="1"/>
            </p:cNvSpPr>
            <p:nvPr/>
          </p:nvSpPr>
          <p:spPr bwMode="auto">
            <a:xfrm>
              <a:off x="4052" y="124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2" name="Line 8"/>
            <p:cNvSpPr>
              <a:spLocks noChangeShapeType="1"/>
            </p:cNvSpPr>
            <p:nvPr/>
          </p:nvSpPr>
          <p:spPr bwMode="auto">
            <a:xfrm>
              <a:off x="3476" y="1823"/>
              <a:ext cx="528" cy="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3" name="Line 9"/>
            <p:cNvSpPr>
              <a:spLocks noChangeShapeType="1"/>
            </p:cNvSpPr>
            <p:nvPr/>
          </p:nvSpPr>
          <p:spPr bwMode="auto">
            <a:xfrm>
              <a:off x="4100" y="1391"/>
              <a:ext cx="0" cy="336"/>
            </a:xfrm>
            <a:prstGeom prst="line">
              <a:avLst/>
            </a:prstGeom>
            <a:noFill/>
            <a:ln w="952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 name="Oval 10"/>
            <p:cNvSpPr>
              <a:spLocks noChangeArrowheads="1"/>
            </p:cNvSpPr>
            <p:nvPr/>
          </p:nvSpPr>
          <p:spPr bwMode="auto">
            <a:xfrm>
              <a:off x="4052" y="1775"/>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5" name="Oval 11"/>
            <p:cNvSpPr>
              <a:spLocks noChangeArrowheads="1"/>
            </p:cNvSpPr>
            <p:nvPr/>
          </p:nvSpPr>
          <p:spPr bwMode="auto">
            <a:xfrm>
              <a:off x="3332" y="1775"/>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 name="Oval 12"/>
            <p:cNvSpPr>
              <a:spLocks noChangeArrowheads="1"/>
            </p:cNvSpPr>
            <p:nvPr/>
          </p:nvSpPr>
          <p:spPr bwMode="auto">
            <a:xfrm>
              <a:off x="3332" y="1248"/>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7" name="Line 13"/>
            <p:cNvSpPr>
              <a:spLocks noChangeShapeType="1"/>
            </p:cNvSpPr>
            <p:nvPr/>
          </p:nvSpPr>
          <p:spPr bwMode="auto">
            <a:xfrm>
              <a:off x="3380" y="1391"/>
              <a:ext cx="0" cy="336"/>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8" name="Text Box 14"/>
            <p:cNvSpPr txBox="1">
              <a:spLocks noChangeArrowheads="1"/>
            </p:cNvSpPr>
            <p:nvPr/>
          </p:nvSpPr>
          <p:spPr bwMode="auto">
            <a:xfrm>
              <a:off x="3072" y="1113"/>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宋体" charset="-122"/>
                </a:rPr>
                <a:t>00</a:t>
              </a:r>
              <a:endParaRPr lang="en-US" altLang="zh-CN">
                <a:ea typeface="宋体" charset="-122"/>
              </a:endParaRPr>
            </a:p>
          </p:txBody>
        </p:sp>
        <p:sp>
          <p:nvSpPr>
            <p:cNvPr id="6159" name="Text Box 15"/>
            <p:cNvSpPr txBox="1">
              <a:spLocks noChangeArrowheads="1"/>
            </p:cNvSpPr>
            <p:nvPr/>
          </p:nvSpPr>
          <p:spPr bwMode="auto">
            <a:xfrm>
              <a:off x="3080" y="1728"/>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宋体" charset="-122"/>
                </a:rPr>
                <a:t>01</a:t>
              </a:r>
              <a:endParaRPr lang="en-US" altLang="zh-CN">
                <a:ea typeface="宋体" charset="-122"/>
              </a:endParaRPr>
            </a:p>
          </p:txBody>
        </p:sp>
        <p:sp>
          <p:nvSpPr>
            <p:cNvPr id="6160" name="Text Box 16"/>
            <p:cNvSpPr txBox="1">
              <a:spLocks noChangeArrowheads="1"/>
            </p:cNvSpPr>
            <p:nvPr/>
          </p:nvSpPr>
          <p:spPr bwMode="auto">
            <a:xfrm>
              <a:off x="4148" y="1718"/>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宋体" charset="-122"/>
                </a:rPr>
                <a:t>10</a:t>
              </a:r>
              <a:endParaRPr lang="en-US" altLang="zh-CN">
                <a:ea typeface="宋体" charset="-122"/>
              </a:endParaRPr>
            </a:p>
          </p:txBody>
        </p:sp>
        <p:sp>
          <p:nvSpPr>
            <p:cNvPr id="6161" name="Text Box 17"/>
            <p:cNvSpPr txBox="1">
              <a:spLocks noChangeArrowheads="1"/>
            </p:cNvSpPr>
            <p:nvPr/>
          </p:nvSpPr>
          <p:spPr bwMode="auto">
            <a:xfrm>
              <a:off x="4124" y="1104"/>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a:ea typeface="宋体" charset="-122"/>
                </a:rPr>
                <a:t>11</a:t>
              </a:r>
              <a:endParaRPr lang="en-US" altLang="zh-CN">
                <a:ea typeface="宋体" charset="-122"/>
              </a:endParaRPr>
            </a:p>
          </p:txBody>
        </p:sp>
        <p:sp>
          <p:nvSpPr>
            <p:cNvPr id="6162" name="Line 18"/>
            <p:cNvSpPr>
              <a:spLocks noChangeShapeType="1"/>
            </p:cNvSpPr>
            <p:nvPr/>
          </p:nvSpPr>
          <p:spPr bwMode="auto">
            <a:xfrm>
              <a:off x="3380" y="1056"/>
              <a:ext cx="0" cy="16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64" name="Text Box 20"/>
          <p:cNvSpPr txBox="1">
            <a:spLocks noChangeArrowheads="1"/>
          </p:cNvSpPr>
          <p:nvPr/>
        </p:nvSpPr>
        <p:spPr bwMode="auto">
          <a:xfrm>
            <a:off x="1116013" y="5963072"/>
            <a:ext cx="5073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solidFill>
                  <a:srgbClr val="FF0066"/>
                </a:solidFill>
                <a:latin typeface="Symbol" pitchFamily="18" charset="2"/>
                <a:ea typeface="宋体" charset="-122"/>
                <a:sym typeface="Symbol" pitchFamily="18" charset="2"/>
              </a:rPr>
              <a:t>W</a:t>
            </a:r>
            <a:r>
              <a:rPr lang="en-US" altLang="zh-CN">
                <a:solidFill>
                  <a:srgbClr val="FF0066"/>
                </a:solidFill>
                <a:ea typeface="宋体" charset="-122"/>
                <a:sym typeface="Symbol" pitchFamily="18" charset="2"/>
              </a:rPr>
              <a:t>(2)</a:t>
            </a:r>
            <a:r>
              <a:rPr lang="en-US" altLang="zh-CN">
                <a:ea typeface="宋体" charset="-122"/>
                <a:sym typeface="Symbol" pitchFamily="18" charset="2"/>
              </a:rPr>
              <a:t> is unsatisfiable. </a:t>
            </a:r>
            <a:r>
              <a:rPr lang="en-US" altLang="zh-CN">
                <a:solidFill>
                  <a:srgbClr val="FF0066"/>
                </a:solidFill>
                <a:latin typeface="Symbol" pitchFamily="18" charset="2"/>
                <a:ea typeface="宋体" charset="-122"/>
                <a:sym typeface="Symbol" pitchFamily="18" charset="2"/>
              </a:rPr>
              <a:t>W</a:t>
            </a:r>
            <a:r>
              <a:rPr lang="en-US" altLang="zh-CN">
                <a:solidFill>
                  <a:srgbClr val="FF0066"/>
                </a:solidFill>
                <a:ea typeface="宋体" charset="-122"/>
                <a:sym typeface="Symbol" pitchFamily="18" charset="2"/>
              </a:rPr>
              <a:t>(3)</a:t>
            </a:r>
            <a:r>
              <a:rPr lang="en-US" altLang="zh-CN">
                <a:ea typeface="宋体" charset="-122"/>
                <a:sym typeface="Symbol" pitchFamily="18" charset="2"/>
              </a:rPr>
              <a:t> is satisfiable.</a:t>
            </a:r>
          </a:p>
        </p:txBody>
      </p:sp>
      <p:sp>
        <p:nvSpPr>
          <p:cNvPr id="6166" name="Text Box 22"/>
          <p:cNvSpPr txBox="1">
            <a:spLocks noChangeArrowheads="1"/>
          </p:cNvSpPr>
          <p:nvPr/>
        </p:nvSpPr>
        <p:spPr bwMode="auto">
          <a:xfrm>
            <a:off x="4267200" y="1772072"/>
            <a:ext cx="162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charset="-122"/>
              </a:rPr>
              <a:t>Initial state:</a:t>
            </a:r>
          </a:p>
        </p:txBody>
      </p:sp>
      <p:sp>
        <p:nvSpPr>
          <p:cNvPr id="6167" name="Text Box 23"/>
          <p:cNvSpPr txBox="1">
            <a:spLocks noChangeArrowheads="1"/>
          </p:cNvSpPr>
          <p:nvPr/>
        </p:nvSpPr>
        <p:spPr bwMode="auto">
          <a:xfrm>
            <a:off x="4248150" y="2499147"/>
            <a:ext cx="1519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ea typeface="宋体" charset="-122"/>
              </a:rPr>
              <a:t>Transition:</a:t>
            </a:r>
          </a:p>
        </p:txBody>
      </p:sp>
      <p:sp>
        <p:nvSpPr>
          <p:cNvPr id="6168" name="Text Box 24"/>
          <p:cNvSpPr txBox="1">
            <a:spLocks noChangeArrowheads="1"/>
          </p:cNvSpPr>
          <p:nvPr/>
        </p:nvSpPr>
        <p:spPr bwMode="auto">
          <a:xfrm>
            <a:off x="1127125" y="3642147"/>
            <a:ext cx="184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endParaRPr lang="zh-CN" altLang="zh-CN">
              <a:cs typeface="Times New Roman" pitchFamily="18" charset="0"/>
              <a:sym typeface="Symbol" pitchFamily="18" charset="2"/>
            </a:endParaRPr>
          </a:p>
        </p:txBody>
      </p:sp>
      <p:graphicFrame>
        <p:nvGraphicFramePr>
          <p:cNvPr id="6169" name="Object 25"/>
          <p:cNvGraphicFramePr>
            <a:graphicFrameLocks noChangeAspect="1"/>
          </p:cNvGraphicFramePr>
          <p:nvPr>
            <p:extLst/>
          </p:nvPr>
        </p:nvGraphicFramePr>
        <p:xfrm>
          <a:off x="685800" y="4058072"/>
          <a:ext cx="7732713" cy="1423988"/>
        </p:xfrm>
        <a:graphic>
          <a:graphicData uri="http://schemas.openxmlformats.org/presentationml/2006/ole">
            <mc:AlternateContent xmlns:mc="http://schemas.openxmlformats.org/markup-compatibility/2006">
              <mc:Choice xmlns:v="urn:schemas-microsoft-com:vml" Requires="v">
                <p:oleObj spid="_x0000_s20486" name="Equation" r:id="rId3" imgW="3860640" imgH="711000" progId="Equation.3">
                  <p:embed/>
                </p:oleObj>
              </mc:Choice>
              <mc:Fallback>
                <p:oleObj name="Equation" r:id="rId3" imgW="3860640" imgH="711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058072"/>
                        <a:ext cx="7732713" cy="1423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0" name="Object 26"/>
          <p:cNvGraphicFramePr>
            <a:graphicFrameLocks noChangeAspect="1"/>
          </p:cNvGraphicFramePr>
          <p:nvPr>
            <p:extLst/>
          </p:nvPr>
        </p:nvGraphicFramePr>
        <p:xfrm>
          <a:off x="5943600" y="2610272"/>
          <a:ext cx="303213" cy="279400"/>
        </p:xfrm>
        <a:graphic>
          <a:graphicData uri="http://schemas.openxmlformats.org/presentationml/2006/ole">
            <mc:AlternateContent xmlns:mc="http://schemas.openxmlformats.org/markup-compatibility/2006">
              <mc:Choice xmlns:v="urn:schemas-microsoft-com:vml" Requires="v">
                <p:oleObj spid="_x0000_s20487" name="Equation" r:id="rId5" imgW="304560" imgH="279360" progId="Equation.3">
                  <p:embed/>
                </p:oleObj>
              </mc:Choice>
              <mc:Fallback>
                <p:oleObj name="Equation" r:id="rId5" imgW="304560" imgH="2793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2610272"/>
                        <a:ext cx="303213" cy="2794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1" name="Object 27"/>
          <p:cNvGraphicFramePr>
            <a:graphicFrameLocks noChangeAspect="1"/>
          </p:cNvGraphicFramePr>
          <p:nvPr>
            <p:extLst/>
          </p:nvPr>
        </p:nvGraphicFramePr>
        <p:xfrm>
          <a:off x="5975350" y="1848272"/>
          <a:ext cx="1397000" cy="279400"/>
        </p:xfrm>
        <a:graphic>
          <a:graphicData uri="http://schemas.openxmlformats.org/presentationml/2006/ole">
            <mc:AlternateContent xmlns:mc="http://schemas.openxmlformats.org/markup-compatibility/2006">
              <mc:Choice xmlns:v="urn:schemas-microsoft-com:vml" Requires="v">
                <p:oleObj spid="_x0000_s20488" name="Equation" r:id="rId7" imgW="1396800" imgH="279360" progId="Equation.3">
                  <p:embed/>
                </p:oleObj>
              </mc:Choice>
              <mc:Fallback>
                <p:oleObj name="Equation" r:id="rId7" imgW="1396800" imgH="27936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75350" y="1848272"/>
                        <a:ext cx="13970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2" name="Object 28"/>
          <p:cNvGraphicFramePr>
            <a:graphicFrameLocks noChangeAspect="1"/>
          </p:cNvGraphicFramePr>
          <p:nvPr>
            <p:extLst/>
          </p:nvPr>
        </p:nvGraphicFramePr>
        <p:xfrm>
          <a:off x="6242050" y="2292772"/>
          <a:ext cx="1841500" cy="889000"/>
        </p:xfrm>
        <a:graphic>
          <a:graphicData uri="http://schemas.openxmlformats.org/presentationml/2006/ole">
            <mc:AlternateContent xmlns:mc="http://schemas.openxmlformats.org/markup-compatibility/2006">
              <mc:Choice xmlns:v="urn:schemas-microsoft-com:vml" Requires="v">
                <p:oleObj spid="_x0000_s20489" name="Equation" r:id="rId9" imgW="1841400" imgH="888840" progId="Equation.3">
                  <p:embed/>
                </p:oleObj>
              </mc:Choice>
              <mc:Fallback>
                <p:oleObj name="Equation" r:id="rId9" imgW="1841400" imgH="8888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2050" y="2292772"/>
                        <a:ext cx="18415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73" name="Object 29"/>
          <p:cNvGraphicFramePr>
            <a:graphicFrameLocks noChangeAspect="1"/>
          </p:cNvGraphicFramePr>
          <p:nvPr>
            <p:extLst/>
          </p:nvPr>
        </p:nvGraphicFramePr>
        <p:xfrm>
          <a:off x="6788150" y="3372272"/>
          <a:ext cx="1257300" cy="341313"/>
        </p:xfrm>
        <a:graphic>
          <a:graphicData uri="http://schemas.openxmlformats.org/presentationml/2006/ole">
            <mc:AlternateContent xmlns:mc="http://schemas.openxmlformats.org/markup-compatibility/2006">
              <mc:Choice xmlns:v="urn:schemas-microsoft-com:vml" Requires="v">
                <p:oleObj spid="_x0000_s20490" name="Equation" r:id="rId11" imgW="1257120" imgH="342720" progId="Equation.3">
                  <p:embed/>
                </p:oleObj>
              </mc:Choice>
              <mc:Fallback>
                <p:oleObj name="Equation" r:id="rId11" imgW="1257120" imgH="34272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88150" y="3372272"/>
                        <a:ext cx="12573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445160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6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4"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SMT based BMC</a:t>
            </a:r>
            <a:endParaRPr lang="zh-CN" altLang="en-US" dirty="0"/>
          </a:p>
        </p:txBody>
      </p:sp>
      <p:sp>
        <p:nvSpPr>
          <p:cNvPr id="3" name="内容占位符 2"/>
          <p:cNvSpPr>
            <a:spLocks noGrp="1"/>
          </p:cNvSpPr>
          <p:nvPr>
            <p:ph idx="1"/>
          </p:nvPr>
        </p:nvSpPr>
        <p:spPr/>
        <p:txBody>
          <a:bodyPr>
            <a:normAutofit/>
          </a:bodyPr>
          <a:lstStyle/>
          <a:p>
            <a:r>
              <a:rPr lang="en-US" altLang="zh-CN" dirty="0" smtClean="0"/>
              <a:t>SAT </a:t>
            </a:r>
          </a:p>
          <a:p>
            <a:pPr lvl="1"/>
            <a:r>
              <a:rPr lang="zh-CN" altLang="en-US" dirty="0" smtClean="0"/>
              <a:t>纯布尔命题逻辑</a:t>
            </a:r>
            <a:endParaRPr lang="en-US" altLang="zh-CN" dirty="0" smtClean="0"/>
          </a:p>
          <a:p>
            <a:pPr lvl="1"/>
            <a:r>
              <a:rPr lang="zh-CN" altLang="en-US" dirty="0" smtClean="0"/>
              <a:t>无法处理更复杂问题</a:t>
            </a:r>
            <a:r>
              <a:rPr lang="en-US" altLang="zh-CN" dirty="0" smtClean="0"/>
              <a:t>…</a:t>
            </a:r>
          </a:p>
          <a:p>
            <a:pPr lvl="1">
              <a:buNone/>
            </a:pPr>
            <a:endParaRPr lang="en-US" altLang="zh-CN" dirty="0" smtClean="0"/>
          </a:p>
          <a:p>
            <a:r>
              <a:rPr lang="en-US" altLang="zh-CN" dirty="0" smtClean="0"/>
              <a:t>SMT</a:t>
            </a:r>
          </a:p>
          <a:p>
            <a:pPr lvl="1"/>
            <a:r>
              <a:rPr lang="zh-CN" altLang="en-US" dirty="0" smtClean="0"/>
              <a:t>无量词一阶逻辑</a:t>
            </a:r>
            <a:r>
              <a:rPr lang="en-US" altLang="zh-CN" dirty="0" smtClean="0"/>
              <a:t> </a:t>
            </a:r>
          </a:p>
          <a:p>
            <a:pPr lvl="1"/>
            <a:r>
              <a:rPr lang="zh-CN" altLang="en-US" dirty="0" smtClean="0"/>
              <a:t>除了布尔命题，还可处理复杂约束如</a:t>
            </a:r>
            <a:r>
              <a:rPr lang="en-US" i="1" dirty="0" smtClean="0"/>
              <a:t>3x+2y-z&gt;4</a:t>
            </a:r>
            <a:r>
              <a:rPr lang="zh-CN" altLang="en-US" i="1" dirty="0" smtClean="0"/>
              <a:t>，</a:t>
            </a:r>
            <a:r>
              <a:rPr lang="en-US" altLang="zh-CN" i="1" dirty="0" smtClean="0"/>
              <a:t> sin(x)/y&gt;</a:t>
            </a:r>
            <a:r>
              <a:rPr lang="en-US" altLang="zh-CN" i="1" dirty="0" err="1" smtClean="0"/>
              <a:t>m+n</a:t>
            </a:r>
            <a:r>
              <a:rPr lang="zh-CN" altLang="en-US" i="1" dirty="0" smtClean="0"/>
              <a:t>等</a:t>
            </a:r>
            <a:endParaRPr lang="en-US" i="1" dirty="0" smtClean="0"/>
          </a:p>
        </p:txBody>
      </p:sp>
    </p:spTree>
    <p:extLst>
      <p:ext uri="{BB962C8B-B14F-4D97-AF65-F5344CB8AC3E}">
        <p14:creationId xmlns:p14="http://schemas.microsoft.com/office/powerpoint/2010/main" val="78500634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复杂系统模型检验</a:t>
            </a:r>
            <a:endParaRPr lang="en-US" dirty="0"/>
          </a:p>
        </p:txBody>
      </p:sp>
      <p:sp>
        <p:nvSpPr>
          <p:cNvPr id="3" name="Content Placeholder 2"/>
          <p:cNvSpPr>
            <a:spLocks noGrp="1"/>
          </p:cNvSpPr>
          <p:nvPr>
            <p:ph idx="1"/>
          </p:nvPr>
        </p:nvSpPr>
        <p:spPr/>
        <p:txBody>
          <a:bodyPr>
            <a:normAutofit fontScale="92500" lnSpcReduction="10000"/>
          </a:bodyPr>
          <a:lstStyle/>
          <a:p>
            <a:r>
              <a:rPr lang="zh-CN" altLang="en-US" b="1" dirty="0" smtClean="0"/>
              <a:t>实时嵌入式系统</a:t>
            </a:r>
            <a:endParaRPr lang="en-US" altLang="zh-CN" b="1" dirty="0" smtClean="0"/>
          </a:p>
          <a:p>
            <a:pPr marL="0" indent="0">
              <a:buNone/>
            </a:pPr>
            <a:endParaRPr lang="en-US" b="1" dirty="0"/>
          </a:p>
          <a:p>
            <a:endParaRPr lang="en-US" b="1" dirty="0" smtClean="0"/>
          </a:p>
          <a:p>
            <a:r>
              <a:rPr lang="zh-CN" altLang="en-US" b="1" dirty="0" smtClean="0"/>
              <a:t>信息物理融合系统</a:t>
            </a:r>
            <a:endParaRPr lang="en-US" altLang="zh-CN" b="1" dirty="0" smtClean="0"/>
          </a:p>
          <a:p>
            <a:endParaRPr lang="en-US" dirty="0"/>
          </a:p>
          <a:p>
            <a:endParaRPr lang="en-US" altLang="zh-CN" dirty="0" smtClean="0"/>
          </a:p>
          <a:p>
            <a:r>
              <a:rPr lang="zh-CN" altLang="en-US" dirty="0" smtClean="0"/>
              <a:t>物联网</a:t>
            </a:r>
            <a:endParaRPr lang="en-US" altLang="zh-CN" dirty="0" smtClean="0"/>
          </a:p>
          <a:p>
            <a:endParaRPr lang="en-US" dirty="0"/>
          </a:p>
          <a:p>
            <a:endParaRPr lang="en-US" dirty="0" smtClean="0"/>
          </a:p>
          <a:p>
            <a:r>
              <a:rPr lang="zh-CN" altLang="en-US" dirty="0"/>
              <a:t>软件代码</a:t>
            </a:r>
            <a:endParaRPr lang="en-US" altLang="zh-CN" dirty="0"/>
          </a:p>
          <a:p>
            <a:pPr marL="0" indent="0">
              <a:buNone/>
            </a:pPr>
            <a:endParaRPr lang="en-US" dirty="0" smtClean="0"/>
          </a:p>
        </p:txBody>
      </p:sp>
    </p:spTree>
    <p:extLst>
      <p:ext uri="{BB962C8B-B14F-4D97-AF65-F5344CB8AC3E}">
        <p14:creationId xmlns:p14="http://schemas.microsoft.com/office/powerpoint/2010/main" val="347321166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a:t>实时嵌入式系统</a:t>
            </a:r>
            <a:endParaRPr lang="zh-CN" altLang="en-US" dirty="0" smtClean="0"/>
          </a:p>
        </p:txBody>
      </p:sp>
      <p:sp>
        <p:nvSpPr>
          <p:cNvPr id="10243" name="内容占位符 2"/>
          <p:cNvSpPr>
            <a:spLocks noGrp="1"/>
          </p:cNvSpPr>
          <p:nvPr>
            <p:ph idx="1"/>
          </p:nvPr>
        </p:nvSpPr>
        <p:spPr>
          <a:xfrm>
            <a:off x="254000" y="1285860"/>
            <a:ext cx="8461375" cy="4392613"/>
          </a:xfrm>
        </p:spPr>
        <p:txBody>
          <a:bodyPr/>
          <a:lstStyle/>
          <a:p>
            <a:r>
              <a:rPr lang="zh-CN" altLang="en-US" dirty="0" smtClean="0"/>
              <a:t>嵌入式系统</a:t>
            </a:r>
            <a:endParaRPr lang="en-US" altLang="zh-CN" dirty="0" smtClean="0"/>
          </a:p>
          <a:p>
            <a:pPr lvl="1"/>
            <a:r>
              <a:rPr lang="zh-CN" altLang="en-US" dirty="0" smtClean="0"/>
              <a:t>特定应用、嵌入到对象系统中</a:t>
            </a:r>
            <a:endParaRPr lang="en-US" altLang="zh-CN" dirty="0" smtClean="0"/>
          </a:p>
          <a:p>
            <a:r>
              <a:rPr lang="zh-CN" altLang="en-US" dirty="0" smtClean="0"/>
              <a:t>反应式系统</a:t>
            </a:r>
            <a:endParaRPr lang="en-US" altLang="zh-CN" dirty="0" smtClean="0"/>
          </a:p>
          <a:p>
            <a:pPr lvl="1"/>
            <a:r>
              <a:rPr lang="zh-CN" altLang="en-US" dirty="0" smtClean="0"/>
              <a:t>接受外界输入、作出反应、持续交互</a:t>
            </a:r>
            <a:endParaRPr lang="en-US" altLang="zh-CN" dirty="0" smtClean="0"/>
          </a:p>
          <a:p>
            <a:r>
              <a:rPr lang="zh-CN" altLang="en-US" dirty="0" smtClean="0"/>
              <a:t>实时系统</a:t>
            </a:r>
            <a:endParaRPr lang="en-US" altLang="zh-CN" dirty="0" smtClean="0"/>
          </a:p>
          <a:p>
            <a:pPr lvl="1"/>
            <a:r>
              <a:rPr lang="zh-CN" altLang="en-US" dirty="0" smtClean="0"/>
              <a:t>严格的时间约束、在给定时间间隔内给出响应</a:t>
            </a:r>
            <a:endParaRPr lang="en-US" altLang="zh-CN" dirty="0" smtClean="0"/>
          </a:p>
          <a:p>
            <a:r>
              <a:rPr lang="zh-CN" altLang="en-US" dirty="0" smtClean="0"/>
              <a:t>混成系统</a:t>
            </a:r>
            <a:endParaRPr lang="en-US" altLang="zh-CN" dirty="0" smtClean="0"/>
          </a:p>
          <a:p>
            <a:pPr lvl="1"/>
            <a:r>
              <a:rPr lang="zh-CN" altLang="en-US" dirty="0" smtClean="0"/>
              <a:t>离散化逻辑控制、连续性时间行为</a:t>
            </a:r>
            <a:endParaRPr lang="en-US" altLang="zh-CN" dirty="0" smtClean="0"/>
          </a:p>
        </p:txBody>
      </p:sp>
      <p:pic>
        <p:nvPicPr>
          <p:cNvPr id="14341" name="Picture 5" descr="C:\Users\Ray\Desktop\卡通手机-3.jpg"/>
          <p:cNvPicPr>
            <a:picLocks noChangeAspect="1" noChangeArrowheads="1"/>
          </p:cNvPicPr>
          <p:nvPr/>
        </p:nvPicPr>
        <p:blipFill>
          <a:blip r:embed="rId2" cstate="print"/>
          <a:srcRect/>
          <a:stretch>
            <a:fillRect/>
          </a:stretch>
        </p:blipFill>
        <p:spPr bwMode="auto">
          <a:xfrm>
            <a:off x="7786710" y="1214422"/>
            <a:ext cx="785818" cy="772197"/>
          </a:xfrm>
          <a:prstGeom prst="rect">
            <a:avLst/>
          </a:prstGeom>
          <a:noFill/>
        </p:spPr>
      </p:pic>
      <p:pic>
        <p:nvPicPr>
          <p:cNvPr id="11" name="Picture 2"/>
          <p:cNvPicPr>
            <a:picLocks noChangeAspect="1" noChangeArrowheads="1"/>
          </p:cNvPicPr>
          <p:nvPr/>
        </p:nvPicPr>
        <p:blipFill>
          <a:blip r:embed="rId3" cstate="print"/>
          <a:srcRect/>
          <a:stretch>
            <a:fillRect/>
          </a:stretch>
        </p:blipFill>
        <p:spPr bwMode="auto">
          <a:xfrm>
            <a:off x="7929586" y="4714884"/>
            <a:ext cx="785818" cy="1232921"/>
          </a:xfrm>
          <a:prstGeom prst="rect">
            <a:avLst/>
          </a:prstGeom>
          <a:noFill/>
          <a:ln w="9525">
            <a:noFill/>
            <a:miter lim="800000"/>
            <a:headEnd/>
            <a:tailEnd/>
          </a:ln>
          <a:effectLst/>
        </p:spPr>
      </p:pic>
      <p:pic>
        <p:nvPicPr>
          <p:cNvPr id="12" name="Picture 4" descr="C:\Users\Ray\Desktop\282358028_1.jpg"/>
          <p:cNvPicPr>
            <a:picLocks noChangeAspect="1" noChangeArrowheads="1"/>
          </p:cNvPicPr>
          <p:nvPr/>
        </p:nvPicPr>
        <p:blipFill>
          <a:blip r:embed="rId4" cstate="print"/>
          <a:srcRect/>
          <a:stretch>
            <a:fillRect/>
          </a:stretch>
        </p:blipFill>
        <p:spPr bwMode="auto">
          <a:xfrm>
            <a:off x="7699096" y="2428868"/>
            <a:ext cx="1060319" cy="842953"/>
          </a:xfrm>
          <a:prstGeom prst="rect">
            <a:avLst/>
          </a:prstGeom>
          <a:noFill/>
        </p:spPr>
      </p:pic>
      <p:pic>
        <p:nvPicPr>
          <p:cNvPr id="13" name="Picture 3"/>
          <p:cNvPicPr>
            <a:picLocks noChangeAspect="1" noChangeArrowheads="1"/>
          </p:cNvPicPr>
          <p:nvPr/>
        </p:nvPicPr>
        <p:blipFill>
          <a:blip r:embed="rId5" cstate="print"/>
          <a:srcRect/>
          <a:stretch>
            <a:fillRect/>
          </a:stretch>
        </p:blipFill>
        <p:spPr bwMode="auto">
          <a:xfrm>
            <a:off x="7715272" y="3643773"/>
            <a:ext cx="1176325" cy="590054"/>
          </a:xfrm>
          <a:prstGeom prst="rect">
            <a:avLst/>
          </a:prstGeom>
          <a:noFill/>
          <a:ln w="9525">
            <a:noFill/>
            <a:miter lim="800000"/>
            <a:headEnd/>
            <a:tailEnd/>
          </a:ln>
          <a:effectLst/>
        </p:spPr>
      </p:pic>
    </p:spTree>
    <p:extLst>
      <p:ext uri="{BB962C8B-B14F-4D97-AF65-F5344CB8AC3E}">
        <p14:creationId xmlns:p14="http://schemas.microsoft.com/office/powerpoint/2010/main" val="143019922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水箱</a:t>
            </a:r>
            <a:r>
              <a:rPr lang="zh-CN" altLang="en-US" dirty="0" smtClean="0"/>
              <a:t>监控系统</a:t>
            </a:r>
            <a:endParaRPr lang="zh-CN" altLang="en-US" dirty="0"/>
          </a:p>
        </p:txBody>
      </p:sp>
      <p:sp>
        <p:nvSpPr>
          <p:cNvPr id="3" name="内容占位符 2"/>
          <p:cNvSpPr>
            <a:spLocks noGrp="1"/>
          </p:cNvSpPr>
          <p:nvPr>
            <p:ph idx="1"/>
          </p:nvPr>
        </p:nvSpPr>
        <p:spPr>
          <a:xfrm>
            <a:off x="4411465" y="1484313"/>
            <a:ext cx="4199135" cy="4392612"/>
          </a:xfrm>
        </p:spPr>
        <p:txBody>
          <a:bodyPr>
            <a:normAutofit fontScale="85000" lnSpcReduction="20000"/>
          </a:bodyPr>
          <a:lstStyle/>
          <a:p>
            <a:r>
              <a:rPr lang="zh-CN" altLang="en-US" dirty="0" smtClean="0"/>
              <a:t>初始状态</a:t>
            </a:r>
            <a:r>
              <a:rPr lang="zh-CN" altLang="en-US" dirty="0"/>
              <a:t>时，水箱中水面的高度为</a:t>
            </a:r>
            <a:r>
              <a:rPr lang="en-US" altLang="zh-CN" dirty="0"/>
              <a:t>1</a:t>
            </a:r>
            <a:r>
              <a:rPr lang="zh-CN" altLang="en-US" dirty="0"/>
              <a:t>英寸；</a:t>
            </a:r>
          </a:p>
          <a:p>
            <a:r>
              <a:rPr lang="zh-CN" altLang="en-US" dirty="0" smtClean="0"/>
              <a:t>水泵</a:t>
            </a:r>
            <a:r>
              <a:rPr lang="zh-CN" altLang="en-US" dirty="0"/>
              <a:t>打开时，水箱中水面以每秒</a:t>
            </a:r>
            <a:r>
              <a:rPr lang="en-US" altLang="zh-CN" dirty="0"/>
              <a:t>1</a:t>
            </a:r>
            <a:r>
              <a:rPr lang="zh-CN" altLang="en-US" dirty="0"/>
              <a:t>英寸的速度上升；</a:t>
            </a:r>
          </a:p>
          <a:p>
            <a:r>
              <a:rPr lang="zh-CN" altLang="en-US" dirty="0" smtClean="0"/>
              <a:t>水泵</a:t>
            </a:r>
            <a:r>
              <a:rPr lang="zh-CN" altLang="en-US" dirty="0"/>
              <a:t>关闭时，水箱中水面以每秒</a:t>
            </a:r>
            <a:r>
              <a:rPr lang="en-US" altLang="zh-CN" dirty="0"/>
              <a:t>2</a:t>
            </a:r>
            <a:r>
              <a:rPr lang="zh-CN" altLang="en-US" dirty="0"/>
              <a:t>英寸的速度下降</a:t>
            </a:r>
            <a:r>
              <a:rPr lang="zh-CN" altLang="en-US" dirty="0" smtClean="0"/>
              <a:t>；</a:t>
            </a:r>
            <a:endParaRPr lang="en-US" altLang="zh-CN" dirty="0" smtClean="0"/>
          </a:p>
          <a:p>
            <a:r>
              <a:rPr lang="zh-CN" altLang="en-US" dirty="0" smtClean="0"/>
              <a:t>水位达到</a:t>
            </a:r>
            <a:r>
              <a:rPr lang="en-US" altLang="zh-CN" dirty="0" smtClean="0"/>
              <a:t>10</a:t>
            </a:r>
            <a:r>
              <a:rPr lang="zh-CN" altLang="en-US" dirty="0" smtClean="0"/>
              <a:t>英寸时，监控器发出关闭水泵信号，</a:t>
            </a:r>
            <a:r>
              <a:rPr lang="en-US" altLang="zh-CN" dirty="0" smtClean="0"/>
              <a:t>5</a:t>
            </a:r>
            <a:r>
              <a:rPr lang="zh-CN" altLang="en-US" dirty="0" smtClean="0"/>
              <a:t>英寸时发出打开信号</a:t>
            </a:r>
            <a:endParaRPr lang="zh-CN" altLang="en-US" dirty="0"/>
          </a:p>
          <a:p>
            <a:r>
              <a:rPr lang="zh-CN" altLang="en-US" dirty="0" smtClean="0"/>
              <a:t>监控器</a:t>
            </a:r>
            <a:r>
              <a:rPr lang="zh-CN" altLang="en-US" dirty="0"/>
              <a:t>发出信号打开（关闭）水泵到实际</a:t>
            </a:r>
            <a:r>
              <a:rPr lang="zh-CN" altLang="en-US" dirty="0" smtClean="0"/>
              <a:t>打开（</a:t>
            </a:r>
            <a:r>
              <a:rPr lang="zh-CN" altLang="en-US" dirty="0"/>
              <a:t>关闭）水泵之间有</a:t>
            </a:r>
            <a:r>
              <a:rPr lang="en-US" altLang="zh-CN" dirty="0"/>
              <a:t>2</a:t>
            </a:r>
            <a:r>
              <a:rPr lang="zh-CN" altLang="en-US" dirty="0"/>
              <a:t>秒钟的延迟；</a:t>
            </a:r>
          </a:p>
        </p:txBody>
      </p:sp>
      <p:pic>
        <p:nvPicPr>
          <p:cNvPr id="4" name="Picture 1" descr="C:\Users\Ray\AppData\Roaming\Tencent\Users\8810444\QQ\WinTemp\RichOle\LAGY7G%F0ZK$ZG570H8KO4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484784"/>
            <a:ext cx="3871912" cy="2224087"/>
          </a:xfrm>
          <a:prstGeom prst="rect">
            <a:avLst/>
          </a:prstGeom>
          <a:noFill/>
          <a:extLst>
            <a:ext uri="{909E8E84-426E-40dd-AFC4-6F175D3DCCD1}">
              <a14:hiddenFill xmlns:a14="http://schemas.microsoft.com/office/drawing/2010/main" xmlns="">
                <a:solidFill>
                  <a:srgbClr val="FFFFFF"/>
                </a:solidFill>
              </a14:hiddenFill>
            </a:ext>
          </a:extLst>
        </p:spPr>
      </p:pic>
      <p:sp>
        <p:nvSpPr>
          <p:cNvPr id="5" name="内容占位符 2"/>
          <p:cNvSpPr txBox="1">
            <a:spLocks/>
          </p:cNvSpPr>
          <p:nvPr/>
        </p:nvSpPr>
        <p:spPr bwMode="auto">
          <a:xfrm>
            <a:off x="231924" y="3789040"/>
            <a:ext cx="4199135" cy="7200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447675" indent="-447675" algn="l" rtl="0" eaLnBrk="1" fontAlgn="base" hangingPunct="1">
              <a:spcBef>
                <a:spcPct val="20000"/>
              </a:spcBef>
              <a:spcAft>
                <a:spcPct val="0"/>
              </a:spcAft>
              <a:buClr>
                <a:schemeClr val="accent1"/>
              </a:buClr>
              <a:buSzPct val="70000"/>
              <a:buFont typeface="Wingdings" pitchFamily="2" charset="2"/>
              <a:buChar char="n"/>
              <a:defRPr sz="2800">
                <a:solidFill>
                  <a:schemeClr val="tx1"/>
                </a:solidFill>
                <a:latin typeface="Times New Roman" pitchFamily="18" charset="0"/>
                <a:ea typeface="+mn-ea"/>
                <a:cs typeface="Times New Roman" pitchFamily="18" charset="0"/>
              </a:defRPr>
            </a:lvl1pPr>
            <a:lvl2pPr marL="889000" indent="-439738" algn="l" rtl="0" eaLnBrk="1" fontAlgn="base" hangingPunct="1">
              <a:spcBef>
                <a:spcPct val="20000"/>
              </a:spcBef>
              <a:spcAft>
                <a:spcPct val="0"/>
              </a:spcAft>
              <a:buClr>
                <a:schemeClr val="hlink"/>
              </a:buClr>
              <a:buSzPct val="65000"/>
              <a:buFont typeface="Wingdings" pitchFamily="2" charset="2"/>
              <a:buChar char="¡"/>
              <a:defRPr sz="2400">
                <a:solidFill>
                  <a:schemeClr val="tx1"/>
                </a:solidFill>
                <a:latin typeface="Times New Roman" pitchFamily="18" charset="0"/>
                <a:ea typeface="+mn-ea"/>
                <a:cs typeface="Times New Roman" pitchFamily="18" charset="0"/>
              </a:defRPr>
            </a:lvl2pPr>
            <a:lvl3pPr marL="1293813" indent="-403225" algn="l" rtl="0" eaLnBrk="1" fontAlgn="base" hangingPunct="1">
              <a:spcBef>
                <a:spcPct val="20000"/>
              </a:spcBef>
              <a:spcAft>
                <a:spcPct val="0"/>
              </a:spcAft>
              <a:buClr>
                <a:schemeClr val="accent1"/>
              </a:buClr>
              <a:buSzPct val="70000"/>
              <a:buFont typeface="Wingdings" pitchFamily="2" charset="2"/>
              <a:buChar char="n"/>
              <a:defRPr sz="2000">
                <a:solidFill>
                  <a:schemeClr val="tx1"/>
                </a:solidFill>
                <a:latin typeface="Times New Roman" pitchFamily="18" charset="0"/>
                <a:ea typeface="+mn-ea"/>
                <a:cs typeface="Times New Roman" pitchFamily="18" charset="0"/>
              </a:defRPr>
            </a:lvl3pPr>
            <a:lvl4pPr marL="1681163" indent="-385763" algn="l" rtl="0" eaLnBrk="1" fontAlgn="base" hangingPunct="1">
              <a:spcBef>
                <a:spcPct val="20000"/>
              </a:spcBef>
              <a:spcAft>
                <a:spcPct val="0"/>
              </a:spcAft>
              <a:buClr>
                <a:schemeClr val="hlink"/>
              </a:buClr>
              <a:buSzPct val="75000"/>
              <a:buFont typeface="Wingdings" pitchFamily="2" charset="2"/>
              <a:buChar char="¡"/>
              <a:defRPr sz="2000">
                <a:solidFill>
                  <a:schemeClr val="tx1"/>
                </a:solidFill>
                <a:latin typeface="Times New Roman" pitchFamily="18" charset="0"/>
                <a:ea typeface="+mn-ea"/>
                <a:cs typeface="Times New Roman" pitchFamily="18" charset="0"/>
              </a:defRPr>
            </a:lvl4pPr>
            <a:lvl5pPr marL="20701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Times New Roman" pitchFamily="18" charset="0"/>
                <a:ea typeface="+mn-ea"/>
                <a:cs typeface="Times New Roman" pitchFamily="18" charset="0"/>
              </a:defRPr>
            </a:lvl5pPr>
            <a:lvl6pPr marL="25273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9pPr>
          </a:lstStyle>
          <a:p>
            <a:pPr marL="0" indent="0">
              <a:buNone/>
            </a:pPr>
            <a:r>
              <a:rPr lang="zh-CN" altLang="en-US" b="1" i="1" dirty="0" smtClean="0">
                <a:solidFill>
                  <a:srgbClr val="FF0000"/>
                </a:solidFill>
              </a:rPr>
              <a:t>水箱的水位在什么区间？</a:t>
            </a:r>
          </a:p>
        </p:txBody>
      </p:sp>
      <p:pic>
        <p:nvPicPr>
          <p:cNvPr id="6" name="Picture 1" descr="C:\Users\Ray\AppData\Roaming\Tencent\Users\8810444\QQ\WinTemp\RichOle\LBKD[6~(~`J2Z@UWRTXQ2L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4310378"/>
            <a:ext cx="3871912" cy="248367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1782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混成</a:t>
            </a:r>
            <a:r>
              <a:rPr lang="zh-CN" altLang="en-US" dirty="0" smtClean="0"/>
              <a:t>系统</a:t>
            </a:r>
            <a:endParaRPr lang="zh-CN" altLang="en-US" dirty="0"/>
          </a:p>
        </p:txBody>
      </p:sp>
      <p:sp>
        <p:nvSpPr>
          <p:cNvPr id="3" name="内容占位符 2"/>
          <p:cNvSpPr>
            <a:spLocks noGrp="1"/>
          </p:cNvSpPr>
          <p:nvPr>
            <p:ph idx="1"/>
          </p:nvPr>
        </p:nvSpPr>
        <p:spPr/>
        <p:txBody>
          <a:bodyPr/>
          <a:lstStyle/>
          <a:p>
            <a:r>
              <a:rPr lang="zh-CN" altLang="en-US" dirty="0" smtClean="0"/>
              <a:t>有穷迁移系统，描述控制逻辑跳转</a:t>
            </a:r>
            <a:endParaRPr lang="en-US" altLang="zh-CN" dirty="0" smtClean="0"/>
          </a:p>
          <a:p>
            <a:r>
              <a:rPr lang="zh-CN" altLang="en-US" dirty="0" smtClean="0"/>
              <a:t>每个节点上有微分方程存在，描述相应实时行为</a:t>
            </a:r>
            <a:endParaRPr lang="zh-CN" altLang="en-US" dirty="0"/>
          </a:p>
        </p:txBody>
      </p:sp>
      <p:pic>
        <p:nvPicPr>
          <p:cNvPr id="4" name="Picture 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2893900"/>
            <a:ext cx="4733925" cy="12668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57" descr="C:\Users\Ray\AppData\Roaming\Tencent\Users\8810444\QQ\WinTemp\RichOle\$FR$09JPR1EG%HKALV`%]R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2636912"/>
            <a:ext cx="1291955" cy="1780803"/>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37" descr="blaue Bah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560" y="5136948"/>
            <a:ext cx="2664296" cy="712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2" descr="G:\cps-all.tif"/>
          <p:cNvPicPr>
            <a:picLocks noChangeAspect="1" noChangeArrowheads="1"/>
          </p:cNvPicPr>
          <p:nvPr/>
        </p:nvPicPr>
        <p:blipFill>
          <a:blip r:embed="rId5"/>
          <a:srcRect/>
          <a:stretch>
            <a:fillRect/>
          </a:stretch>
        </p:blipFill>
        <p:spPr bwMode="auto">
          <a:xfrm>
            <a:off x="4355976" y="4437112"/>
            <a:ext cx="3528392" cy="1898455"/>
          </a:xfrm>
          <a:prstGeom prst="rect">
            <a:avLst/>
          </a:prstGeom>
          <a:noFill/>
        </p:spPr>
      </p:pic>
    </p:spTree>
    <p:extLst>
      <p:ext uri="{BB962C8B-B14F-4D97-AF65-F5344CB8AC3E}">
        <p14:creationId xmlns:p14="http://schemas.microsoft.com/office/powerpoint/2010/main" val="3553014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214290"/>
            <a:ext cx="7239748" cy="766785"/>
          </a:xfrm>
        </p:spPr>
        <p:txBody>
          <a:bodyPr/>
          <a:lstStyle/>
          <a:p>
            <a:r>
              <a:rPr lang="zh-CN" altLang="en-US" dirty="0" smtClean="0"/>
              <a:t>混成系统研究现状</a:t>
            </a:r>
            <a:endParaRPr lang="zh-CN" altLang="en-US" dirty="0"/>
          </a:p>
        </p:txBody>
      </p:sp>
      <p:sp>
        <p:nvSpPr>
          <p:cNvPr id="3" name="内容占位符 2"/>
          <p:cNvSpPr>
            <a:spLocks noGrp="1"/>
          </p:cNvSpPr>
          <p:nvPr>
            <p:ph idx="1"/>
          </p:nvPr>
        </p:nvSpPr>
        <p:spPr>
          <a:xfrm>
            <a:off x="395536" y="1124744"/>
            <a:ext cx="8142287" cy="5185048"/>
          </a:xfrm>
        </p:spPr>
        <p:txBody>
          <a:bodyPr>
            <a:normAutofit/>
          </a:bodyPr>
          <a:lstStyle/>
          <a:p>
            <a:endParaRPr lang="en-US" altLang="zh-CN" dirty="0" smtClean="0"/>
          </a:p>
          <a:p>
            <a:r>
              <a:rPr lang="zh-CN" altLang="en-US" dirty="0" smtClean="0"/>
              <a:t>研究现状及趋势</a:t>
            </a:r>
            <a:endParaRPr lang="en-US" altLang="zh-CN" dirty="0" smtClean="0"/>
          </a:p>
          <a:p>
            <a:pPr lvl="1"/>
            <a:r>
              <a:rPr lang="zh-CN" altLang="en-US" dirty="0" smtClean="0"/>
              <a:t>标准模型检验：                   </a:t>
            </a:r>
            <a:endParaRPr lang="en-US" altLang="zh-CN" dirty="0" smtClean="0"/>
          </a:p>
          <a:p>
            <a:pPr lvl="2">
              <a:defRPr/>
            </a:pPr>
            <a:r>
              <a:rPr lang="en-US" altLang="zh-CN" dirty="0" smtClean="0">
                <a:latin typeface="Times New Roman" pitchFamily="18" charset="0"/>
                <a:cs typeface="Times New Roman" pitchFamily="18" charset="0"/>
              </a:rPr>
              <a:t>Polyhedral Computation</a:t>
            </a:r>
          </a:p>
          <a:p>
            <a:pPr lvl="2">
              <a:defRPr/>
            </a:pPr>
            <a:r>
              <a:rPr lang="en-US" altLang="zh-CN" dirty="0" smtClean="0">
                <a:latin typeface="Times New Roman" pitchFamily="18" charset="0"/>
                <a:cs typeface="Times New Roman" pitchFamily="18" charset="0"/>
              </a:rPr>
              <a:t>Cartesian Product</a:t>
            </a:r>
          </a:p>
          <a:p>
            <a:pPr lvl="1">
              <a:defRPr/>
            </a:pPr>
            <a:r>
              <a:rPr lang="zh-CN" altLang="en-US" dirty="0" smtClean="0">
                <a:latin typeface="Times New Roman" pitchFamily="18" charset="0"/>
                <a:cs typeface="Times New Roman" pitchFamily="18" charset="0"/>
              </a:rPr>
              <a:t>性能</a:t>
            </a:r>
            <a:endParaRPr lang="en-US" altLang="zh-CN" dirty="0" smtClean="0">
              <a:latin typeface="Times New Roman" pitchFamily="18" charset="0"/>
              <a:cs typeface="Times New Roman" pitchFamily="18" charset="0"/>
            </a:endParaRPr>
          </a:p>
          <a:p>
            <a:pPr lvl="2">
              <a:defRPr/>
            </a:pPr>
            <a:r>
              <a:rPr lang="zh-CN" altLang="en-US" dirty="0">
                <a:latin typeface="Times New Roman" pitchFamily="18" charset="0"/>
                <a:cs typeface="Times New Roman" pitchFamily="18" charset="0"/>
              </a:rPr>
              <a:t>不可判</a:t>
            </a:r>
            <a:r>
              <a:rPr lang="zh-CN" altLang="en-US" dirty="0" smtClean="0">
                <a:latin typeface="Times New Roman" pitchFamily="18" charset="0"/>
                <a:cs typeface="Times New Roman" pitchFamily="18" charset="0"/>
              </a:rPr>
              <a:t>定</a:t>
            </a:r>
            <a:endParaRPr lang="en-US" altLang="zh-CN" dirty="0" smtClean="0">
              <a:latin typeface="Times New Roman" pitchFamily="18" charset="0"/>
              <a:cs typeface="Times New Roman" pitchFamily="18" charset="0"/>
            </a:endParaRPr>
          </a:p>
          <a:p>
            <a:pPr lvl="2">
              <a:defRPr/>
            </a:pPr>
            <a:r>
              <a:rPr lang="zh-CN" altLang="en-US" dirty="0">
                <a:latin typeface="Times New Roman" pitchFamily="18" charset="0"/>
                <a:cs typeface="Times New Roman" pitchFamily="18" charset="0"/>
              </a:rPr>
              <a:t>低维</a:t>
            </a:r>
            <a:r>
              <a:rPr lang="zh-CN" altLang="en-US" dirty="0" smtClean="0">
                <a:latin typeface="Times New Roman" pitchFamily="18" charset="0"/>
                <a:cs typeface="Times New Roman" pitchFamily="18" charset="0"/>
              </a:rPr>
              <a:t>度</a:t>
            </a:r>
            <a:endParaRPr lang="en-US" altLang="zh-CN" dirty="0">
              <a:latin typeface="Times New Roman" pitchFamily="18" charset="0"/>
              <a:cs typeface="Times New Roman" pitchFamily="18" charset="0"/>
            </a:endParaRPr>
          </a:p>
        </p:txBody>
      </p:sp>
      <p:sp>
        <p:nvSpPr>
          <p:cNvPr id="6" name="内容占位符 2"/>
          <p:cNvSpPr txBox="1">
            <a:spLocks/>
          </p:cNvSpPr>
          <p:nvPr/>
        </p:nvSpPr>
        <p:spPr bwMode="auto">
          <a:xfrm>
            <a:off x="4283968" y="836588"/>
            <a:ext cx="4608513" cy="38885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92500" lnSpcReduction="20000"/>
          </a:bodyPr>
          <a:lstStyle>
            <a:lvl1pPr marL="447675" indent="-447675" algn="l" rtl="0" eaLnBrk="1" fontAlgn="base" hangingPunct="1">
              <a:spcBef>
                <a:spcPct val="20000"/>
              </a:spcBef>
              <a:spcAft>
                <a:spcPct val="0"/>
              </a:spcAft>
              <a:buClr>
                <a:schemeClr val="accent1"/>
              </a:buClr>
              <a:buSzPct val="70000"/>
              <a:buFont typeface="Wingdings" pitchFamily="2" charset="2"/>
              <a:buChar char="n"/>
              <a:defRPr sz="2800">
                <a:solidFill>
                  <a:schemeClr val="tx1"/>
                </a:solidFill>
                <a:latin typeface="Arial" charset="0"/>
                <a:ea typeface="+mn-ea"/>
                <a:cs typeface="+mn-cs"/>
              </a:defRPr>
            </a:lvl1pPr>
            <a:lvl2pPr marL="889000" indent="-439738" algn="l" rtl="0" eaLnBrk="1" fontAlgn="base" hangingPunct="1">
              <a:spcBef>
                <a:spcPct val="20000"/>
              </a:spcBef>
              <a:spcAft>
                <a:spcPct val="0"/>
              </a:spcAft>
              <a:buClr>
                <a:schemeClr val="hlink"/>
              </a:buClr>
              <a:buSzPct val="65000"/>
              <a:buFont typeface="Wingdings" pitchFamily="2" charset="2"/>
              <a:buChar char="¡"/>
              <a:defRPr sz="2400">
                <a:solidFill>
                  <a:schemeClr val="tx1"/>
                </a:solidFill>
                <a:latin typeface="Arial" charset="0"/>
                <a:ea typeface="+mn-ea"/>
              </a:defRPr>
            </a:lvl2pPr>
            <a:lvl3pPr marL="1293813" indent="-403225" algn="l" rtl="0" eaLnBrk="1" fontAlgn="base" hangingPunct="1">
              <a:spcBef>
                <a:spcPct val="20000"/>
              </a:spcBef>
              <a:spcAft>
                <a:spcPct val="0"/>
              </a:spcAft>
              <a:buClr>
                <a:schemeClr val="accent1"/>
              </a:buClr>
              <a:buSzPct val="70000"/>
              <a:buFont typeface="Wingdings" pitchFamily="2" charset="2"/>
              <a:buChar char="n"/>
              <a:defRPr sz="2000">
                <a:solidFill>
                  <a:schemeClr val="tx1"/>
                </a:solidFill>
                <a:latin typeface="Arial" charset="0"/>
                <a:ea typeface="+mn-ea"/>
              </a:defRPr>
            </a:lvl3pPr>
            <a:lvl4pPr marL="1681163" indent="-385763" algn="l" rtl="0" eaLnBrk="1" fontAlgn="base" hangingPunct="1">
              <a:spcBef>
                <a:spcPct val="20000"/>
              </a:spcBef>
              <a:spcAft>
                <a:spcPct val="0"/>
              </a:spcAft>
              <a:buClr>
                <a:schemeClr val="hlink"/>
              </a:buClr>
              <a:buSzPct val="75000"/>
              <a:buFont typeface="Wingdings" pitchFamily="2" charset="2"/>
              <a:buChar char="¡"/>
              <a:defRPr sz="2000">
                <a:solidFill>
                  <a:schemeClr val="tx1"/>
                </a:solidFill>
                <a:latin typeface="Arial" charset="0"/>
                <a:ea typeface="+mn-ea"/>
              </a:defRPr>
            </a:lvl4pPr>
            <a:lvl5pPr marL="20701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Arial" charset="0"/>
                <a:ea typeface="+mn-ea"/>
              </a:defRPr>
            </a:lvl5pPr>
            <a:lvl6pPr marL="25273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9pPr>
          </a:lstStyle>
          <a:p>
            <a:pPr lvl="1"/>
            <a:endParaRPr lang="en-US" altLang="zh-CN" dirty="0" smtClean="0"/>
          </a:p>
          <a:p>
            <a:pPr lvl="1"/>
            <a:endParaRPr lang="en-US" altLang="zh-CN" dirty="0" smtClean="0"/>
          </a:p>
          <a:p>
            <a:pPr lvl="1"/>
            <a:endParaRPr lang="en-US" altLang="zh-CN" dirty="0" smtClean="0"/>
          </a:p>
          <a:p>
            <a:pPr marL="449262" lvl="1" indent="0">
              <a:buNone/>
            </a:pPr>
            <a:endParaRPr lang="en-US" altLang="zh-CN" dirty="0" smtClean="0"/>
          </a:p>
          <a:p>
            <a:pPr lvl="1"/>
            <a:r>
              <a:rPr lang="zh-CN" altLang="en-US" sz="2600" dirty="0"/>
              <a:t>有界模型检验</a:t>
            </a:r>
            <a:r>
              <a:rPr lang="zh-CN" altLang="en-US" sz="2200" dirty="0" smtClean="0"/>
              <a:t>：                   </a:t>
            </a:r>
            <a:endParaRPr lang="en-US" altLang="zh-CN" sz="2200" dirty="0" smtClean="0"/>
          </a:p>
          <a:p>
            <a:pPr lvl="2">
              <a:lnSpc>
                <a:spcPct val="110000"/>
              </a:lnSpc>
              <a:defRPr/>
            </a:pPr>
            <a:r>
              <a:rPr lang="en-US" altLang="zh-CN" sz="2200" dirty="0">
                <a:latin typeface="Times New Roman" pitchFamily="18" charset="0"/>
                <a:cs typeface="Times New Roman" pitchFamily="18" charset="0"/>
              </a:rPr>
              <a:t>SMT </a:t>
            </a:r>
          </a:p>
          <a:p>
            <a:pPr lvl="2">
              <a:lnSpc>
                <a:spcPct val="110000"/>
              </a:lnSpc>
              <a:defRPr/>
            </a:pPr>
            <a:r>
              <a:rPr lang="en-US" altLang="zh-CN" sz="2200" dirty="0">
                <a:latin typeface="Times New Roman" pitchFamily="18" charset="0"/>
                <a:cs typeface="Times New Roman" pitchFamily="18" charset="0"/>
              </a:rPr>
              <a:t>Interleaving Semantic</a:t>
            </a:r>
          </a:p>
          <a:p>
            <a:pPr lvl="1">
              <a:lnSpc>
                <a:spcPct val="120000"/>
              </a:lnSpc>
              <a:defRPr/>
            </a:pPr>
            <a:r>
              <a:rPr lang="zh-CN" altLang="en-US" sz="2600" dirty="0" smtClean="0"/>
              <a:t>性能</a:t>
            </a:r>
            <a:endParaRPr lang="en-US" altLang="zh-CN" sz="2600" dirty="0"/>
          </a:p>
          <a:p>
            <a:pPr lvl="2">
              <a:lnSpc>
                <a:spcPct val="120000"/>
              </a:lnSpc>
              <a:defRPr/>
            </a:pPr>
            <a:r>
              <a:rPr lang="zh-CN" altLang="en-US" sz="2200" dirty="0">
                <a:latin typeface="Times New Roman" pitchFamily="18" charset="0"/>
                <a:cs typeface="Times New Roman" pitchFamily="18" charset="0"/>
              </a:rPr>
              <a:t>低维度</a:t>
            </a:r>
            <a:endParaRPr lang="en-US" altLang="zh-CN" sz="2200" dirty="0">
              <a:latin typeface="Times New Roman" pitchFamily="18" charset="0"/>
              <a:cs typeface="Times New Roman" pitchFamily="18" charset="0"/>
            </a:endParaRPr>
          </a:p>
          <a:p>
            <a:pPr lvl="2">
              <a:lnSpc>
                <a:spcPct val="120000"/>
              </a:lnSpc>
              <a:defRPr/>
            </a:pPr>
            <a:r>
              <a:rPr lang="zh-CN" altLang="en-US" sz="2200" dirty="0">
                <a:latin typeface="Times New Roman" pitchFamily="18" charset="0"/>
                <a:cs typeface="Times New Roman" pitchFamily="18" charset="0"/>
              </a:rPr>
              <a:t>低阈值</a:t>
            </a:r>
          </a:p>
        </p:txBody>
      </p:sp>
    </p:spTree>
    <p:extLst>
      <p:ext uri="{BB962C8B-B14F-4D97-AF65-F5344CB8AC3E}">
        <p14:creationId xmlns:p14="http://schemas.microsoft.com/office/powerpoint/2010/main" val="725012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我们的工作</a:t>
            </a:r>
            <a:endParaRPr lang="zh-CN" altLang="en-US" dirty="0"/>
          </a:p>
        </p:txBody>
      </p:sp>
      <p:sp>
        <p:nvSpPr>
          <p:cNvPr id="4" name="内容占位符 2"/>
          <p:cNvSpPr txBox="1">
            <a:spLocks noGrp="1"/>
          </p:cNvSpPr>
          <p:nvPr>
            <p:ph idx="1"/>
          </p:nvPr>
        </p:nvSpPr>
        <p:spPr>
          <a:xfrm>
            <a:off x="35496" y="1484313"/>
            <a:ext cx="4391719" cy="4392612"/>
          </a:xfrm>
          <a:prstGeom prst="rect">
            <a:avLst/>
          </a:prstGeom>
        </p:spPr>
        <p:txBody>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a:buFont typeface="Wingdings" pitchFamily="2" charset="2"/>
              <a:buChar char="n"/>
            </a:pPr>
            <a:r>
              <a:rPr lang="zh-CN" altLang="en-US" sz="2800" dirty="0" smtClean="0"/>
              <a:t>单路径可达性检验</a:t>
            </a:r>
            <a:endParaRPr lang="en-US" altLang="zh-CN" sz="2800" dirty="0" smtClean="0"/>
          </a:p>
          <a:p>
            <a:pPr lvl="1"/>
            <a:r>
              <a:rPr lang="zh-CN" altLang="en-US" dirty="0"/>
              <a:t>连续时间行为离散化抽</a:t>
            </a:r>
            <a:r>
              <a:rPr lang="zh-CN" altLang="en-US" dirty="0" smtClean="0"/>
              <a:t>象</a:t>
            </a:r>
            <a:endParaRPr lang="en-US" altLang="zh-CN" dirty="0" smtClean="0"/>
          </a:p>
          <a:p>
            <a:pPr lvl="1"/>
            <a:r>
              <a:rPr lang="zh-CN" altLang="en-US" dirty="0"/>
              <a:t>线</a:t>
            </a:r>
            <a:r>
              <a:rPr lang="zh-CN" altLang="en-US" dirty="0" smtClean="0"/>
              <a:t>性编</a:t>
            </a:r>
            <a:r>
              <a:rPr lang="zh-CN" altLang="en-US" dirty="0"/>
              <a:t>码并求</a:t>
            </a:r>
            <a:r>
              <a:rPr lang="zh-CN" altLang="en-US" dirty="0" smtClean="0"/>
              <a:t>解</a:t>
            </a:r>
            <a:endParaRPr lang="en-US" altLang="zh-CN" dirty="0" smtClean="0"/>
          </a:p>
          <a:p>
            <a:pPr lvl="1"/>
            <a:endParaRPr lang="en-US" altLang="zh-CN" dirty="0"/>
          </a:p>
          <a:p>
            <a:pPr lvl="1"/>
            <a:endParaRPr lang="en-US" altLang="zh-CN" dirty="0" smtClean="0"/>
          </a:p>
          <a:p>
            <a:pPr marL="393192" lvl="1" indent="0">
              <a:buNone/>
            </a:pPr>
            <a:endParaRPr lang="en-US" altLang="zh-CN" dirty="0" smtClean="0"/>
          </a:p>
          <a:p>
            <a:r>
              <a:rPr lang="zh-CN" altLang="en-US" sz="2800" b="1" dirty="0">
                <a:solidFill>
                  <a:srgbClr val="FF0000"/>
                </a:solidFill>
              </a:rPr>
              <a:t>有界路径可达性检验</a:t>
            </a:r>
            <a:endParaRPr lang="en-US" altLang="zh-CN" sz="2800" b="1" dirty="0">
              <a:solidFill>
                <a:srgbClr val="FF0000"/>
              </a:solidFill>
            </a:endParaRPr>
          </a:p>
          <a:p>
            <a:pPr lvl="1"/>
            <a:r>
              <a:rPr lang="zh-CN" altLang="en-US" dirty="0"/>
              <a:t>深度优先遍历</a:t>
            </a:r>
            <a:endParaRPr lang="en-US" altLang="zh-CN" dirty="0"/>
          </a:p>
          <a:p>
            <a:pPr lvl="1"/>
            <a:r>
              <a:rPr lang="zh-CN" altLang="en-US" dirty="0"/>
              <a:t>逐条检验</a:t>
            </a:r>
            <a:endParaRPr lang="en-US" altLang="zh-CN" dirty="0"/>
          </a:p>
          <a:p>
            <a:pPr lvl="1"/>
            <a:endParaRPr lang="en-US" altLang="zh-CN" dirty="0" smtClean="0"/>
          </a:p>
        </p:txBody>
      </p:sp>
      <p:pic>
        <p:nvPicPr>
          <p:cNvPr id="5"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567" y="3068960"/>
            <a:ext cx="3613792" cy="10801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内容占位符 2"/>
          <p:cNvSpPr txBox="1">
            <a:spLocks/>
          </p:cNvSpPr>
          <p:nvPr/>
        </p:nvSpPr>
        <p:spPr>
          <a:xfrm>
            <a:off x="4407296" y="1484784"/>
            <a:ext cx="4413176" cy="4389120"/>
          </a:xfrm>
          <a:prstGeom prst="rect">
            <a:avLst/>
          </a:prstGeom>
        </p:spPr>
        <p:txBody>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zh-CN" altLang="en-US" sz="2800" b="1" dirty="0">
                <a:solidFill>
                  <a:srgbClr val="FF0000"/>
                </a:solidFill>
              </a:rPr>
              <a:t>组合路径可达性检验</a:t>
            </a:r>
            <a:endParaRPr lang="en-US" altLang="zh-CN" sz="2800" b="1" dirty="0">
              <a:solidFill>
                <a:srgbClr val="FF0000"/>
              </a:solidFill>
            </a:endParaRPr>
          </a:p>
          <a:p>
            <a:pPr lvl="1"/>
            <a:r>
              <a:rPr lang="zh-CN" altLang="en-US" dirty="0"/>
              <a:t>基于共享事件的同步语义</a:t>
            </a:r>
            <a:endParaRPr lang="en-US" altLang="zh-CN" dirty="0"/>
          </a:p>
          <a:p>
            <a:pPr lvl="1"/>
            <a:r>
              <a:rPr lang="zh-CN" altLang="en-US" dirty="0"/>
              <a:t>线性编码并求解</a:t>
            </a:r>
            <a:endParaRPr lang="en-US" altLang="zh-CN" dirty="0"/>
          </a:p>
          <a:p>
            <a:endParaRPr lang="en-US" altLang="zh-CN" dirty="0" smtClean="0"/>
          </a:p>
        </p:txBody>
      </p:sp>
      <p:pic>
        <p:nvPicPr>
          <p:cNvPr id="13" name="Picture 2"/>
          <p:cNvPicPr>
            <a:picLocks noChangeAspect="1" noChangeArrowheads="1"/>
          </p:cNvPicPr>
          <p:nvPr/>
        </p:nvPicPr>
        <p:blipFill>
          <a:blip r:embed="rId3" cstate="print"/>
          <a:srcRect/>
          <a:stretch>
            <a:fillRect/>
          </a:stretch>
        </p:blipFill>
        <p:spPr bwMode="auto">
          <a:xfrm>
            <a:off x="5076056" y="3345742"/>
            <a:ext cx="1679010" cy="1101850"/>
          </a:xfrm>
          <a:prstGeom prst="rect">
            <a:avLst/>
          </a:prstGeom>
          <a:noFill/>
          <a:ln w="9525">
            <a:noFill/>
            <a:miter lim="800000"/>
            <a:headEnd/>
            <a:tailEnd/>
          </a:ln>
        </p:spPr>
      </p:pic>
      <p:pic>
        <p:nvPicPr>
          <p:cNvPr id="14" name="Picture 3"/>
          <p:cNvPicPr>
            <a:picLocks noChangeAspect="1" noChangeArrowheads="1"/>
          </p:cNvPicPr>
          <p:nvPr/>
        </p:nvPicPr>
        <p:blipFill>
          <a:blip r:embed="rId4" cstate="print"/>
          <a:srcRect/>
          <a:stretch>
            <a:fillRect/>
          </a:stretch>
        </p:blipFill>
        <p:spPr bwMode="auto">
          <a:xfrm>
            <a:off x="7448066" y="2636912"/>
            <a:ext cx="1429065" cy="3621358"/>
          </a:xfrm>
          <a:prstGeom prst="rect">
            <a:avLst/>
          </a:prstGeom>
          <a:noFill/>
          <a:ln w="9525">
            <a:noFill/>
            <a:miter lim="800000"/>
            <a:headEnd/>
            <a:tailEnd/>
          </a:ln>
        </p:spPr>
      </p:pic>
      <p:pic>
        <p:nvPicPr>
          <p:cNvPr id="15"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44008" y="5202364"/>
            <a:ext cx="2372222" cy="13240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 name="Picture 3" descr="D:\DOCS\NJU DOC\NJUCS DOC\12年重点实验室考核\rapid_bach.gif"/>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2623567" y="4949979"/>
            <a:ext cx="1876425" cy="182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1"/>
          <p:cNvPicPr>
            <a:picLocks noChangeAspect="1" noChangeArrowheads="1"/>
          </p:cNvPicPr>
          <p:nvPr/>
        </p:nvPicPr>
        <p:blipFill>
          <a:blip r:embed="rId7" cstate="print"/>
          <a:srcRect/>
          <a:stretch>
            <a:fillRect/>
          </a:stretch>
        </p:blipFill>
        <p:spPr bwMode="auto">
          <a:xfrm>
            <a:off x="7040555" y="2966290"/>
            <a:ext cx="2067949" cy="3703070"/>
          </a:xfrm>
          <a:prstGeom prst="rect">
            <a:avLst/>
          </a:prstGeom>
          <a:noFill/>
          <a:ln w="9525">
            <a:noFill/>
            <a:miter lim="800000"/>
            <a:headEnd/>
            <a:tailEnd/>
          </a:ln>
        </p:spPr>
      </p:pic>
    </p:spTree>
    <p:extLst>
      <p:ext uri="{BB962C8B-B14F-4D97-AF65-F5344CB8AC3E}">
        <p14:creationId xmlns:p14="http://schemas.microsoft.com/office/powerpoint/2010/main" val="50898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工具现状</a:t>
            </a:r>
            <a:endParaRPr lang="zh-CN" altLang="en-US" dirty="0"/>
          </a:p>
        </p:txBody>
      </p:sp>
      <p:sp>
        <p:nvSpPr>
          <p:cNvPr id="3" name="内容占位符 2"/>
          <p:cNvSpPr>
            <a:spLocks noGrp="1"/>
          </p:cNvSpPr>
          <p:nvPr>
            <p:ph idx="1"/>
          </p:nvPr>
        </p:nvSpPr>
        <p:spPr>
          <a:xfrm>
            <a:off x="468313" y="1484313"/>
            <a:ext cx="3887663" cy="4392612"/>
          </a:xfrm>
        </p:spPr>
        <p:txBody>
          <a:bodyPr/>
          <a:lstStyle/>
          <a:p>
            <a:r>
              <a:rPr lang="en-US" altLang="zh-CN" dirty="0" smtClean="0"/>
              <a:t>JAVA Application</a:t>
            </a:r>
            <a:endParaRPr lang="zh-CN" altLang="en-US" dirty="0"/>
          </a:p>
        </p:txBody>
      </p:sp>
      <p:sp>
        <p:nvSpPr>
          <p:cNvPr id="4" name="内容占位符 2"/>
          <p:cNvSpPr txBox="1">
            <a:spLocks/>
          </p:cNvSpPr>
          <p:nvPr/>
        </p:nvSpPr>
        <p:spPr bwMode="auto">
          <a:xfrm>
            <a:off x="4464976" y="1484784"/>
            <a:ext cx="3887663" cy="43926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47675" indent="-447675" algn="l" rtl="0" eaLnBrk="1" fontAlgn="base" hangingPunct="1">
              <a:spcBef>
                <a:spcPct val="20000"/>
              </a:spcBef>
              <a:spcAft>
                <a:spcPct val="0"/>
              </a:spcAft>
              <a:buClr>
                <a:schemeClr val="accent1"/>
              </a:buClr>
              <a:buSzPct val="70000"/>
              <a:buFont typeface="Wingdings" pitchFamily="2" charset="2"/>
              <a:buChar char="n"/>
              <a:defRPr sz="2800">
                <a:solidFill>
                  <a:schemeClr val="tx1"/>
                </a:solidFill>
                <a:latin typeface="Arial" charset="0"/>
                <a:ea typeface="+mn-ea"/>
                <a:cs typeface="+mn-cs"/>
              </a:defRPr>
            </a:lvl1pPr>
            <a:lvl2pPr marL="889000" indent="-439738" algn="l" rtl="0" eaLnBrk="1" fontAlgn="base" hangingPunct="1">
              <a:spcBef>
                <a:spcPct val="20000"/>
              </a:spcBef>
              <a:spcAft>
                <a:spcPct val="0"/>
              </a:spcAft>
              <a:buClr>
                <a:schemeClr val="hlink"/>
              </a:buClr>
              <a:buSzPct val="65000"/>
              <a:buFont typeface="Wingdings" pitchFamily="2" charset="2"/>
              <a:buChar char="¡"/>
              <a:defRPr sz="2400">
                <a:solidFill>
                  <a:schemeClr val="tx1"/>
                </a:solidFill>
                <a:latin typeface="Arial" charset="0"/>
                <a:ea typeface="+mn-ea"/>
              </a:defRPr>
            </a:lvl2pPr>
            <a:lvl3pPr marL="1293813" indent="-403225" algn="l" rtl="0" eaLnBrk="1" fontAlgn="base" hangingPunct="1">
              <a:spcBef>
                <a:spcPct val="20000"/>
              </a:spcBef>
              <a:spcAft>
                <a:spcPct val="0"/>
              </a:spcAft>
              <a:buClr>
                <a:schemeClr val="accent1"/>
              </a:buClr>
              <a:buSzPct val="70000"/>
              <a:buFont typeface="Wingdings" pitchFamily="2" charset="2"/>
              <a:buChar char="n"/>
              <a:defRPr sz="2000">
                <a:solidFill>
                  <a:schemeClr val="tx1"/>
                </a:solidFill>
                <a:latin typeface="Arial" charset="0"/>
                <a:ea typeface="+mn-ea"/>
              </a:defRPr>
            </a:lvl3pPr>
            <a:lvl4pPr marL="1681163" indent="-385763" algn="l" rtl="0" eaLnBrk="1" fontAlgn="base" hangingPunct="1">
              <a:spcBef>
                <a:spcPct val="20000"/>
              </a:spcBef>
              <a:spcAft>
                <a:spcPct val="0"/>
              </a:spcAft>
              <a:buClr>
                <a:schemeClr val="hlink"/>
              </a:buClr>
              <a:buSzPct val="75000"/>
              <a:buFont typeface="Wingdings" pitchFamily="2" charset="2"/>
              <a:buChar char="¡"/>
              <a:defRPr sz="2000">
                <a:solidFill>
                  <a:schemeClr val="tx1"/>
                </a:solidFill>
                <a:latin typeface="Arial" charset="0"/>
                <a:ea typeface="+mn-ea"/>
              </a:defRPr>
            </a:lvl4pPr>
            <a:lvl5pPr marL="20701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Arial" charset="0"/>
                <a:ea typeface="+mn-ea"/>
              </a:defRPr>
            </a:lvl5pPr>
            <a:lvl6pPr marL="25273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itchFamily="2" charset="2"/>
              <a:buChar char="n"/>
              <a:defRPr sz="1600">
                <a:solidFill>
                  <a:schemeClr val="tx1"/>
                </a:solidFill>
                <a:latin typeface="+mn-lt"/>
                <a:ea typeface="+mn-ea"/>
              </a:defRPr>
            </a:lvl9pPr>
          </a:lstStyle>
          <a:p>
            <a:r>
              <a:rPr lang="en-US" altLang="zh-CN" dirty="0" smtClean="0"/>
              <a:t>Web Service</a:t>
            </a:r>
            <a:endParaRPr lang="zh-CN" altLang="en-US"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7" y="2124881"/>
            <a:ext cx="2505299" cy="16627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6" name="Picture 2" descr="http://seg.nju.edu.cn/BACH/images/singleP-Ch.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58" y="4149080"/>
            <a:ext cx="1488778" cy="1649749"/>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2" descr="http://seg.nju.edu.cn/BACH/images/singleB-Ch.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55776" y="4144529"/>
            <a:ext cx="1368152" cy="1699740"/>
          </a:xfrm>
          <a:prstGeom prst="rect">
            <a:avLst/>
          </a:prstGeom>
          <a:noFill/>
          <a:extLst>
            <a:ext uri="{909E8E84-426E-40dd-AFC4-6F175D3DCCD1}">
              <a14:hiddenFill xmlns:a14="http://schemas.microsoft.com/office/drawing/2010/main" xmlns="">
                <a:solidFill>
                  <a:srgbClr val="FFFFFF"/>
                </a:solidFill>
              </a14:hiddenFill>
            </a:ext>
          </a:extLst>
        </p:spPr>
      </p:pic>
      <p:pic>
        <p:nvPicPr>
          <p:cNvPr id="8" name="Picture 5" descr="C:\Users\Ray\Desktop\截图\path.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76056" y="4149080"/>
            <a:ext cx="2808312" cy="1755195"/>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6" descr="C:\Users\Ray\Desktop\截图\bounded2.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91724" y="2132856"/>
            <a:ext cx="2834165" cy="1771353"/>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TextBox 9"/>
          <p:cNvSpPr txBox="1"/>
          <p:nvPr/>
        </p:nvSpPr>
        <p:spPr>
          <a:xfrm>
            <a:off x="1883395" y="6228020"/>
            <a:ext cx="6000973" cy="369332"/>
          </a:xfrm>
          <a:prstGeom prst="rect">
            <a:avLst/>
          </a:prstGeom>
          <a:noFill/>
        </p:spPr>
        <p:txBody>
          <a:bodyPr wrap="square" rtlCol="0">
            <a:spAutoFit/>
          </a:bodyPr>
          <a:lstStyle/>
          <a:p>
            <a:r>
              <a:rPr lang="zh-CN" altLang="en-US" dirty="0"/>
              <a:t>公开</a:t>
            </a:r>
            <a:r>
              <a:rPr lang="zh-CN" altLang="en-US" dirty="0" smtClean="0"/>
              <a:t>发布，国际下载（</a:t>
            </a:r>
            <a:r>
              <a:rPr lang="en-US" altLang="zh-CN" dirty="0" smtClean="0"/>
              <a:t>CMU,UIUC,UCB,UBC…</a:t>
            </a:r>
            <a:r>
              <a:rPr lang="zh-CN" altLang="en-US" dirty="0" smtClean="0"/>
              <a:t>）</a:t>
            </a:r>
            <a:endParaRPr lang="zh-CN" altLang="en-US" dirty="0"/>
          </a:p>
        </p:txBody>
      </p:sp>
    </p:spTree>
    <p:extLst>
      <p:ext uri="{BB962C8B-B14F-4D97-AF65-F5344CB8AC3E}">
        <p14:creationId xmlns:p14="http://schemas.microsoft.com/office/powerpoint/2010/main" val="259603079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itchFamily="18" charset="0"/>
                <a:cs typeface="Times New Roman" pitchFamily="18" charset="0"/>
              </a:rPr>
              <a:t>CPS</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lstStyle/>
          <a:p>
            <a:r>
              <a:rPr lang="en-US" altLang="zh-CN" dirty="0" smtClean="0">
                <a:latin typeface="Times New Roman" pitchFamily="18" charset="0"/>
                <a:cs typeface="Times New Roman" pitchFamily="18" charset="0"/>
              </a:rPr>
              <a:t>Cyber-Physical System</a:t>
            </a:r>
          </a:p>
          <a:p>
            <a:pPr marL="852488" lvl="2" indent="-447675"/>
            <a:r>
              <a:rPr lang="zh-CN" altLang="en-US" sz="2800" dirty="0"/>
              <a:t>动态环境、外界信号、大规模组合混成系统</a:t>
            </a:r>
            <a:endParaRPr lang="en-US" altLang="zh-CN" sz="2800" dirty="0"/>
          </a:p>
          <a:p>
            <a:pPr marL="0" indent="0">
              <a:buNone/>
            </a:pPr>
            <a:endParaRPr lang="en-US" altLang="zh-CN" dirty="0" smtClean="0">
              <a:latin typeface="Times New Roman" pitchFamily="18" charset="0"/>
              <a:cs typeface="Times New Roman" pitchFamily="18" charset="0"/>
            </a:endParaRPr>
          </a:p>
          <a:p>
            <a:r>
              <a:rPr lang="zh-CN" altLang="en-US" dirty="0" smtClean="0">
                <a:latin typeface="Times New Roman" pitchFamily="18" charset="0"/>
                <a:cs typeface="Times New Roman" pitchFamily="18" charset="0"/>
              </a:rPr>
              <a:t>安全攸关系统</a:t>
            </a:r>
            <a:endParaRPr lang="en-US" altLang="zh-CN" dirty="0">
              <a:latin typeface="Times New Roman" pitchFamily="18" charset="0"/>
              <a:cs typeface="Times New Roman" pitchFamily="18" charset="0"/>
            </a:endParaRPr>
          </a:p>
          <a:p>
            <a:endParaRPr lang="en-US" altLang="zh-CN" dirty="0" smtClean="0">
              <a:latin typeface="Times New Roman" pitchFamily="18" charset="0"/>
              <a:cs typeface="Times New Roman" pitchFamily="18" charset="0"/>
            </a:endParaRPr>
          </a:p>
          <a:p>
            <a:endParaRPr lang="en-US" altLang="zh-CN" dirty="0">
              <a:latin typeface="Times New Roman" pitchFamily="18" charset="0"/>
              <a:cs typeface="Times New Roman" pitchFamily="18" charset="0"/>
            </a:endParaRPr>
          </a:p>
          <a:p>
            <a:endParaRPr lang="en-US" altLang="zh-CN" dirty="0" smtClean="0">
              <a:latin typeface="Times New Roman" pitchFamily="18" charset="0"/>
              <a:cs typeface="Times New Roman" pitchFamily="18" charset="0"/>
            </a:endParaRPr>
          </a:p>
          <a:p>
            <a:endParaRPr lang="en-US" altLang="zh-CN" dirty="0" smtClean="0">
              <a:latin typeface="Times New Roman" pitchFamily="18" charset="0"/>
              <a:cs typeface="Times New Roman" pitchFamily="18" charset="0"/>
            </a:endParaRPr>
          </a:p>
          <a:p>
            <a:r>
              <a:rPr lang="zh-CN" altLang="en-US" dirty="0" smtClean="0">
                <a:latin typeface="Times New Roman" pitchFamily="18" charset="0"/>
                <a:cs typeface="Times New Roman" pitchFamily="18" charset="0"/>
              </a:rPr>
              <a:t>需要验证！</a:t>
            </a:r>
            <a:endParaRPr lang="zh-CN" altLang="en-US" dirty="0">
              <a:latin typeface="Times New Roman" pitchFamily="18" charset="0"/>
              <a:cs typeface="Times New Roman" pitchFamily="18" charset="0"/>
            </a:endParaRPr>
          </a:p>
        </p:txBody>
      </p:sp>
      <p:pic>
        <p:nvPicPr>
          <p:cNvPr id="4" name="Picture 4" descr="C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260648"/>
            <a:ext cx="2453036" cy="13681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6" descr="xin_3706060809162612482823"/>
          <p:cNvPicPr>
            <a:picLocks noChangeAspect="1" noChangeArrowheads="1"/>
          </p:cNvPicPr>
          <p:nvPr/>
        </p:nvPicPr>
        <p:blipFill>
          <a:blip r:embed="rId3" cstate="print"/>
          <a:srcRect/>
          <a:stretch>
            <a:fillRect/>
          </a:stretch>
        </p:blipFill>
        <p:spPr bwMode="auto">
          <a:xfrm>
            <a:off x="323528" y="3672408"/>
            <a:ext cx="2872827" cy="1732076"/>
          </a:xfrm>
          <a:prstGeom prst="rect">
            <a:avLst/>
          </a:prstGeom>
          <a:ln>
            <a:noFill/>
          </a:ln>
          <a:effectLst>
            <a:softEdge rad="112500"/>
          </a:effectLst>
        </p:spPr>
      </p:pic>
      <p:pic>
        <p:nvPicPr>
          <p:cNvPr id="6" name="Picture 1" descr="D:\科研项目\863-CPS重点项目\月球车\12.jpg"/>
          <p:cNvPicPr>
            <a:picLocks noChangeAspect="1" noChangeArrowheads="1"/>
          </p:cNvPicPr>
          <p:nvPr/>
        </p:nvPicPr>
        <p:blipFill>
          <a:blip r:embed="rId4" cstate="print">
            <a:extLst/>
          </a:blip>
          <a:srcRect/>
          <a:stretch>
            <a:fillRect/>
          </a:stretch>
        </p:blipFill>
        <p:spPr bwMode="auto">
          <a:xfrm>
            <a:off x="6105810" y="3652038"/>
            <a:ext cx="3024336" cy="1772816"/>
          </a:xfrm>
          <a:prstGeom prst="rect">
            <a:avLst/>
          </a:prstGeom>
          <a:ln>
            <a:noFill/>
          </a:ln>
          <a:effectLst>
            <a:softEdge rad="112500"/>
          </a:effectLst>
          <a:extLst/>
        </p:spPr>
      </p:pic>
      <p:pic>
        <p:nvPicPr>
          <p:cNvPr id="1026" name="Picture 2" descr="http://www.thomasgroup.com/getfile/94f8ca18-3283-4f82-a7d7-ba1135abd0e8/medical-equipment.aspx"/>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880" y="3616927"/>
            <a:ext cx="2304256" cy="1728192"/>
          </a:xfrm>
          <a:prstGeom prst="rect">
            <a:avLst/>
          </a:prstGeom>
          <a:noFill/>
          <a:effectLst>
            <a:softEdge rad="101600"/>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04460192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itchFamily="18" charset="0"/>
                <a:cs typeface="Times New Roman" pitchFamily="18" charset="0"/>
              </a:rPr>
              <a:t>示例</a:t>
            </a:r>
            <a:r>
              <a:rPr lang="zh-CN" altLang="en-US" dirty="0" smtClean="0">
                <a:latin typeface="Times New Roman" pitchFamily="18" charset="0"/>
                <a:cs typeface="Times New Roman" pitchFamily="18" charset="0"/>
              </a:rPr>
              <a:t>系统一</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a:xfrm>
            <a:off x="468313" y="1268760"/>
            <a:ext cx="8142287" cy="4392612"/>
          </a:xfrm>
        </p:spPr>
        <p:txBody>
          <a:bodyPr/>
          <a:lstStyle/>
          <a:p>
            <a:r>
              <a:rPr lang="zh-CN" altLang="en-US" dirty="0">
                <a:latin typeface="Times New Roman" pitchFamily="18" charset="0"/>
                <a:cs typeface="Times New Roman" pitchFamily="18" charset="0"/>
              </a:rPr>
              <a:t>南</a:t>
            </a:r>
            <a:r>
              <a:rPr lang="zh-CN" altLang="en-US" dirty="0" smtClean="0">
                <a:latin typeface="Times New Roman" pitchFamily="18" charset="0"/>
                <a:cs typeface="Times New Roman" pitchFamily="18" charset="0"/>
              </a:rPr>
              <a:t>方某市在建</a:t>
            </a:r>
            <a:r>
              <a:rPr lang="en-US" altLang="zh-CN" dirty="0" smtClean="0">
                <a:latin typeface="Times New Roman" pitchFamily="18" charset="0"/>
                <a:cs typeface="Times New Roman" pitchFamily="18" charset="0"/>
              </a:rPr>
              <a:t>CBTC</a:t>
            </a:r>
            <a:r>
              <a:rPr lang="zh-CN" altLang="en-US" dirty="0" smtClean="0">
                <a:latin typeface="Times New Roman" pitchFamily="18" charset="0"/>
                <a:cs typeface="Times New Roman" pitchFamily="18" charset="0"/>
              </a:rPr>
              <a:t>列控系统</a:t>
            </a:r>
            <a:endParaRPr lang="en-US" altLang="zh-CN" dirty="0">
              <a:latin typeface="Times New Roman" pitchFamily="18" charset="0"/>
              <a:cs typeface="Times New Roman" pitchFamily="18" charset="0"/>
            </a:endParaRPr>
          </a:p>
          <a:p>
            <a:endParaRPr lang="en-US" altLang="zh-CN" dirty="0" smtClean="0">
              <a:latin typeface="Times New Roman" pitchFamily="18" charset="0"/>
              <a:cs typeface="Times New Roman" pitchFamily="18" charset="0"/>
            </a:endParaRPr>
          </a:p>
          <a:p>
            <a:endParaRPr lang="en-US" altLang="zh-CN" dirty="0" smtClean="0">
              <a:latin typeface="Times New Roman" pitchFamily="18" charset="0"/>
              <a:cs typeface="Times New Roman" pitchFamily="18" charset="0"/>
            </a:endParaRPr>
          </a:p>
          <a:p>
            <a:endParaRPr lang="en-US" altLang="zh-CN" dirty="0">
              <a:latin typeface="Times New Roman" pitchFamily="18" charset="0"/>
              <a:cs typeface="Times New Roman" pitchFamily="18" charset="0"/>
            </a:endParaRPr>
          </a:p>
          <a:p>
            <a:pPr marL="449262" lvl="1" indent="0">
              <a:buNone/>
            </a:pPr>
            <a:endParaRPr lang="en-US" altLang="zh-CN" dirty="0">
              <a:latin typeface="Times New Roman" pitchFamily="18" charset="0"/>
              <a:cs typeface="Times New Roman" pitchFamily="18" charset="0"/>
            </a:endParaRPr>
          </a:p>
          <a:p>
            <a:pPr lvl="1"/>
            <a:r>
              <a:rPr lang="zh-CN" altLang="en-US" dirty="0" smtClean="0">
                <a:latin typeface="Times New Roman" pitchFamily="18" charset="0"/>
                <a:cs typeface="Times New Roman" pitchFamily="18" charset="0"/>
              </a:rPr>
              <a:t>列车与</a:t>
            </a:r>
            <a:r>
              <a:rPr lang="en-US" altLang="zh-CN" dirty="0" smtClean="0">
                <a:latin typeface="Times New Roman" pitchFamily="18" charset="0"/>
                <a:cs typeface="Times New Roman" pitchFamily="18" charset="0"/>
              </a:rPr>
              <a:t>RBC</a:t>
            </a:r>
            <a:r>
              <a:rPr lang="zh-CN" altLang="en-US" dirty="0" smtClean="0">
                <a:latin typeface="Times New Roman" pitchFamily="18" charset="0"/>
                <a:cs typeface="Times New Roman" pitchFamily="18" charset="0"/>
              </a:rPr>
              <a:t>频繁通信获取下一周期移动授权</a:t>
            </a:r>
            <a:r>
              <a:rPr lang="en-US" altLang="zh-CN" dirty="0" smtClean="0">
                <a:latin typeface="Times New Roman" pitchFamily="18" charset="0"/>
                <a:cs typeface="Times New Roman" pitchFamily="18" charset="0"/>
              </a:rPr>
              <a:t>500ms</a:t>
            </a:r>
            <a:r>
              <a:rPr lang="en-US" altLang="zh-CN" dirty="0">
                <a:latin typeface="Times New Roman" pitchFamily="18" charset="0"/>
                <a:cs typeface="Times New Roman" pitchFamily="18" charset="0"/>
              </a:rPr>
              <a:t>.</a:t>
            </a:r>
          </a:p>
          <a:p>
            <a:pPr lvl="1"/>
            <a:r>
              <a:rPr lang="zh-CN" altLang="en-US" dirty="0" smtClean="0">
                <a:latin typeface="Times New Roman" pitchFamily="18" charset="0"/>
                <a:cs typeface="Times New Roman" pitchFamily="18" charset="0"/>
              </a:rPr>
              <a:t>行进至安全刹车点，正常制动</a:t>
            </a:r>
            <a:r>
              <a:rPr lang="en-US" altLang="zh-CN" dirty="0" smtClean="0">
                <a:latin typeface="Times New Roman" pitchFamily="18" charset="0"/>
                <a:cs typeface="Times New Roman" pitchFamily="18" charset="0"/>
              </a:rPr>
              <a:t>.</a:t>
            </a:r>
            <a:endParaRPr lang="en-US" altLang="zh-CN" dirty="0">
              <a:latin typeface="Times New Roman" pitchFamily="18" charset="0"/>
              <a:cs typeface="Times New Roman" pitchFamily="18" charset="0"/>
            </a:endParaRPr>
          </a:p>
          <a:p>
            <a:pPr lvl="1"/>
            <a:r>
              <a:rPr lang="en-US" altLang="zh-CN" dirty="0" smtClean="0">
                <a:latin typeface="Times New Roman" pitchFamily="18" charset="0"/>
                <a:cs typeface="Times New Roman" pitchFamily="18" charset="0"/>
              </a:rPr>
              <a:t>5</a:t>
            </a:r>
            <a:r>
              <a:rPr lang="zh-CN" altLang="en-US" dirty="0" smtClean="0">
                <a:latin typeface="Times New Roman" pitchFamily="18" charset="0"/>
                <a:cs typeface="Times New Roman" pitchFamily="18" charset="0"/>
              </a:rPr>
              <a:t>秒未收到信号，紧急制动</a:t>
            </a:r>
            <a:endParaRPr lang="en-US" altLang="zh-CN" dirty="0">
              <a:latin typeface="Times New Roman" pitchFamily="18" charset="0"/>
              <a:cs typeface="Times New Roman" pitchFamily="18" charset="0"/>
            </a:endParaRPr>
          </a:p>
          <a:p>
            <a:r>
              <a:rPr lang="zh-CN" altLang="en-US" dirty="0" smtClean="0">
                <a:latin typeface="Times New Roman" pitchFamily="18" charset="0"/>
                <a:cs typeface="Times New Roman" pitchFamily="18" charset="0"/>
              </a:rPr>
              <a:t>行为规</a:t>
            </a:r>
            <a:r>
              <a:rPr lang="zh-CN" altLang="en-US" dirty="0">
                <a:latin typeface="Times New Roman" pitchFamily="18" charset="0"/>
                <a:cs typeface="Times New Roman" pitchFamily="18" charset="0"/>
              </a:rPr>
              <a:t>约</a:t>
            </a:r>
            <a:endParaRPr lang="en-US" altLang="zh-CN" dirty="0" smtClean="0">
              <a:latin typeface="Times New Roman" pitchFamily="18" charset="0"/>
              <a:cs typeface="Times New Roman" pitchFamily="18" charset="0"/>
            </a:endParaRPr>
          </a:p>
          <a:p>
            <a:pPr lvl="1"/>
            <a:r>
              <a:rPr lang="zh-CN" altLang="en-US" dirty="0">
                <a:latin typeface="Times New Roman" pitchFamily="18" charset="0"/>
                <a:cs typeface="Times New Roman" pitchFamily="18" charset="0"/>
              </a:rPr>
              <a:t>运</a:t>
            </a:r>
            <a:r>
              <a:rPr lang="zh-CN" altLang="en-US" dirty="0" smtClean="0">
                <a:latin typeface="Times New Roman" pitchFamily="18" charset="0"/>
                <a:cs typeface="Times New Roman" pitchFamily="18" charset="0"/>
              </a:rPr>
              <a:t>行过程中不可超出移动授权范围</a:t>
            </a:r>
            <a:endParaRPr lang="en-US" altLang="zh-CN" dirty="0" smtClean="0">
              <a:latin typeface="Times New Roman" pitchFamily="18" charset="0"/>
              <a:cs typeface="Times New Roman" pitchFamily="18" charset="0"/>
            </a:endParaRPr>
          </a:p>
          <a:p>
            <a:pPr lvl="1"/>
            <a:r>
              <a:rPr lang="zh-CN" altLang="en-US" dirty="0" smtClean="0">
                <a:latin typeface="Times New Roman" pitchFamily="18" charset="0"/>
                <a:cs typeface="Times New Roman" pitchFamily="18" charset="0"/>
              </a:rPr>
              <a:t>前后车不会追尾</a:t>
            </a:r>
            <a:endParaRPr lang="en-US" altLang="zh-CN" dirty="0">
              <a:latin typeface="Times New Roman" pitchFamily="18" charset="0"/>
              <a:cs typeface="Times New Roman" pitchFamily="18" charset="0"/>
            </a:endParaRPr>
          </a:p>
          <a:p>
            <a:endParaRPr lang="zh-CN" altLang="en-US" dirty="0">
              <a:latin typeface="Times New Roman" pitchFamily="18" charset="0"/>
              <a:cs typeface="Times New Roman" pitchFamily="18" charset="0"/>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2200" y="5157192"/>
            <a:ext cx="1993099" cy="1392947"/>
          </a:xfrm>
          <a:prstGeom prst="rect">
            <a:avLst/>
          </a:prstGeom>
        </p:spPr>
      </p:pic>
      <p:pic>
        <p:nvPicPr>
          <p:cNvPr id="18433" name="ShockwaveFlash2"/>
          <p:cNvPicPr preferRelativeResize="0">
            <a:picLocks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773238"/>
            <a:ext cx="5761038" cy="1944687"/>
          </a:xfrm>
          <a:prstGeom prst="rect">
            <a:avLst/>
          </a:prstGeom>
          <a:noFill/>
          <a:ln>
            <a:noFill/>
          </a:ln>
          <a:effectLst/>
          <a:extLst>
            <a:ext uri="{909E8E84-426E-40dd-AFC4-6F175D3DCCD1}">
              <a14:hiddenFill xmlns:a14="http://schemas.microsoft.com/office/drawing/2010/main" xmlns="">
                <a:noFill/>
              </a14:hiddenFill>
            </a:ext>
            <a:ext uri="{91240B29-F687-4f45-9708-019B960494DF}">
              <a14:hiddenLine xmlns:a14="http://schemas.microsoft.com/office/drawing/2010/main" xmlns="" w="9525">
                <a:no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0518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示例系统二</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68313" y="1340768"/>
                <a:ext cx="8142287" cy="4392612"/>
              </a:xfrm>
            </p:spPr>
            <p:txBody>
              <a:bodyPr/>
              <a:lstStyle/>
              <a:p>
                <a:r>
                  <a:rPr lang="zh-CN" altLang="en-US" dirty="0" smtClean="0">
                    <a:latin typeface="Times New Roman" pitchFamily="18" charset="0"/>
                    <a:cs typeface="Times New Roman" pitchFamily="18" charset="0"/>
                  </a:rPr>
                  <a:t>激光刀气管切开手术系统</a:t>
                </a:r>
                <a:endParaRPr lang="en-US" altLang="zh-CN" dirty="0" smtClean="0">
                  <a:latin typeface="Times New Roman" pitchFamily="18" charset="0"/>
                  <a:cs typeface="Times New Roman" pitchFamily="18" charset="0"/>
                </a:endParaRPr>
              </a:p>
              <a:p>
                <a:pPr lvl="1"/>
                <a:r>
                  <a:rPr lang="zh-CN" altLang="en-US" dirty="0" smtClean="0">
                    <a:latin typeface="Times New Roman" pitchFamily="18" charset="0"/>
                    <a:cs typeface="Times New Roman" pitchFamily="18" charset="0"/>
                  </a:rPr>
                  <a:t>呼吸机向病人气管中泵入氧气 </a:t>
                </a:r>
                <a:endParaRPr lang="en-US" altLang="zh-CN" dirty="0" smtClean="0">
                  <a:latin typeface="Times New Roman" pitchFamily="18" charset="0"/>
                  <a:cs typeface="Times New Roman" pitchFamily="18" charset="0"/>
                </a:endParaRPr>
              </a:p>
              <a:p>
                <a:pPr lvl="1"/>
                <a:r>
                  <a:rPr lang="zh-CN" altLang="en-US" dirty="0" smtClean="0">
                    <a:latin typeface="Times New Roman" pitchFamily="18" charset="0"/>
                    <a:cs typeface="Times New Roman" pitchFamily="18" charset="0"/>
                  </a:rPr>
                  <a:t>气管氧气浓度</a:t>
                </a:r>
                <a14:m>
                  <m:oMath xmlns:m="http://schemas.openxmlformats.org/officeDocument/2006/math">
                    <m:r>
                      <a:rPr lang="zh-CN" altLang="en-US" b="0" i="1" smtClean="0">
                        <a:latin typeface="Cambria Math"/>
                        <a:sym typeface="Wingdings" pitchFamily="2" charset="2"/>
                      </a:rPr>
                      <m:t>（</m:t>
                    </m:r>
                    <m:sSub>
                      <m:sSubPr>
                        <m:ctrlPr>
                          <a:rPr lang="en-US" altLang="zh-CN" i="1">
                            <a:latin typeface="Cambria Math" charset="0"/>
                            <a:sym typeface="Wingdings" pitchFamily="2" charset="2"/>
                          </a:rPr>
                        </m:ctrlPr>
                      </m:sSubPr>
                      <m:e>
                        <m:r>
                          <a:rPr lang="en-US" altLang="zh-CN" i="1">
                            <a:latin typeface="Cambria Math"/>
                            <a:sym typeface="Wingdings" pitchFamily="2" charset="2"/>
                          </a:rPr>
                          <m:t>𝑂</m:t>
                        </m:r>
                      </m:e>
                      <m:sub>
                        <m:r>
                          <a:rPr lang="en-US" altLang="zh-CN" i="1">
                            <a:latin typeface="Cambria Math"/>
                            <a:sym typeface="Wingdings" pitchFamily="2" charset="2"/>
                          </a:rPr>
                          <m:t>2</m:t>
                        </m:r>
                      </m:sub>
                    </m:sSub>
                    <m:r>
                      <a:rPr lang="zh-CN" altLang="en-US" b="0" i="1" smtClean="0">
                        <a:latin typeface="Cambria Math"/>
                        <a:sym typeface="Wingdings" pitchFamily="2" charset="2"/>
                      </a:rPr>
                      <m:t>）</m:t>
                    </m:r>
                  </m:oMath>
                </a14:m>
                <a:r>
                  <a:rPr lang="zh-CN" altLang="en-US" dirty="0" smtClean="0">
                    <a:latin typeface="Times New Roman" pitchFamily="18" charset="0"/>
                    <a:cs typeface="Times New Roman" pitchFamily="18" charset="0"/>
                  </a:rPr>
                  <a:t>、体内血氧浓度（</a:t>
                </a:r>
                <a14:m>
                  <m:oMath xmlns:m="http://schemas.openxmlformats.org/officeDocument/2006/math">
                    <m:sSub>
                      <m:sSubPr>
                        <m:ctrlPr>
                          <a:rPr lang="en-US" altLang="zh-CN" i="1">
                            <a:latin typeface="Cambria Math" charset="0"/>
                            <a:sym typeface="Wingdings" pitchFamily="2" charset="2"/>
                          </a:rPr>
                        </m:ctrlPr>
                      </m:sSubPr>
                      <m:e>
                        <m:r>
                          <a:rPr lang="en-US" altLang="zh-CN" i="1" smtClean="0">
                            <a:latin typeface="Cambria Math"/>
                            <a:sym typeface="Wingdings" pitchFamily="2" charset="2"/>
                          </a:rPr>
                          <m:t>𝑆𝑝</m:t>
                        </m:r>
                        <m:r>
                          <a:rPr lang="en-US" altLang="zh-CN" i="1">
                            <a:latin typeface="Cambria Math"/>
                            <a:sym typeface="Wingdings" pitchFamily="2" charset="2"/>
                          </a:rPr>
                          <m:t>𝑂</m:t>
                        </m:r>
                      </m:e>
                      <m:sub>
                        <m:r>
                          <a:rPr lang="en-US" altLang="zh-CN" i="1">
                            <a:latin typeface="Cambria Math"/>
                            <a:sym typeface="Wingdings" pitchFamily="2" charset="2"/>
                          </a:rPr>
                          <m:t>2</m:t>
                        </m:r>
                      </m:sub>
                    </m:sSub>
                  </m:oMath>
                </a14:m>
                <a:r>
                  <a:rPr lang="zh-CN" altLang="en-US" dirty="0" smtClean="0">
                    <a:latin typeface="Times New Roman" pitchFamily="18" charset="0"/>
                    <a:cs typeface="Times New Roman" pitchFamily="18" charset="0"/>
                  </a:rPr>
                  <a:t>）监测器实时监控病人体征 </a:t>
                </a:r>
                <a:r>
                  <a:rPr lang="en-US" altLang="zh-CN" dirty="0" smtClean="0">
                    <a:latin typeface="Times New Roman" pitchFamily="18" charset="0"/>
                    <a:cs typeface="Times New Roman" pitchFamily="18" charset="0"/>
                  </a:rPr>
                  <a:t>(4</a:t>
                </a:r>
                <a:r>
                  <a:rPr lang="zh-CN" altLang="en-US" dirty="0" smtClean="0">
                    <a:latin typeface="Times New Roman" pitchFamily="18" charset="0"/>
                    <a:cs typeface="Times New Roman" pitchFamily="18" charset="0"/>
                  </a:rPr>
                  <a:t>秒一次</a:t>
                </a:r>
                <a:r>
                  <a:rPr lang="en-US" altLang="zh-CN" dirty="0" smtClean="0">
                    <a:latin typeface="Times New Roman" pitchFamily="18" charset="0"/>
                    <a:cs typeface="Times New Roman" pitchFamily="18" charset="0"/>
                  </a:rPr>
                  <a:t>)</a:t>
                </a:r>
              </a:p>
              <a:p>
                <a:pPr marL="0" indent="0">
                  <a:buNone/>
                </a:pPr>
                <a:endParaRPr lang="en-US" altLang="zh-CN" dirty="0">
                  <a:latin typeface="Times New Roman" pitchFamily="18" charset="0"/>
                  <a:cs typeface="Times New Roman" pitchFamily="18" charset="0"/>
                </a:endParaRPr>
              </a:p>
              <a:p>
                <a:endParaRPr lang="en-US" altLang="zh-CN" dirty="0" smtClean="0">
                  <a:latin typeface="Times New Roman" pitchFamily="18" charset="0"/>
                  <a:cs typeface="Times New Roman" pitchFamily="18" charset="0"/>
                </a:endParaRPr>
              </a:p>
              <a:p>
                <a:endParaRPr lang="en-US" altLang="zh-CN" dirty="0">
                  <a:latin typeface="Times New Roman" pitchFamily="18" charset="0"/>
                  <a:cs typeface="Times New Roman" pitchFamily="18" charset="0"/>
                </a:endParaRPr>
              </a:p>
              <a:p>
                <a:endParaRPr lang="en-US" altLang="zh-CN" dirty="0" smtClean="0">
                  <a:latin typeface="Times New Roman" pitchFamily="18" charset="0"/>
                  <a:cs typeface="Times New Roman" pitchFamily="18" charset="0"/>
                </a:endParaRPr>
              </a:p>
              <a:p>
                <a:r>
                  <a:rPr lang="zh-CN" altLang="en-US" dirty="0" smtClean="0">
                    <a:latin typeface="Times New Roman" pitchFamily="18" charset="0"/>
                    <a:cs typeface="Times New Roman" pitchFamily="18" charset="0"/>
                  </a:rPr>
                  <a:t>行为规约</a:t>
                </a:r>
                <a:endParaRPr lang="en-US" altLang="zh-CN" dirty="0" smtClean="0">
                  <a:latin typeface="Times New Roman" pitchFamily="18" charset="0"/>
                  <a:cs typeface="Times New Roman" pitchFamily="18" charset="0"/>
                </a:endParaRPr>
              </a:p>
              <a:p>
                <a:pPr lvl="1"/>
                <a:r>
                  <a:rPr lang="zh-CN" altLang="en-US" dirty="0">
                    <a:latin typeface="Times New Roman" pitchFamily="18" charset="0"/>
                    <a:cs typeface="Times New Roman" pitchFamily="18" charset="0"/>
                  </a:rPr>
                  <a:t>激</a:t>
                </a:r>
                <a:r>
                  <a:rPr lang="zh-CN" altLang="en-US" dirty="0" smtClean="0">
                    <a:latin typeface="Times New Roman" pitchFamily="18" charset="0"/>
                    <a:cs typeface="Times New Roman" pitchFamily="18" charset="0"/>
                  </a:rPr>
                  <a:t>光刀打开时气管中氧气浓度不可过高（</a:t>
                </a:r>
                <a:r>
                  <a:rPr lang="zh-CN" altLang="en-US" dirty="0" smtClean="0">
                    <a:solidFill>
                      <a:srgbClr val="FF0000"/>
                    </a:solidFill>
                    <a:latin typeface="Times New Roman" pitchFamily="18" charset="0"/>
                    <a:cs typeface="Times New Roman" pitchFamily="18" charset="0"/>
                  </a:rPr>
                  <a:t>点燃气管</a:t>
                </a:r>
                <a:r>
                  <a:rPr lang="zh-CN" altLang="en-US" dirty="0" smtClean="0">
                    <a:latin typeface="Times New Roman" pitchFamily="18" charset="0"/>
                    <a:cs typeface="Times New Roman" pitchFamily="18" charset="0"/>
                  </a:rPr>
                  <a:t>，每年各国均有大量相关致死案例报道）</a:t>
                </a:r>
                <a:endParaRPr lang="en-US" altLang="zh-CN" dirty="0" smtClean="0">
                  <a:latin typeface="Times New Roman" pitchFamily="18" charset="0"/>
                  <a:cs typeface="Times New Roman" pitchFamily="18" charset="0"/>
                </a:endParaRPr>
              </a:p>
              <a:p>
                <a:pPr lvl="1"/>
                <a:r>
                  <a:rPr lang="zh-CN" altLang="en-US" dirty="0">
                    <a:latin typeface="Times New Roman" pitchFamily="18" charset="0"/>
                    <a:cs typeface="Times New Roman" pitchFamily="18" charset="0"/>
                  </a:rPr>
                  <a:t>手</a:t>
                </a:r>
                <a:r>
                  <a:rPr lang="zh-CN" altLang="en-US" dirty="0" smtClean="0">
                    <a:latin typeface="Times New Roman" pitchFamily="18" charset="0"/>
                    <a:cs typeface="Times New Roman" pitchFamily="18" charset="0"/>
                  </a:rPr>
                  <a:t>术中病人体内血氧浓度不能过低（</a:t>
                </a:r>
                <a:r>
                  <a:rPr lang="zh-CN" altLang="en-US" dirty="0" smtClean="0">
                    <a:solidFill>
                      <a:srgbClr val="FF0000"/>
                    </a:solidFill>
                    <a:latin typeface="Times New Roman" pitchFamily="18" charset="0"/>
                    <a:cs typeface="Times New Roman" pitchFamily="18" charset="0"/>
                  </a:rPr>
                  <a:t>窒息死亡</a:t>
                </a:r>
                <a:r>
                  <a:rPr lang="zh-CN" altLang="en-US" dirty="0" smtClean="0">
                    <a:latin typeface="Times New Roman" pitchFamily="18" charset="0"/>
                    <a:cs typeface="Times New Roman" pitchFamily="18" charset="0"/>
                  </a:rPr>
                  <a:t>）</a:t>
                </a:r>
                <a:r>
                  <a:rPr lang="en-US" altLang="zh-CN" dirty="0" smtClean="0">
                    <a:latin typeface="Times New Roman" pitchFamily="18" charset="0"/>
                    <a:cs typeface="Times New Roman" pitchFamily="18" charset="0"/>
                  </a:rPr>
                  <a:t> </a:t>
                </a:r>
                <a:endParaRPr lang="en-US" altLang="zh-CN" dirty="0">
                  <a:latin typeface="Times New Roman" pitchFamily="18" charset="0"/>
                  <a:cs typeface="Times New Roman" pitchFamily="18" charset="0"/>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68313" y="1340768"/>
                <a:ext cx="8142287" cy="4392612"/>
              </a:xfrm>
              <a:blipFill rotWithShape="1">
                <a:blip r:embed="rId2"/>
                <a:stretch>
                  <a:fillRect l="-674" t="-1803" r="-374" b="-29404"/>
                </a:stretch>
              </a:blipFill>
            </p:spPr>
            <p:txBody>
              <a:bodyPr/>
              <a:lstStyle/>
              <a:p>
                <a:r>
                  <a:rPr lang="zh-CN" altLang="en-US">
                    <a:noFill/>
                  </a:rPr>
                  <a:t> </a:t>
                </a:r>
              </a:p>
            </p:txBody>
          </p:sp>
        </mc:Fallback>
      </mc:AlternateContent>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3068960"/>
            <a:ext cx="2880320" cy="21147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3501008"/>
            <a:ext cx="2412599" cy="1544203"/>
          </a:xfrm>
          <a:prstGeom prst="rect">
            <a:avLst/>
          </a:prstGeom>
          <a:noFill/>
          <a:ln>
            <a:noFill/>
          </a:ln>
          <a:effectLst/>
          <a:extLst>
            <a:ext uri="{909E8E84-426E-40dd-AFC4-6F175D3DCCD1}">
              <a14:hiddenFill xmlns:a14="http://schemas.microsoft.com/office/drawing/2010/main" xmlns="">
                <a:blipFill dpi="0" rotWithShape="0">
                  <a:blip/>
                  <a:srcRect/>
                  <a:stretch>
                    <a:fillRect/>
                  </a:stretch>
                </a:blipFill>
              </a14:hiddenFill>
            </a:ext>
            <a:ext uri="{91240B29-F687-4f45-9708-019B960494DF}">
              <a14:hiddenLine xmlns:a14="http://schemas.microsoft.com/office/drawing/2010/main" xmlns="" w="9525">
                <a:solidFill>
                  <a:srgbClr val="000000"/>
                </a:solidFill>
                <a:round/>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spTree>
    <p:extLst>
      <p:ext uri="{BB962C8B-B14F-4D97-AF65-F5344CB8AC3E}">
        <p14:creationId xmlns:p14="http://schemas.microsoft.com/office/powerpoint/2010/main" val="24772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建模与验证</a:t>
            </a:r>
            <a:endParaRPr lang="zh-CN" altLang="en-US" dirty="0"/>
          </a:p>
        </p:txBody>
      </p:sp>
      <p:sp>
        <p:nvSpPr>
          <p:cNvPr id="3" name="内容占位符 2"/>
          <p:cNvSpPr>
            <a:spLocks noGrp="1"/>
          </p:cNvSpPr>
          <p:nvPr>
            <p:ph idx="1"/>
          </p:nvPr>
        </p:nvSpPr>
        <p:spPr/>
        <p:txBody>
          <a:bodyPr/>
          <a:lstStyle/>
          <a:p>
            <a:r>
              <a:rPr lang="zh-CN" altLang="en-US" dirty="0" smtClean="0"/>
              <a:t>经典模型检验问题</a:t>
            </a:r>
            <a:endParaRPr lang="en-US" altLang="zh-CN" dirty="0"/>
          </a:p>
          <a:p>
            <a:pPr lvl="1"/>
            <a:r>
              <a:rPr lang="zh-CN" altLang="en-US" dirty="0" smtClean="0"/>
              <a:t>列车</a:t>
            </a:r>
            <a:endParaRPr lang="en-US" altLang="zh-CN" dirty="0" smtClean="0"/>
          </a:p>
          <a:p>
            <a:pPr lvl="2"/>
            <a:r>
              <a:rPr lang="zh-CN" altLang="en-US" dirty="0" smtClean="0"/>
              <a:t>列</a:t>
            </a:r>
            <a:r>
              <a:rPr lang="zh-CN" altLang="en-US" dirty="0"/>
              <a:t>控方程中大量实时参数（如每周期移动授权具体值、实时风速、坡度等等 ），离线无法获取</a:t>
            </a:r>
            <a:r>
              <a:rPr lang="en-US" altLang="zh-CN" dirty="0"/>
              <a:t>—&gt;</a:t>
            </a:r>
            <a:r>
              <a:rPr lang="zh-CN" altLang="en-US" dirty="0">
                <a:solidFill>
                  <a:srgbClr val="FF0000"/>
                </a:solidFill>
              </a:rPr>
              <a:t>无法建模</a:t>
            </a:r>
            <a:endParaRPr lang="en-US" altLang="zh-CN" dirty="0">
              <a:solidFill>
                <a:srgbClr val="FF0000"/>
              </a:solidFill>
            </a:endParaRPr>
          </a:p>
          <a:p>
            <a:pPr lvl="2"/>
            <a:r>
              <a:rPr lang="zh-CN" altLang="en-US" dirty="0"/>
              <a:t>大量非线性方程存在</a:t>
            </a:r>
            <a:r>
              <a:rPr lang="en-US" altLang="zh-CN" dirty="0"/>
              <a:t>—&gt;</a:t>
            </a:r>
            <a:r>
              <a:rPr lang="zh-CN" altLang="en-US" dirty="0">
                <a:solidFill>
                  <a:srgbClr val="FF0000"/>
                </a:solidFill>
              </a:rPr>
              <a:t>难以验证</a:t>
            </a:r>
            <a:endParaRPr lang="en-US" altLang="zh-CN" dirty="0">
              <a:solidFill>
                <a:srgbClr val="FF0000"/>
              </a:solidFill>
            </a:endParaRPr>
          </a:p>
          <a:p>
            <a:pPr lvl="1"/>
            <a:r>
              <a:rPr lang="zh-CN" altLang="en-US" dirty="0" smtClean="0"/>
              <a:t>手术</a:t>
            </a:r>
            <a:endParaRPr lang="en-US" altLang="zh-CN" dirty="0" smtClean="0"/>
          </a:p>
          <a:p>
            <a:pPr lvl="2"/>
            <a:r>
              <a:rPr lang="zh-CN" altLang="en-US" dirty="0"/>
              <a:t>血氧浓度变化方程</a:t>
            </a:r>
            <a:r>
              <a:rPr lang="zh-CN" altLang="en-US" dirty="0">
                <a:solidFill>
                  <a:srgbClr val="FF0000"/>
                </a:solidFill>
              </a:rPr>
              <a:t>无法建模</a:t>
            </a:r>
            <a:r>
              <a:rPr lang="zh-CN" altLang="en-US" dirty="0"/>
              <a:t>（医学难题）</a:t>
            </a:r>
            <a:endParaRPr lang="en-US" altLang="zh-CN" dirty="0"/>
          </a:p>
          <a:p>
            <a:pPr lvl="3"/>
            <a:r>
              <a:rPr lang="zh-CN" altLang="en-US" dirty="0"/>
              <a:t>原因：血氧浓度长期变化行为是一个异常复杂的生化反应系统，情绪变化都可引起相关参数剧烈波动</a:t>
            </a:r>
            <a:endParaRPr lang="en-US" altLang="zh-CN" dirty="0"/>
          </a:p>
          <a:p>
            <a:pPr lvl="2"/>
            <a:r>
              <a:rPr lang="zh-CN" altLang="en-US" dirty="0"/>
              <a:t>气管氧气浓度为非线性方程</a:t>
            </a:r>
            <a:r>
              <a:rPr lang="zh-CN" altLang="en-US" dirty="0">
                <a:solidFill>
                  <a:srgbClr val="FF0000"/>
                </a:solidFill>
              </a:rPr>
              <a:t>难以验证</a:t>
            </a:r>
          </a:p>
          <a:p>
            <a:pPr lvl="1"/>
            <a:endParaRPr lang="zh-CN" altLang="en-US" dirty="0"/>
          </a:p>
        </p:txBody>
      </p:sp>
    </p:spTree>
    <p:extLst>
      <p:ext uri="{BB962C8B-B14F-4D97-AF65-F5344CB8AC3E}">
        <p14:creationId xmlns:p14="http://schemas.microsoft.com/office/powerpoint/2010/main" val="411451520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在线建模与</a:t>
            </a:r>
            <a:r>
              <a:rPr lang="zh-CN" altLang="en-US" dirty="0" smtClean="0"/>
              <a:t>验证</a:t>
            </a:r>
            <a:endParaRPr lang="zh-CN" altLang="en-US" dirty="0"/>
          </a:p>
        </p:txBody>
      </p:sp>
      <p:sp>
        <p:nvSpPr>
          <p:cNvPr id="3" name="内容占位符 2"/>
          <p:cNvSpPr>
            <a:spLocks noGrp="1"/>
          </p:cNvSpPr>
          <p:nvPr>
            <p:ph idx="1"/>
          </p:nvPr>
        </p:nvSpPr>
        <p:spPr>
          <a:xfrm>
            <a:off x="3630513" y="1687614"/>
            <a:ext cx="5261967" cy="4477690"/>
          </a:xfrm>
        </p:spPr>
        <p:txBody>
          <a:bodyPr>
            <a:normAutofit fontScale="85000" lnSpcReduction="10000"/>
          </a:bodyPr>
          <a:lstStyle/>
          <a:p>
            <a:pPr marL="0" indent="0" algn="ctr">
              <a:buNone/>
            </a:pPr>
            <a:r>
              <a:rPr lang="zh-CN" altLang="en-US" b="1" dirty="0" smtClean="0"/>
              <a:t>关键</a:t>
            </a:r>
            <a:r>
              <a:rPr lang="zh-CN" altLang="en-US" b="1" dirty="0"/>
              <a:t>参数实时数值捕获</a:t>
            </a:r>
            <a:endParaRPr lang="en-US" altLang="zh-CN" b="1" dirty="0"/>
          </a:p>
          <a:p>
            <a:pPr marL="0" indent="0" algn="ctr">
              <a:buNone/>
            </a:pPr>
            <a:r>
              <a:rPr lang="en-US" altLang="zh-CN" b="1" dirty="0"/>
              <a:t> (</a:t>
            </a:r>
            <a:r>
              <a:rPr lang="zh-CN" altLang="en-US" b="1" dirty="0"/>
              <a:t>固定数值</a:t>
            </a:r>
            <a:r>
              <a:rPr lang="en-US" altLang="zh-CN" b="1" dirty="0"/>
              <a:t>)</a:t>
            </a:r>
          </a:p>
          <a:p>
            <a:pPr marL="0" indent="0">
              <a:buNone/>
            </a:pPr>
            <a:r>
              <a:rPr lang="en-US" altLang="zh-CN" b="1" dirty="0"/>
              <a:t>                                  </a:t>
            </a:r>
            <a:r>
              <a:rPr lang="en-US" altLang="zh-CN" b="1" dirty="0" smtClean="0"/>
              <a:t>              </a:t>
            </a:r>
            <a:r>
              <a:rPr lang="zh-CN" altLang="en-US" b="1" dirty="0" smtClean="0"/>
              <a:t>（</a:t>
            </a:r>
            <a:r>
              <a:rPr lang="zh-CN" altLang="en-US" b="1" dirty="0"/>
              <a:t>描述）</a:t>
            </a:r>
            <a:endParaRPr lang="en-US" altLang="zh-CN" b="1" dirty="0"/>
          </a:p>
          <a:p>
            <a:pPr marL="0" indent="0" algn="ctr">
              <a:buNone/>
            </a:pPr>
            <a:endParaRPr lang="en-US" altLang="zh-CN" b="1" dirty="0" smtClean="0"/>
          </a:p>
          <a:p>
            <a:pPr marL="0" indent="0" algn="ctr">
              <a:buNone/>
            </a:pPr>
            <a:r>
              <a:rPr lang="zh-CN" altLang="en-US" b="1" dirty="0" smtClean="0"/>
              <a:t>短期内可预</a:t>
            </a:r>
            <a:r>
              <a:rPr lang="zh-CN" altLang="en-US" b="1" dirty="0"/>
              <a:t>知行为</a:t>
            </a:r>
            <a:endParaRPr lang="en-US" altLang="zh-CN" b="1" dirty="0"/>
          </a:p>
          <a:p>
            <a:pPr marL="0" indent="0">
              <a:buNone/>
            </a:pPr>
            <a:r>
              <a:rPr lang="en-US" altLang="zh-CN" b="1" dirty="0"/>
              <a:t>                                                 </a:t>
            </a:r>
            <a:r>
              <a:rPr lang="zh-CN" altLang="en-US" b="1" dirty="0"/>
              <a:t>（建模）</a:t>
            </a:r>
            <a:endParaRPr lang="en-US" altLang="zh-CN" b="1" dirty="0"/>
          </a:p>
          <a:p>
            <a:pPr marL="0" indent="0" algn="ctr">
              <a:buNone/>
            </a:pPr>
            <a:r>
              <a:rPr lang="zh-CN" altLang="en-US" b="1" dirty="0"/>
              <a:t>短期内可描述模型</a:t>
            </a:r>
            <a:endParaRPr lang="en-US" altLang="zh-CN" b="1" dirty="0"/>
          </a:p>
          <a:p>
            <a:pPr marL="0" indent="0">
              <a:buNone/>
            </a:pPr>
            <a:r>
              <a:rPr lang="en-US" altLang="zh-CN" b="1" dirty="0"/>
              <a:t>                                                 </a:t>
            </a:r>
            <a:r>
              <a:rPr lang="zh-CN" altLang="en-US" b="1" dirty="0"/>
              <a:t>（验证）</a:t>
            </a:r>
            <a:endParaRPr lang="en-US" altLang="zh-CN" b="1" dirty="0"/>
          </a:p>
          <a:p>
            <a:pPr marL="0" indent="0" algn="ctr">
              <a:buNone/>
            </a:pPr>
            <a:endParaRPr lang="en-US" altLang="zh-CN" b="1" dirty="0" smtClean="0"/>
          </a:p>
          <a:p>
            <a:pPr marL="0" indent="0" algn="ctr">
              <a:buNone/>
            </a:pPr>
            <a:r>
              <a:rPr lang="zh-CN" altLang="en-US" b="1" dirty="0" smtClean="0"/>
              <a:t>在线快速模型检验</a:t>
            </a:r>
            <a:r>
              <a:rPr lang="zh-CN" altLang="en-US" b="1" dirty="0"/>
              <a:t>，验证系统安全</a:t>
            </a:r>
            <a:endParaRPr lang="en-US" altLang="zh-CN" b="1" dirty="0"/>
          </a:p>
          <a:p>
            <a:endParaRPr lang="zh-CN" altLang="en-US" dirty="0"/>
          </a:p>
        </p:txBody>
      </p:sp>
      <p:sp>
        <p:nvSpPr>
          <p:cNvPr id="4" name="下箭头 3"/>
          <p:cNvSpPr/>
          <p:nvPr/>
        </p:nvSpPr>
        <p:spPr bwMode="auto">
          <a:xfrm>
            <a:off x="6102555" y="2607329"/>
            <a:ext cx="468052" cy="648072"/>
          </a:xfrm>
          <a:prstGeom prst="downArrow">
            <a:avLst/>
          </a:prstGeom>
          <a:solidFill>
            <a:schemeClr val="accent2">
              <a:lumMod val="75000"/>
            </a:schemeClr>
          </a:solidFill>
          <a:ln w="9525" cap="flat" cmpd="sng" algn="ctr">
            <a:solidFill>
              <a:schemeClr val="accent2">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charset="0"/>
              <a:ea typeface="宋体" pitchFamily="2" charset="-122"/>
            </a:endParaRPr>
          </a:p>
        </p:txBody>
      </p:sp>
      <p:sp>
        <p:nvSpPr>
          <p:cNvPr id="5" name="下箭头 4"/>
          <p:cNvSpPr/>
          <p:nvPr/>
        </p:nvSpPr>
        <p:spPr bwMode="auto">
          <a:xfrm>
            <a:off x="6102555" y="3514079"/>
            <a:ext cx="468052" cy="648072"/>
          </a:xfrm>
          <a:prstGeom prst="downArrow">
            <a:avLst/>
          </a:prstGeom>
          <a:solidFill>
            <a:schemeClr val="accent2">
              <a:lumMod val="75000"/>
            </a:schemeClr>
          </a:solidFill>
          <a:ln w="9525" cap="flat" cmpd="sng" algn="ctr">
            <a:solidFill>
              <a:schemeClr val="accent2">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charset="0"/>
              <a:ea typeface="宋体" pitchFamily="2" charset="-122"/>
            </a:endParaRPr>
          </a:p>
        </p:txBody>
      </p:sp>
      <p:sp>
        <p:nvSpPr>
          <p:cNvPr id="6" name="下箭头 5"/>
          <p:cNvSpPr/>
          <p:nvPr/>
        </p:nvSpPr>
        <p:spPr bwMode="auto">
          <a:xfrm>
            <a:off x="6120172" y="4509120"/>
            <a:ext cx="468052" cy="648072"/>
          </a:xfrm>
          <a:prstGeom prst="downArrow">
            <a:avLst/>
          </a:prstGeom>
          <a:solidFill>
            <a:schemeClr val="accent2">
              <a:lumMod val="75000"/>
            </a:schemeClr>
          </a:solidFill>
          <a:ln w="9525" cap="flat" cmpd="sng" algn="ctr">
            <a:solidFill>
              <a:schemeClr val="accent2">
                <a:lumMod val="7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smtClean="0">
              <a:ln>
                <a:noFill/>
              </a:ln>
              <a:solidFill>
                <a:schemeClr val="tx1"/>
              </a:solidFill>
              <a:effectLst/>
              <a:latin typeface="Times New Roman" charset="0"/>
              <a:ea typeface="宋体" pitchFamily="2" charset="-122"/>
            </a:endParaRPr>
          </a:p>
        </p:txBody>
      </p:sp>
      <p:grpSp>
        <p:nvGrpSpPr>
          <p:cNvPr id="7" name="组合 12"/>
          <p:cNvGrpSpPr>
            <a:grpSpLocks/>
          </p:cNvGrpSpPr>
          <p:nvPr/>
        </p:nvGrpSpPr>
        <p:grpSpPr bwMode="auto">
          <a:xfrm>
            <a:off x="107504" y="2407642"/>
            <a:ext cx="4968875" cy="2749550"/>
            <a:chOff x="4284663" y="3356992"/>
            <a:chExt cx="4895850" cy="3240658"/>
          </a:xfrm>
        </p:grpSpPr>
        <p:sp>
          <p:nvSpPr>
            <p:cNvPr id="8" name="圆角矩形 7"/>
            <p:cNvSpPr/>
            <p:nvPr/>
          </p:nvSpPr>
          <p:spPr bwMode="auto">
            <a:xfrm>
              <a:off x="5176240" y="4101670"/>
              <a:ext cx="1137152" cy="615575"/>
            </a:xfrm>
            <a:prstGeom prst="roundRect">
              <a:avLst/>
            </a:prstGeom>
            <a:solidFill>
              <a:srgbClr val="CD4764"/>
            </a:solidFill>
            <a:ln>
              <a:solidFill>
                <a:srgbClr val="CD4764"/>
              </a:solidFill>
              <a:headEnd type="none" w="sm" len="sm"/>
              <a:tailEnd type="none" w="sm" len="sm"/>
            </a:ln>
          </p:spPr>
          <p:style>
            <a:lnRef idx="2">
              <a:schemeClr val="accent1"/>
            </a:lnRef>
            <a:fillRef idx="1">
              <a:schemeClr val="lt1"/>
            </a:fillRef>
            <a:effectRef idx="0">
              <a:schemeClr val="accent1"/>
            </a:effectRef>
            <a:fontRef idx="minor">
              <a:schemeClr val="dk1"/>
            </a:fontRef>
          </p:style>
          <p:txBody>
            <a:bodyPr/>
            <a:lstStyle/>
            <a:p>
              <a:pPr marL="447675" indent="-447675">
                <a:spcBef>
                  <a:spcPct val="20000"/>
                </a:spcBef>
                <a:buClr>
                  <a:schemeClr val="accent1"/>
                </a:buClr>
                <a:buSzPct val="70000"/>
                <a:buFontTx/>
                <a:buChar char="•"/>
                <a:defRPr/>
              </a:pPr>
              <a:endParaRPr lang="zh-CN" altLang="en-US">
                <a:solidFill>
                  <a:schemeClr val="tx1"/>
                </a:solidFill>
                <a:ea typeface="楷体_GB2312" pitchFamily="49" charset="-122"/>
              </a:endParaRPr>
            </a:p>
          </p:txBody>
        </p:sp>
        <p:sp>
          <p:nvSpPr>
            <p:cNvPr id="9" name="圆角矩形 8"/>
            <p:cNvSpPr/>
            <p:nvPr/>
          </p:nvSpPr>
          <p:spPr bwMode="auto">
            <a:xfrm>
              <a:off x="5176240" y="5426373"/>
              <a:ext cx="1137152" cy="615575"/>
            </a:xfrm>
            <a:prstGeom prst="roundRect">
              <a:avLst/>
            </a:prstGeom>
            <a:solidFill>
              <a:srgbClr val="CD4764"/>
            </a:solidFill>
            <a:ln>
              <a:solidFill>
                <a:srgbClr val="CD4764"/>
              </a:solidFill>
              <a:headEnd type="none" w="sm" len="sm"/>
              <a:tailEnd type="none" w="sm" len="sm"/>
            </a:ln>
          </p:spPr>
          <p:style>
            <a:lnRef idx="2">
              <a:schemeClr val="accent1"/>
            </a:lnRef>
            <a:fillRef idx="1">
              <a:schemeClr val="lt1"/>
            </a:fillRef>
            <a:effectRef idx="0">
              <a:schemeClr val="accent1"/>
            </a:effectRef>
            <a:fontRef idx="minor">
              <a:schemeClr val="dk1"/>
            </a:fontRef>
          </p:style>
          <p:txBody>
            <a:bodyPr/>
            <a:lstStyle/>
            <a:p>
              <a:pPr marL="447675" indent="-447675">
                <a:spcBef>
                  <a:spcPct val="20000"/>
                </a:spcBef>
                <a:buClr>
                  <a:schemeClr val="accent1"/>
                </a:buClr>
                <a:buSzPct val="70000"/>
                <a:buFontTx/>
                <a:buChar char="•"/>
                <a:defRPr/>
              </a:pPr>
              <a:endParaRPr lang="zh-CN" altLang="en-US">
                <a:solidFill>
                  <a:schemeClr val="tx1"/>
                </a:solidFill>
                <a:ea typeface="楷体_GB2312" pitchFamily="49" charset="-122"/>
              </a:endParaRPr>
            </a:p>
          </p:txBody>
        </p:sp>
        <p:sp>
          <p:nvSpPr>
            <p:cNvPr id="10" name="TextBox 15"/>
            <p:cNvSpPr txBox="1">
              <a:spLocks noChangeArrowheads="1"/>
            </p:cNvSpPr>
            <p:nvPr/>
          </p:nvSpPr>
          <p:spPr bwMode="auto">
            <a:xfrm>
              <a:off x="5216976" y="4218930"/>
              <a:ext cx="1227232" cy="369332"/>
            </a:xfrm>
            <a:prstGeom prst="rect">
              <a:avLst/>
            </a:prstGeom>
            <a:noFill/>
            <a:ln w="9525">
              <a:noFill/>
              <a:miter lim="800000"/>
              <a:headEnd/>
              <a:tailEnd/>
            </a:ln>
          </p:spPr>
          <p:txBody>
            <a:bodyPr>
              <a:spAutoFit/>
            </a:bodyPr>
            <a:lstStyle/>
            <a:p>
              <a:r>
                <a:rPr lang="zh-CN" altLang="en-US" sz="1800" dirty="0">
                  <a:solidFill>
                    <a:schemeClr val="bg1"/>
                  </a:solidFill>
                </a:rPr>
                <a:t>系统运行</a:t>
              </a:r>
            </a:p>
          </p:txBody>
        </p:sp>
        <p:sp>
          <p:nvSpPr>
            <p:cNvPr id="11" name="TextBox 12"/>
            <p:cNvSpPr txBox="1">
              <a:spLocks noChangeArrowheads="1"/>
            </p:cNvSpPr>
            <p:nvPr/>
          </p:nvSpPr>
          <p:spPr bwMode="auto">
            <a:xfrm>
              <a:off x="5148635" y="5585182"/>
              <a:ext cx="1227232" cy="369332"/>
            </a:xfrm>
            <a:prstGeom prst="rect">
              <a:avLst/>
            </a:prstGeom>
            <a:noFill/>
            <a:ln w="9525">
              <a:noFill/>
              <a:miter lim="800000"/>
              <a:headEnd/>
              <a:tailEnd/>
            </a:ln>
          </p:spPr>
          <p:txBody>
            <a:bodyPr>
              <a:spAutoFit/>
            </a:bodyPr>
            <a:lstStyle/>
            <a:p>
              <a:r>
                <a:rPr lang="zh-CN" altLang="en-US" sz="1800">
                  <a:solidFill>
                    <a:schemeClr val="bg1"/>
                  </a:solidFill>
                </a:rPr>
                <a:t>控制方程</a:t>
              </a:r>
            </a:p>
          </p:txBody>
        </p:sp>
        <p:sp>
          <p:nvSpPr>
            <p:cNvPr id="12" name="左弧形箭头 11"/>
            <p:cNvSpPr/>
            <p:nvPr/>
          </p:nvSpPr>
          <p:spPr bwMode="auto">
            <a:xfrm>
              <a:off x="4717938" y="4402908"/>
              <a:ext cx="412941" cy="1330317"/>
            </a:xfrm>
            <a:prstGeom prst="curvedRightArrow">
              <a:avLst/>
            </a:prstGeom>
            <a:solidFill>
              <a:schemeClr val="accent1"/>
            </a:solidFill>
            <a:ln w="9525" cap="flat" cmpd="sng" algn="ctr">
              <a:solidFill>
                <a:schemeClr val="accent5">
                  <a:lumMod val="75000"/>
                </a:schemeClr>
              </a:solidFill>
              <a:prstDash val="solid"/>
              <a:round/>
              <a:headEnd type="none" w="sm" len="sm"/>
              <a:tailEnd type="none" w="sm" len="sm"/>
            </a:ln>
            <a:effectLst/>
          </p:spPr>
          <p:txBody>
            <a:bodyPr/>
            <a:lstStyle/>
            <a:p>
              <a:pPr marL="447675" indent="-447675">
                <a:spcBef>
                  <a:spcPct val="20000"/>
                </a:spcBef>
                <a:buClr>
                  <a:schemeClr val="accent1"/>
                </a:buClr>
                <a:buSzPct val="70000"/>
                <a:buFontTx/>
                <a:buChar char="•"/>
                <a:defRPr/>
              </a:pPr>
              <a:endParaRPr lang="zh-CN" altLang="en-US"/>
            </a:p>
          </p:txBody>
        </p:sp>
        <p:sp>
          <p:nvSpPr>
            <p:cNvPr id="13" name="左弧形箭头 12"/>
            <p:cNvSpPr/>
            <p:nvPr/>
          </p:nvSpPr>
          <p:spPr bwMode="auto">
            <a:xfrm rot="10800000">
              <a:off x="8425020" y="4382327"/>
              <a:ext cx="412941" cy="1330316"/>
            </a:xfrm>
            <a:prstGeom prst="curvedRightArrow">
              <a:avLst/>
            </a:prstGeom>
            <a:solidFill>
              <a:schemeClr val="accent1"/>
            </a:solidFill>
            <a:ln w="9525" cap="flat" cmpd="sng" algn="ctr">
              <a:solidFill>
                <a:schemeClr val="accent5">
                  <a:lumMod val="75000"/>
                </a:schemeClr>
              </a:solidFill>
              <a:prstDash val="solid"/>
              <a:round/>
              <a:headEnd type="none" w="sm" len="sm"/>
              <a:tailEnd type="none" w="sm" len="sm"/>
            </a:ln>
            <a:effectLst/>
          </p:spPr>
          <p:txBody>
            <a:bodyPr/>
            <a:lstStyle/>
            <a:p>
              <a:pPr marL="447675" indent="-447675">
                <a:spcBef>
                  <a:spcPct val="20000"/>
                </a:spcBef>
                <a:buClr>
                  <a:schemeClr val="accent1"/>
                </a:buClr>
                <a:buSzPct val="70000"/>
                <a:buFontTx/>
                <a:buChar char="•"/>
                <a:defRPr/>
              </a:pPr>
              <a:endParaRPr lang="zh-CN" altLang="en-US"/>
            </a:p>
          </p:txBody>
        </p:sp>
        <p:sp>
          <p:nvSpPr>
            <p:cNvPr id="14" name="圆角矩形 13"/>
            <p:cNvSpPr/>
            <p:nvPr/>
          </p:nvSpPr>
          <p:spPr bwMode="auto">
            <a:xfrm>
              <a:off x="7236251" y="4099798"/>
              <a:ext cx="1188769" cy="621188"/>
            </a:xfrm>
            <a:prstGeom prst="roundRect">
              <a:avLst/>
            </a:prstGeom>
            <a:solidFill>
              <a:srgbClr val="0070C0"/>
            </a:solidFill>
            <a:ln>
              <a:solidFill>
                <a:srgbClr val="0070C0"/>
              </a:solidFill>
              <a:headEnd type="none" w="sm" len="sm"/>
              <a:tailEnd type="none" w="sm" len="sm"/>
            </a:ln>
          </p:spPr>
          <p:style>
            <a:lnRef idx="2">
              <a:schemeClr val="accent1"/>
            </a:lnRef>
            <a:fillRef idx="1">
              <a:schemeClr val="lt1"/>
            </a:fillRef>
            <a:effectRef idx="0">
              <a:schemeClr val="accent1"/>
            </a:effectRef>
            <a:fontRef idx="minor">
              <a:schemeClr val="dk1"/>
            </a:fontRef>
          </p:style>
          <p:txBody>
            <a:bodyPr/>
            <a:lstStyle/>
            <a:p>
              <a:pPr marL="447675" indent="-447675">
                <a:spcBef>
                  <a:spcPct val="20000"/>
                </a:spcBef>
                <a:buClr>
                  <a:schemeClr val="accent1"/>
                </a:buClr>
                <a:buSzPct val="70000"/>
                <a:buFontTx/>
                <a:buChar char="•"/>
                <a:defRPr/>
              </a:pPr>
              <a:endParaRPr lang="zh-CN" altLang="en-US">
                <a:solidFill>
                  <a:schemeClr val="tx1"/>
                </a:solidFill>
                <a:ea typeface="楷体_GB2312" pitchFamily="49" charset="-122"/>
              </a:endParaRPr>
            </a:p>
          </p:txBody>
        </p:sp>
        <p:sp>
          <p:nvSpPr>
            <p:cNvPr id="15" name="TextBox 20"/>
            <p:cNvSpPr txBox="1">
              <a:spLocks noChangeArrowheads="1"/>
            </p:cNvSpPr>
            <p:nvPr/>
          </p:nvSpPr>
          <p:spPr bwMode="auto">
            <a:xfrm>
              <a:off x="7189248" y="4185719"/>
              <a:ext cx="1454472" cy="523206"/>
            </a:xfrm>
            <a:prstGeom prst="rect">
              <a:avLst/>
            </a:prstGeom>
            <a:noFill/>
            <a:ln w="9525">
              <a:noFill/>
              <a:miter lim="800000"/>
              <a:headEnd/>
              <a:tailEnd/>
            </a:ln>
          </p:spPr>
          <p:txBody>
            <a:bodyPr>
              <a:spAutoFit/>
            </a:bodyPr>
            <a:lstStyle/>
            <a:p>
              <a:r>
                <a:rPr lang="zh-CN" altLang="en-US" sz="1400">
                  <a:solidFill>
                    <a:schemeClr val="bg1"/>
                  </a:solidFill>
                </a:rPr>
                <a:t>安全攸关关键</a:t>
              </a:r>
              <a:endParaRPr lang="en-US" altLang="zh-CN" sz="1400">
                <a:solidFill>
                  <a:schemeClr val="bg1"/>
                </a:solidFill>
              </a:endParaRPr>
            </a:p>
            <a:p>
              <a:r>
                <a:rPr lang="zh-CN" altLang="en-US" sz="1400">
                  <a:solidFill>
                    <a:schemeClr val="bg1"/>
                  </a:solidFill>
                </a:rPr>
                <a:t>场景在线验证</a:t>
              </a:r>
            </a:p>
          </p:txBody>
        </p:sp>
        <p:sp>
          <p:nvSpPr>
            <p:cNvPr id="16" name="圆角矩形 15"/>
            <p:cNvSpPr/>
            <p:nvPr/>
          </p:nvSpPr>
          <p:spPr bwMode="auto">
            <a:xfrm>
              <a:off x="7236251" y="5424501"/>
              <a:ext cx="1137151" cy="615576"/>
            </a:xfrm>
            <a:prstGeom prst="roundRect">
              <a:avLst/>
            </a:prstGeom>
            <a:solidFill>
              <a:srgbClr val="0070C0"/>
            </a:solidFill>
            <a:ln>
              <a:solidFill>
                <a:srgbClr val="0070C0"/>
              </a:solidFill>
              <a:headEnd type="none" w="sm" len="sm"/>
              <a:tailEnd type="none" w="sm" len="sm"/>
            </a:ln>
          </p:spPr>
          <p:style>
            <a:lnRef idx="2">
              <a:schemeClr val="accent1"/>
            </a:lnRef>
            <a:fillRef idx="1">
              <a:schemeClr val="lt1"/>
            </a:fillRef>
            <a:effectRef idx="0">
              <a:schemeClr val="accent1"/>
            </a:effectRef>
            <a:fontRef idx="minor">
              <a:schemeClr val="dk1"/>
            </a:fontRef>
          </p:style>
          <p:txBody>
            <a:bodyPr/>
            <a:lstStyle/>
            <a:p>
              <a:pPr marL="447675" indent="-447675">
                <a:spcBef>
                  <a:spcPct val="20000"/>
                </a:spcBef>
                <a:buClr>
                  <a:schemeClr val="accent1"/>
                </a:buClr>
                <a:buSzPct val="70000"/>
                <a:buFontTx/>
                <a:buChar char="•"/>
                <a:defRPr/>
              </a:pPr>
              <a:endParaRPr lang="zh-CN" altLang="en-US">
                <a:solidFill>
                  <a:schemeClr val="tx1"/>
                </a:solidFill>
                <a:ea typeface="楷体_GB2312" pitchFamily="49" charset="-122"/>
              </a:endParaRPr>
            </a:p>
          </p:txBody>
        </p:sp>
        <p:sp>
          <p:nvSpPr>
            <p:cNvPr id="17" name="左弧形箭头 16"/>
            <p:cNvSpPr/>
            <p:nvPr/>
          </p:nvSpPr>
          <p:spPr bwMode="auto">
            <a:xfrm rot="5400000">
              <a:off x="6552260" y="2799367"/>
              <a:ext cx="406017" cy="2097551"/>
            </a:xfrm>
            <a:prstGeom prst="curvedRightArrow">
              <a:avLst/>
            </a:prstGeom>
            <a:solidFill>
              <a:schemeClr val="accent1"/>
            </a:solidFill>
            <a:ln w="9525" cap="flat" cmpd="sng" algn="ctr">
              <a:solidFill>
                <a:schemeClr val="accent5">
                  <a:lumMod val="75000"/>
                </a:schemeClr>
              </a:solidFill>
              <a:prstDash val="solid"/>
              <a:round/>
              <a:headEnd type="none" w="sm" len="sm"/>
              <a:tailEnd type="none" w="sm" len="sm"/>
            </a:ln>
            <a:effectLst/>
          </p:spPr>
          <p:txBody>
            <a:bodyPr/>
            <a:lstStyle/>
            <a:p>
              <a:pPr marL="447675" indent="-447675">
                <a:spcBef>
                  <a:spcPct val="20000"/>
                </a:spcBef>
                <a:buClr>
                  <a:schemeClr val="accent1"/>
                </a:buClr>
                <a:buSzPct val="70000"/>
                <a:buFontTx/>
                <a:buChar char="•"/>
                <a:defRPr/>
              </a:pPr>
              <a:endParaRPr lang="zh-CN" altLang="en-US"/>
            </a:p>
          </p:txBody>
        </p:sp>
        <p:sp>
          <p:nvSpPr>
            <p:cNvPr id="18" name="左弧形箭头 17"/>
            <p:cNvSpPr/>
            <p:nvPr/>
          </p:nvSpPr>
          <p:spPr bwMode="auto">
            <a:xfrm rot="16200000">
              <a:off x="6551324" y="5195246"/>
              <a:ext cx="407889" cy="2097551"/>
            </a:xfrm>
            <a:prstGeom prst="curvedRightArrow">
              <a:avLst/>
            </a:prstGeom>
            <a:solidFill>
              <a:schemeClr val="accent1"/>
            </a:solidFill>
            <a:ln w="9525" cap="flat" cmpd="sng" algn="ctr">
              <a:solidFill>
                <a:schemeClr val="accent5">
                  <a:lumMod val="75000"/>
                </a:schemeClr>
              </a:solidFill>
              <a:prstDash val="solid"/>
              <a:round/>
              <a:headEnd type="none" w="sm" len="sm"/>
              <a:tailEnd type="none" w="sm" len="sm"/>
            </a:ln>
            <a:effectLst/>
          </p:spPr>
          <p:txBody>
            <a:bodyPr/>
            <a:lstStyle/>
            <a:p>
              <a:pPr marL="447675" indent="-447675">
                <a:spcBef>
                  <a:spcPct val="20000"/>
                </a:spcBef>
                <a:buClr>
                  <a:schemeClr val="accent1"/>
                </a:buClr>
                <a:buSzPct val="70000"/>
                <a:buFontTx/>
                <a:buChar char="•"/>
                <a:defRPr/>
              </a:pPr>
              <a:endParaRPr lang="zh-CN" altLang="en-US"/>
            </a:p>
          </p:txBody>
        </p:sp>
        <p:sp>
          <p:nvSpPr>
            <p:cNvPr id="19" name="TextBox 25"/>
            <p:cNvSpPr txBox="1">
              <a:spLocks noChangeArrowheads="1"/>
            </p:cNvSpPr>
            <p:nvPr/>
          </p:nvSpPr>
          <p:spPr bwMode="auto">
            <a:xfrm>
              <a:off x="7288824" y="5485993"/>
              <a:ext cx="1454472" cy="467539"/>
            </a:xfrm>
            <a:prstGeom prst="rect">
              <a:avLst/>
            </a:prstGeom>
            <a:noFill/>
            <a:ln w="9525">
              <a:noFill/>
              <a:miter lim="800000"/>
              <a:headEnd/>
              <a:tailEnd/>
            </a:ln>
          </p:spPr>
          <p:txBody>
            <a:bodyPr>
              <a:spAutoFit/>
            </a:bodyPr>
            <a:lstStyle/>
            <a:p>
              <a:r>
                <a:rPr lang="zh-CN" altLang="en-US" sz="1600">
                  <a:solidFill>
                    <a:schemeClr val="bg1"/>
                  </a:solidFill>
                </a:rPr>
                <a:t>控制参数</a:t>
              </a:r>
              <a:endParaRPr lang="en-US" altLang="zh-CN" sz="1600">
                <a:solidFill>
                  <a:schemeClr val="bg1"/>
                </a:solidFill>
              </a:endParaRPr>
            </a:p>
            <a:p>
              <a:r>
                <a:rPr lang="zh-CN" altLang="en-US" sz="1600">
                  <a:solidFill>
                    <a:schemeClr val="bg1"/>
                  </a:solidFill>
                </a:rPr>
                <a:t>实时建模</a:t>
              </a:r>
            </a:p>
          </p:txBody>
        </p:sp>
        <p:sp>
          <p:nvSpPr>
            <p:cNvPr id="20" name="TextBox 26"/>
            <p:cNvSpPr txBox="1">
              <a:spLocks noChangeArrowheads="1"/>
            </p:cNvSpPr>
            <p:nvPr/>
          </p:nvSpPr>
          <p:spPr bwMode="auto">
            <a:xfrm>
              <a:off x="4284663" y="4865772"/>
              <a:ext cx="1227232" cy="295288"/>
            </a:xfrm>
            <a:prstGeom prst="rect">
              <a:avLst/>
            </a:prstGeom>
            <a:noFill/>
            <a:ln w="9525">
              <a:noFill/>
              <a:miter lim="800000"/>
              <a:headEnd/>
              <a:tailEnd/>
            </a:ln>
          </p:spPr>
          <p:txBody>
            <a:bodyPr>
              <a:spAutoFit/>
            </a:bodyPr>
            <a:lstStyle/>
            <a:p>
              <a:r>
                <a:rPr lang="zh-CN" altLang="en-US" sz="1800">
                  <a:latin typeface="华文楷体" pitchFamily="2" charset="-122"/>
                  <a:ea typeface="华文楷体" pitchFamily="2" charset="-122"/>
                </a:rPr>
                <a:t>信号接收</a:t>
              </a:r>
            </a:p>
          </p:txBody>
        </p:sp>
        <p:sp>
          <p:nvSpPr>
            <p:cNvPr id="21" name="TextBox 27"/>
            <p:cNvSpPr txBox="1">
              <a:spLocks noChangeArrowheads="1"/>
            </p:cNvSpPr>
            <p:nvPr/>
          </p:nvSpPr>
          <p:spPr bwMode="auto">
            <a:xfrm>
              <a:off x="8071172" y="4722986"/>
              <a:ext cx="1109341" cy="646331"/>
            </a:xfrm>
            <a:prstGeom prst="rect">
              <a:avLst/>
            </a:prstGeom>
            <a:noFill/>
            <a:ln w="9525">
              <a:noFill/>
              <a:miter lim="800000"/>
              <a:headEnd/>
              <a:tailEnd/>
            </a:ln>
          </p:spPr>
          <p:txBody>
            <a:bodyPr>
              <a:spAutoFit/>
            </a:bodyPr>
            <a:lstStyle/>
            <a:p>
              <a:r>
                <a:rPr lang="zh-CN" altLang="en-US" sz="1800">
                  <a:latin typeface="华文楷体" pitchFamily="2" charset="-122"/>
                  <a:ea typeface="华文楷体" pitchFamily="2" charset="-122"/>
                </a:rPr>
                <a:t>在线局部静态模型</a:t>
              </a:r>
            </a:p>
          </p:txBody>
        </p:sp>
        <p:sp>
          <p:nvSpPr>
            <p:cNvPr id="22" name="TextBox 31"/>
            <p:cNvSpPr txBox="1">
              <a:spLocks noChangeArrowheads="1"/>
            </p:cNvSpPr>
            <p:nvPr/>
          </p:nvSpPr>
          <p:spPr bwMode="auto">
            <a:xfrm>
              <a:off x="6156605" y="6228328"/>
              <a:ext cx="1139603" cy="369322"/>
            </a:xfrm>
            <a:prstGeom prst="rect">
              <a:avLst/>
            </a:prstGeom>
            <a:noFill/>
            <a:ln w="9525">
              <a:noFill/>
              <a:miter lim="800000"/>
              <a:headEnd/>
              <a:tailEnd/>
            </a:ln>
          </p:spPr>
          <p:txBody>
            <a:bodyPr>
              <a:spAutoFit/>
            </a:bodyPr>
            <a:lstStyle/>
            <a:p>
              <a:r>
                <a:rPr lang="zh-CN" altLang="en-US" sz="1800">
                  <a:latin typeface="华文楷体" pitchFamily="2" charset="-122"/>
                  <a:ea typeface="华文楷体" pitchFamily="2" charset="-122"/>
                </a:rPr>
                <a:t>实时参数</a:t>
              </a:r>
            </a:p>
          </p:txBody>
        </p:sp>
        <p:sp>
          <p:nvSpPr>
            <p:cNvPr id="23" name="TextBox 32"/>
            <p:cNvSpPr txBox="1">
              <a:spLocks noChangeArrowheads="1"/>
            </p:cNvSpPr>
            <p:nvPr/>
          </p:nvSpPr>
          <p:spPr bwMode="auto">
            <a:xfrm>
              <a:off x="6067215" y="3356992"/>
              <a:ext cx="1378779" cy="646314"/>
            </a:xfrm>
            <a:prstGeom prst="rect">
              <a:avLst/>
            </a:prstGeom>
            <a:noFill/>
            <a:ln w="9525">
              <a:noFill/>
              <a:miter lim="800000"/>
              <a:headEnd/>
              <a:tailEnd/>
            </a:ln>
          </p:spPr>
          <p:txBody>
            <a:bodyPr>
              <a:spAutoFit/>
            </a:bodyPr>
            <a:lstStyle/>
            <a:p>
              <a:r>
                <a:rPr lang="zh-CN" altLang="en-US" sz="1800" dirty="0">
                  <a:latin typeface="华文楷体" pitchFamily="2" charset="-122"/>
                  <a:ea typeface="华文楷体" pitchFamily="2" charset="-122"/>
                </a:rPr>
                <a:t>验证未通过</a:t>
              </a:r>
              <a:endParaRPr lang="en-US" altLang="zh-CN" sz="1800" dirty="0">
                <a:latin typeface="华文楷体" pitchFamily="2" charset="-122"/>
                <a:ea typeface="华文楷体" pitchFamily="2" charset="-122"/>
              </a:endParaRPr>
            </a:p>
            <a:p>
              <a:r>
                <a:rPr lang="zh-CN" altLang="en-US" sz="1800" dirty="0">
                  <a:latin typeface="华文楷体" pitchFamily="2" charset="-122"/>
                  <a:ea typeface="华文楷体" pitchFamily="2" charset="-122"/>
                </a:rPr>
                <a:t>  启动备案</a:t>
              </a:r>
            </a:p>
          </p:txBody>
        </p:sp>
        <p:sp>
          <p:nvSpPr>
            <p:cNvPr id="24" name="左弧形箭头 23"/>
            <p:cNvSpPr/>
            <p:nvPr/>
          </p:nvSpPr>
          <p:spPr bwMode="auto">
            <a:xfrm rot="10800000">
              <a:off x="6313391" y="4348648"/>
              <a:ext cx="412941" cy="1330316"/>
            </a:xfrm>
            <a:prstGeom prst="curvedRightArrow">
              <a:avLst/>
            </a:prstGeom>
            <a:solidFill>
              <a:schemeClr val="accent1"/>
            </a:solidFill>
            <a:ln w="9525" cap="flat" cmpd="sng" algn="ctr">
              <a:solidFill>
                <a:schemeClr val="accent5">
                  <a:lumMod val="75000"/>
                </a:schemeClr>
              </a:solidFill>
              <a:prstDash val="solid"/>
              <a:round/>
              <a:headEnd type="none" w="sm" len="sm"/>
              <a:tailEnd type="none" w="sm" len="sm"/>
            </a:ln>
            <a:effectLst/>
          </p:spPr>
          <p:txBody>
            <a:bodyPr/>
            <a:lstStyle/>
            <a:p>
              <a:pPr marL="447675" indent="-447675">
                <a:spcBef>
                  <a:spcPct val="20000"/>
                </a:spcBef>
                <a:buClr>
                  <a:schemeClr val="accent1"/>
                </a:buClr>
                <a:buSzPct val="70000"/>
                <a:buFontTx/>
                <a:buChar char="•"/>
                <a:defRPr/>
              </a:pPr>
              <a:endParaRPr lang="zh-CN" altLang="en-US"/>
            </a:p>
          </p:txBody>
        </p:sp>
        <p:sp>
          <p:nvSpPr>
            <p:cNvPr id="25" name="TextBox 26"/>
            <p:cNvSpPr txBox="1">
              <a:spLocks noChangeArrowheads="1"/>
            </p:cNvSpPr>
            <p:nvPr/>
          </p:nvSpPr>
          <p:spPr bwMode="auto">
            <a:xfrm>
              <a:off x="6150920" y="4920450"/>
              <a:ext cx="1227232" cy="369332"/>
            </a:xfrm>
            <a:prstGeom prst="rect">
              <a:avLst/>
            </a:prstGeom>
            <a:noFill/>
            <a:ln w="9525">
              <a:noFill/>
              <a:miter lim="800000"/>
              <a:headEnd/>
              <a:tailEnd/>
            </a:ln>
          </p:spPr>
          <p:txBody>
            <a:bodyPr>
              <a:spAutoFit/>
            </a:bodyPr>
            <a:lstStyle/>
            <a:p>
              <a:r>
                <a:rPr lang="zh-CN" altLang="en-US" sz="1800">
                  <a:latin typeface="华文楷体" pitchFamily="2" charset="-122"/>
                  <a:ea typeface="华文楷体" pitchFamily="2" charset="-122"/>
                </a:rPr>
                <a:t>参数采用</a:t>
              </a:r>
            </a:p>
          </p:txBody>
        </p:sp>
      </p:grpSp>
    </p:spTree>
    <p:extLst>
      <p:ext uri="{BB962C8B-B14F-4D97-AF65-F5344CB8AC3E}">
        <p14:creationId xmlns:p14="http://schemas.microsoft.com/office/powerpoint/2010/main" val="354845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itchFamily="18" charset="0"/>
                <a:cs typeface="Times New Roman" pitchFamily="18" charset="0"/>
              </a:rPr>
              <a:t>在线</a:t>
            </a:r>
            <a:r>
              <a:rPr lang="zh-CN" altLang="en-US" dirty="0">
                <a:latin typeface="Times New Roman" pitchFamily="18" charset="0"/>
                <a:cs typeface="Times New Roman" pitchFamily="18" charset="0"/>
              </a:rPr>
              <a:t>建模</a:t>
            </a:r>
            <a:r>
              <a:rPr lang="zh-CN" altLang="en-US" dirty="0" smtClean="0">
                <a:latin typeface="Times New Roman" pitchFamily="18" charset="0"/>
                <a:cs typeface="Times New Roman" pitchFamily="18" charset="0"/>
              </a:rPr>
              <a:t>及</a:t>
            </a:r>
            <a:r>
              <a:rPr lang="zh-CN" altLang="en-US" dirty="0">
                <a:latin typeface="Times New Roman" pitchFamily="18" charset="0"/>
                <a:cs typeface="Times New Roman" pitchFamily="18" charset="0"/>
              </a:rPr>
              <a:t>试验</a:t>
            </a:r>
            <a:r>
              <a:rPr lang="zh-CN" altLang="en-US" dirty="0" smtClean="0">
                <a:latin typeface="Times New Roman" pitchFamily="18" charset="0"/>
                <a:cs typeface="Times New Roman" pitchFamily="18" charset="0"/>
              </a:rPr>
              <a:t>评估</a:t>
            </a:r>
            <a:endParaRPr lang="zh-CN" altLang="en-US" dirty="0">
              <a:latin typeface="Times New Roman" pitchFamily="18" charset="0"/>
              <a:cs typeface="Times New Roman" pitchFamily="18" charset="0"/>
            </a:endParaRPr>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endParaRPr lang="en-US" altLang="zh-CN" dirty="0"/>
          </a:p>
          <a:p>
            <a:pPr marL="0" indent="0">
              <a:buNone/>
            </a:pPr>
            <a:endParaRPr lang="en-US" altLang="zh-CN" dirty="0"/>
          </a:p>
          <a:p>
            <a:pPr marL="0" indent="0">
              <a:buNone/>
            </a:pPr>
            <a:r>
              <a:rPr lang="en-US" altLang="zh-CN" dirty="0" smtClean="0"/>
              <a:t>              </a:t>
            </a:r>
            <a:r>
              <a:rPr lang="zh-CN" altLang="en-US" dirty="0" smtClean="0"/>
              <a:t>列控                     </a:t>
            </a:r>
            <a:r>
              <a:rPr lang="en-US" altLang="zh-CN" dirty="0" smtClean="0"/>
              <a:t>   </a:t>
            </a:r>
            <a:r>
              <a:rPr lang="zh-CN" altLang="en-US" dirty="0" smtClean="0"/>
              <a:t>病人</a:t>
            </a:r>
            <a:endParaRPr lang="en-US" altLang="zh-CN" dirty="0"/>
          </a:p>
          <a:p>
            <a:pPr marL="0" indent="0">
              <a:buNone/>
            </a:pPr>
            <a:r>
              <a:rPr lang="en-US" altLang="zh-CN" dirty="0" smtClean="0"/>
              <a:t> 10</a:t>
            </a:r>
            <a:r>
              <a:rPr lang="zh-CN" altLang="en-US" dirty="0" smtClean="0"/>
              <a:t>车系统 </a:t>
            </a:r>
            <a:r>
              <a:rPr lang="en-US" altLang="zh-CN" dirty="0" smtClean="0"/>
              <a:t>109ms&lt; 500ms            932ms &lt;4 s</a:t>
            </a:r>
          </a:p>
          <a:p>
            <a:pPr marL="0" indent="0">
              <a:buNone/>
            </a:pPr>
            <a:r>
              <a:rPr lang="zh-CN" altLang="en-US" dirty="0" smtClean="0"/>
              <a:t>（前值为多次验证时间平均值，后值为更新周期）</a:t>
            </a:r>
            <a:endParaRPr lang="en-US" altLang="zh-CN" dirty="0"/>
          </a:p>
          <a:p>
            <a:pPr marL="0" indent="0">
              <a:buNone/>
            </a:pPr>
            <a:r>
              <a:rPr lang="en-US" altLang="zh-CN" dirty="0" smtClean="0"/>
              <a:t>                            </a:t>
            </a:r>
            <a:r>
              <a:rPr lang="zh-CN" altLang="en-US" dirty="0" smtClean="0">
                <a:solidFill>
                  <a:srgbClr val="FF0000"/>
                </a:solidFill>
              </a:rPr>
              <a:t>性能上满足要求！</a:t>
            </a:r>
            <a:endParaRPr lang="zh-CN" altLang="en-US" dirty="0">
              <a:solidFill>
                <a:srgbClr val="FF0000"/>
              </a:solidFill>
            </a:endParaRPr>
          </a:p>
        </p:txBody>
      </p:sp>
      <p:pic>
        <p:nvPicPr>
          <p:cNvPr id="5" name="Picture 2" descr="D:\DOCS\My Work\Hybrid automata\BACH\OnlineV\OnlineV Framwork\sbrake.t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9" y="1577352"/>
            <a:ext cx="3964174" cy="1512168"/>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1556792"/>
            <a:ext cx="4227360" cy="2314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 name="Picture 2" descr="D:\Tex\OnlineV\FM\NewData\cps-sce.ti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9552" y="3140968"/>
            <a:ext cx="3892167" cy="73085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382814224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当前主要方向</a:t>
            </a:r>
            <a:endParaRPr lang="en-US" dirty="0"/>
          </a:p>
        </p:txBody>
      </p:sp>
      <p:sp>
        <p:nvSpPr>
          <p:cNvPr id="3" name="Content Placeholder 2"/>
          <p:cNvSpPr>
            <a:spLocks noGrp="1"/>
          </p:cNvSpPr>
          <p:nvPr>
            <p:ph idx="1"/>
          </p:nvPr>
        </p:nvSpPr>
        <p:spPr/>
        <p:txBody>
          <a:bodyPr/>
          <a:lstStyle/>
          <a:p>
            <a:r>
              <a:rPr lang="zh-CN" altLang="en-US" dirty="0" smtClean="0"/>
              <a:t>非线性实时系统验证</a:t>
            </a:r>
            <a:endParaRPr lang="en-US" altLang="zh-CN" dirty="0" smtClean="0"/>
          </a:p>
          <a:p>
            <a:pPr marL="0" indent="0">
              <a:buNone/>
            </a:pPr>
            <a:endParaRPr lang="en-US" dirty="0"/>
          </a:p>
          <a:p>
            <a:r>
              <a:rPr lang="en-US" altLang="zh-CN" dirty="0" smtClean="0"/>
              <a:t>CPS</a:t>
            </a:r>
            <a:r>
              <a:rPr lang="zh-CN" altLang="en-US" dirty="0" smtClean="0"/>
              <a:t>系统验证与协同设计</a:t>
            </a:r>
            <a:endParaRPr lang="en-US" altLang="zh-CN" dirty="0" smtClean="0"/>
          </a:p>
          <a:p>
            <a:endParaRPr lang="en-US" dirty="0"/>
          </a:p>
          <a:p>
            <a:r>
              <a:rPr lang="zh-CN" altLang="en-US" dirty="0" smtClean="0"/>
              <a:t>用户级物联网验证与自动修复</a:t>
            </a:r>
            <a:endParaRPr lang="en-US" altLang="zh-CN" dirty="0" smtClean="0"/>
          </a:p>
          <a:p>
            <a:endParaRPr lang="en-US" dirty="0"/>
          </a:p>
          <a:p>
            <a:r>
              <a:rPr lang="zh-CN" altLang="en-US" dirty="0"/>
              <a:t>软件代码验证</a:t>
            </a:r>
            <a:endParaRPr lang="en-US" altLang="zh-CN" dirty="0"/>
          </a:p>
          <a:p>
            <a:endParaRPr lang="en-US" dirty="0"/>
          </a:p>
        </p:txBody>
      </p:sp>
    </p:spTree>
    <p:extLst>
      <p:ext uri="{BB962C8B-B14F-4D97-AF65-F5344CB8AC3E}">
        <p14:creationId xmlns:p14="http://schemas.microsoft.com/office/powerpoint/2010/main" val="55832913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endParaRPr lang="en-US" altLang="zh-CN" smtClean="0">
              <a:ea typeface="宋体" charset="-122"/>
            </a:endParaRPr>
          </a:p>
        </p:txBody>
      </p:sp>
      <p:sp>
        <p:nvSpPr>
          <p:cNvPr id="26629" name="内容占位符 4"/>
          <p:cNvSpPr>
            <a:spLocks noGrp="1"/>
          </p:cNvSpPr>
          <p:nvPr>
            <p:ph sz="quarter" idx="1"/>
          </p:nvPr>
        </p:nvSpPr>
        <p:spPr/>
        <p:txBody>
          <a:bodyPr/>
          <a:lstStyle/>
          <a:p>
            <a:pPr eaLnBrk="1" hangingPunct="1"/>
            <a:endParaRPr lang="en-US" altLang="zh-CN" smtClean="0"/>
          </a:p>
        </p:txBody>
      </p:sp>
      <p:sp>
        <p:nvSpPr>
          <p:cNvPr id="7" name="矩形 6"/>
          <p:cNvSpPr/>
          <p:nvPr/>
        </p:nvSpPr>
        <p:spPr>
          <a:xfrm>
            <a:off x="3733800" y="3801070"/>
            <a:ext cx="1678665" cy="923330"/>
          </a:xfrm>
          <a:prstGeom prst="rect">
            <a:avLst/>
          </a:prstGeom>
          <a:noFill/>
        </p:spPr>
        <p:txBody>
          <a:bodyPr wrap="none">
            <a:spAutoFit/>
          </a:bodyPr>
          <a:lstStyle/>
          <a:p>
            <a:pPr algn="ctr" fontAlgn="auto">
              <a:spcBef>
                <a:spcPts val="0"/>
              </a:spcBef>
              <a:spcAft>
                <a:spcPts val="0"/>
              </a:spcAft>
              <a:defRPr/>
            </a:pPr>
            <a:r>
              <a:rPr lang="en-US" altLang="zh-CN" sz="5400" b="1" dirty="0">
                <a:ln w="18000">
                  <a:solidFill>
                    <a:schemeClr val="accent2">
                      <a:satMod val="140000"/>
                    </a:schemeClr>
                  </a:solidFill>
                  <a:prstDash val="solid"/>
                  <a:miter lim="800000"/>
                </a:ln>
                <a:effectLst>
                  <a:outerShdw blurRad="25500" dist="23000" dir="7020000" algn="tl">
                    <a:srgbClr val="000000">
                      <a:alpha val="50000"/>
                    </a:srgbClr>
                  </a:outerShdw>
                </a:effectLst>
                <a:latin typeface="+mn-lt"/>
                <a:ea typeface="+mn-ea"/>
              </a:rPr>
              <a:t>Q&amp;A</a:t>
            </a:r>
            <a:endParaRPr lang="zh-CN" altLang="en-US" sz="5400" b="1" dirty="0">
              <a:ln w="18000">
                <a:solidFill>
                  <a:schemeClr val="accent2">
                    <a:satMod val="140000"/>
                  </a:schemeClr>
                </a:solidFill>
                <a:prstDash val="solid"/>
                <a:miter lim="800000"/>
              </a:ln>
              <a:effectLst>
                <a:outerShdw blurRad="25500" dist="23000" dir="7020000" algn="tl">
                  <a:srgbClr val="000000">
                    <a:alpha val="50000"/>
                  </a:srgbClr>
                </a:outerShdw>
              </a:effectLst>
              <a:latin typeface="+mn-lt"/>
              <a:ea typeface="+mn-ea"/>
            </a:endParaRPr>
          </a:p>
        </p:txBody>
      </p:sp>
      <p:sp>
        <p:nvSpPr>
          <p:cNvPr id="9" name="矩形 8"/>
          <p:cNvSpPr/>
          <p:nvPr/>
        </p:nvSpPr>
        <p:spPr>
          <a:xfrm>
            <a:off x="3401545" y="2353270"/>
            <a:ext cx="2313455" cy="923330"/>
          </a:xfrm>
          <a:prstGeom prst="rect">
            <a:avLst/>
          </a:prstGeom>
          <a:noFill/>
        </p:spPr>
        <p:txBody>
          <a:bodyPr wrap="none">
            <a:spAutoFit/>
          </a:bodyPr>
          <a:lstStyle/>
          <a:p>
            <a:pPr algn="ctr" fontAlgn="auto">
              <a:spcBef>
                <a:spcPts val="0"/>
              </a:spcBef>
              <a:spcAft>
                <a:spcPts val="0"/>
              </a:spcAft>
              <a:defRPr/>
            </a:pPr>
            <a:r>
              <a:rPr lang="en-US" altLang="zh-CN" sz="5400" b="1" dirty="0">
                <a:ln w="18000">
                  <a:solidFill>
                    <a:schemeClr val="accent2">
                      <a:satMod val="140000"/>
                    </a:schemeClr>
                  </a:solidFill>
                  <a:prstDash val="solid"/>
                  <a:miter lim="800000"/>
                </a:ln>
                <a:effectLst>
                  <a:outerShdw blurRad="25500" dist="23000" dir="7020000" algn="tl">
                    <a:srgbClr val="000000">
                      <a:alpha val="50000"/>
                    </a:srgbClr>
                  </a:outerShdw>
                </a:effectLst>
                <a:latin typeface="+mn-lt"/>
                <a:ea typeface="+mn-ea"/>
              </a:rPr>
              <a:t>Thanks</a:t>
            </a:r>
            <a:endParaRPr lang="zh-CN" altLang="en-US" sz="5400" b="1" dirty="0">
              <a:ln w="18000">
                <a:solidFill>
                  <a:schemeClr val="accent2">
                    <a:satMod val="140000"/>
                  </a:schemeClr>
                </a:solidFill>
                <a:prstDash val="solid"/>
                <a:miter lim="800000"/>
              </a:ln>
              <a:effectLst>
                <a:outerShdw blurRad="25500" dist="23000" dir="7020000" algn="tl">
                  <a:srgbClr val="000000">
                    <a:alpha val="50000"/>
                  </a:srgbClr>
                </a:outerShdw>
              </a:effectLst>
              <a:latin typeface="+mn-lt"/>
              <a:ea typeface="+mn-ea"/>
            </a:endParaRPr>
          </a:p>
        </p:txBody>
      </p:sp>
    </p:spTree>
    <p:extLst>
      <p:ext uri="{BB962C8B-B14F-4D97-AF65-F5344CB8AC3E}">
        <p14:creationId xmlns:p14="http://schemas.microsoft.com/office/powerpoint/2010/main" val="2543302165"/>
      </p:ext>
    </p:extLst>
  </p:cSld>
  <p:clrMapOvr>
    <a:masterClrMapping/>
  </p:clrMapOvr>
  <p:timing>
    <p:tnLst>
      <p:par>
        <p:cTn id="1" dur="indefinite" restart="never" nodeType="tmRoot"/>
      </p:par>
    </p:tnLst>
  </p:timing>
</p:sld>
</file>

<file path=ppt/theme/theme1.xml><?xml version="1.0" encoding="utf-8"?>
<a:theme xmlns:a="http://schemas.openxmlformats.org/drawingml/2006/main" name="seg">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Times New Roman" charset="0"/>
            <a:ea typeface="宋体"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BACH</Template>
  <TotalTime>777</TotalTime>
  <Words>3413</Words>
  <Application>Microsoft Macintosh PowerPoint</Application>
  <PresentationFormat>全屏显示(4:3)</PresentationFormat>
  <Paragraphs>820</Paragraphs>
  <Slides>72</Slides>
  <Notes>7</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72</vt:i4>
      </vt:variant>
    </vt:vector>
  </HeadingPairs>
  <TitlesOfParts>
    <vt:vector size="92" baseType="lpstr">
      <vt:lpstr>Book Antiqua</vt:lpstr>
      <vt:lpstr>Calibri</vt:lpstr>
      <vt:lpstr>Cambria Math</vt:lpstr>
      <vt:lpstr>Lucida Console</vt:lpstr>
      <vt:lpstr>MingLiU</vt:lpstr>
      <vt:lpstr>Symbol</vt:lpstr>
      <vt:lpstr>Tahoma</vt:lpstr>
      <vt:lpstr>Times</vt:lpstr>
      <vt:lpstr>Times New Roman</vt:lpstr>
      <vt:lpstr>Verdana</vt:lpstr>
      <vt:lpstr>Wingdings</vt:lpstr>
      <vt:lpstr>Wingdings 2</vt:lpstr>
      <vt:lpstr>华文楷体</vt:lpstr>
      <vt:lpstr>华文宋体</vt:lpstr>
      <vt:lpstr>楷体_GB2312</vt:lpstr>
      <vt:lpstr>宋体</vt:lpstr>
      <vt:lpstr>新細明體</vt:lpstr>
      <vt:lpstr>Arial</vt:lpstr>
      <vt:lpstr>seg</vt:lpstr>
      <vt:lpstr>Equation</vt:lpstr>
      <vt:lpstr>Model Checking</vt:lpstr>
      <vt:lpstr>大纲</vt:lpstr>
      <vt:lpstr>PowerPoint 演示文稿</vt:lpstr>
      <vt:lpstr>硬件</vt:lpstr>
      <vt:lpstr>欧洲阿丽亚娜5型火箭</vt:lpstr>
      <vt:lpstr>美国F-22猛禽战斗机</vt:lpstr>
      <vt:lpstr>PowerPoint 演示文稿</vt:lpstr>
      <vt:lpstr>提高系统可靠性</vt:lpstr>
      <vt:lpstr>提高可信度的途径</vt:lpstr>
      <vt:lpstr>形式化方法</vt:lpstr>
      <vt:lpstr>模型检验</vt:lpstr>
      <vt:lpstr>在硬件，协议设计上巨大成功</vt:lpstr>
      <vt:lpstr>07 Turing Award!</vt:lpstr>
      <vt:lpstr>模型检验的过程</vt:lpstr>
      <vt:lpstr>模型检验</vt:lpstr>
      <vt:lpstr>模型检验</vt:lpstr>
      <vt:lpstr>模型：Kripke Model</vt:lpstr>
      <vt:lpstr>Kripke Structure</vt:lpstr>
      <vt:lpstr>Temporal Logics</vt:lpstr>
      <vt:lpstr>PowerPoint 演示文稿</vt:lpstr>
      <vt:lpstr>PowerPoint 演示文稿</vt:lpstr>
      <vt:lpstr>CTL</vt:lpstr>
      <vt:lpstr>PowerPoint 演示文稿</vt:lpstr>
      <vt:lpstr>CTL</vt:lpstr>
      <vt:lpstr>Examples</vt:lpstr>
      <vt:lpstr>PowerPoint 演示文稿</vt:lpstr>
      <vt:lpstr>Express Properties</vt:lpstr>
      <vt:lpstr>Express Properties</vt:lpstr>
      <vt:lpstr>Express Properties</vt:lpstr>
      <vt:lpstr>基本验证方法</vt:lpstr>
      <vt:lpstr>PowerPoint 演示文稿</vt:lpstr>
      <vt:lpstr> </vt:lpstr>
      <vt:lpstr>LTL</vt:lpstr>
      <vt:lpstr>LTL</vt:lpstr>
      <vt:lpstr>Büchi Automata</vt:lpstr>
      <vt:lpstr>Example</vt:lpstr>
      <vt:lpstr>LTL Model Checking</vt:lpstr>
      <vt:lpstr>关键问题</vt:lpstr>
      <vt:lpstr>Symbolic Model Checking</vt:lpstr>
      <vt:lpstr>Ordered Binary Decision Diagram (OBDD)</vt:lpstr>
      <vt:lpstr>Reduced Ordered BDD</vt:lpstr>
      <vt:lpstr>Reduced Ordered BDD</vt:lpstr>
      <vt:lpstr>Reduced Ordered BDD</vt:lpstr>
      <vt:lpstr>Reduced Ordered BDD</vt:lpstr>
      <vt:lpstr>主要优化技术</vt:lpstr>
      <vt:lpstr>PowerPoint 演示文稿</vt:lpstr>
      <vt:lpstr>Partial Order Reduction</vt:lpstr>
      <vt:lpstr>反例制导的抽象精化</vt:lpstr>
      <vt:lpstr>抽象（Abstraction）</vt:lpstr>
      <vt:lpstr>Counterexample-Guided  Abstraction-Refinement (CEGAR)</vt:lpstr>
      <vt:lpstr>有界模型检验 Bounded Model Checking (BMC)</vt:lpstr>
      <vt:lpstr>SAT技术</vt:lpstr>
      <vt:lpstr>经典的SAT－Based BMC 方法</vt:lpstr>
      <vt:lpstr>BMC idea (cont’d)</vt:lpstr>
      <vt:lpstr>Safety-checking as BMC </vt:lpstr>
      <vt:lpstr>Example: a two bit counter</vt:lpstr>
      <vt:lpstr>SMT based BMC</vt:lpstr>
      <vt:lpstr>复杂系统模型检验</vt:lpstr>
      <vt:lpstr>实时嵌入式系统</vt:lpstr>
      <vt:lpstr>水箱监控系统</vt:lpstr>
      <vt:lpstr>混成系统</vt:lpstr>
      <vt:lpstr>混成系统研究现状</vt:lpstr>
      <vt:lpstr>我们的工作</vt:lpstr>
      <vt:lpstr>工具现状</vt:lpstr>
      <vt:lpstr>CPS</vt:lpstr>
      <vt:lpstr>示例系统一</vt:lpstr>
      <vt:lpstr>示例系统二</vt:lpstr>
      <vt:lpstr>建模与验证</vt:lpstr>
      <vt:lpstr>在线建模与验证</vt:lpstr>
      <vt:lpstr>在线建模及试验评估</vt:lpstr>
      <vt:lpstr>当前主要方向</vt:lpstr>
      <vt:lpstr>PowerPoint 演示文稿</vt:lpstr>
    </vt:vector>
  </TitlesOfParts>
  <Company>NJU</Company>
  <LinksUpToDate>false</LinksUpToDate>
  <SharedDoc>false</SharedDoc>
  <HyperlinksChanged>false</HyperlinksChanged>
  <AppVersion>15.0029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Checking</dc:title>
  <dc:creator>Bu Lei</dc:creator>
  <cp:lastModifiedBy>卜磊</cp:lastModifiedBy>
  <cp:revision>75</cp:revision>
  <dcterms:created xsi:type="dcterms:W3CDTF">2011-05-11T14:30:50Z</dcterms:created>
  <dcterms:modified xsi:type="dcterms:W3CDTF">2016-12-18T14:06:05Z</dcterms:modified>
</cp:coreProperties>
</file>