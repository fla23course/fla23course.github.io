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89" r:id="rId8"/>
    <p:sldId id="262" r:id="rId9"/>
    <p:sldId id="263" r:id="rId10"/>
    <p:sldId id="264" r:id="rId11"/>
    <p:sldId id="265" r:id="rId12"/>
    <p:sldId id="266" r:id="rId13"/>
    <p:sldId id="267" r:id="rId14"/>
    <p:sldId id="291" r:id="rId15"/>
    <p:sldId id="283" r:id="rId16"/>
    <p:sldId id="284" r:id="rId17"/>
    <p:sldId id="285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90" r:id="rId32"/>
    <p:sldId id="286" r:id="rId33"/>
    <p:sldId id="287" r:id="rId34"/>
    <p:sldId id="292" r:id="rId35"/>
    <p:sldId id="293" r:id="rId36"/>
    <p:sldId id="294" r:id="rId37"/>
    <p:sldId id="296" r:id="rId38"/>
    <p:sldId id="295" r:id="rId39"/>
    <p:sldId id="288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3475"/>
  </p:normalViewPr>
  <p:slideViewPr>
    <p:cSldViewPr snapToGrid="0" snapToObjects="1">
      <p:cViewPr varScale="1">
        <p:scale>
          <a:sx n="122" d="100"/>
          <a:sy n="122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F31489-5462-314B-AB48-8CCB6D1CD283}" type="datetimeFigureOut">
              <a:rPr kumimoji="1" lang="zh-CN" altLang="en-US" smtClean="0"/>
              <a:t>2019/12/16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DEE2B-9943-C042-A155-F1E0B21CB6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95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B8F98B2-CA03-8749-B8B5-3FDAFD92555F}" type="slidenum">
              <a:rPr lang="en-US" altLang="x-none"/>
              <a:pPr eaLnBrk="1" hangingPunct="1"/>
              <a:t>2</a:t>
            </a:fld>
            <a:endParaRPr lang="en-US" altLang="x-none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33098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7E76CBD-B393-D249-945A-B41DF51B5A00}" type="slidenum">
              <a:rPr lang="en-US" altLang="x-none"/>
              <a:pPr eaLnBrk="1" hangingPunct="1"/>
              <a:t>3</a:t>
            </a:fld>
            <a:endParaRPr lang="en-US" altLang="x-none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124797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651950-0F8C-F449-9120-39EE13FE48A5}" type="slidenum">
              <a:rPr lang="en-US" altLang="x-none"/>
              <a:pPr eaLnBrk="1" hangingPunct="1"/>
              <a:t>4</a:t>
            </a:fld>
            <a:endParaRPr lang="en-US" altLang="x-none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359141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1E51350-BFEC-EC45-8440-9D2B4C2905DD}" type="slidenum">
              <a:rPr lang="en-US" altLang="x-none"/>
              <a:pPr eaLnBrk="1" hangingPunct="1"/>
              <a:t>5</a:t>
            </a:fld>
            <a:endParaRPr lang="en-US" altLang="x-none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650791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0B403D8-5538-7147-984F-3F60B13F8D12}" type="slidenum">
              <a:rPr lang="en-US" altLang="x-none"/>
              <a:pPr eaLnBrk="1" hangingPunct="1"/>
              <a:t>6</a:t>
            </a:fld>
            <a:endParaRPr lang="en-US" altLang="x-none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93070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1F142-1DD9-C447-A271-0111FCC7F2F4}" type="slidenum">
              <a:rPr lang="en-US" altLang="x-none"/>
              <a:pPr eaLnBrk="1" hangingPunct="1"/>
              <a:t>8</a:t>
            </a:fld>
            <a:endParaRPr lang="en-US" altLang="x-none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867198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0F7B5C-C879-4B43-8340-CC55FB9606E8}" type="slidenum">
              <a:rPr lang="en-US" altLang="x-none"/>
              <a:pPr eaLnBrk="1" hangingPunct="1"/>
              <a:t>9</a:t>
            </a:fld>
            <a:endParaRPr lang="en-US" altLang="x-none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801344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F0952DD-CE2A-DF40-B616-E4FAAE77BECE}" type="slidenum">
              <a:rPr lang="en-US" altLang="x-none"/>
              <a:pPr eaLnBrk="1" hangingPunct="1"/>
              <a:t>10</a:t>
            </a:fld>
            <a:endParaRPr lang="en-US" altLang="x-none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342118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3A3B67-97B4-784B-9233-7870604D73CD}" type="slidenum">
              <a:rPr lang="en-US" altLang="x-none"/>
              <a:pPr eaLnBrk="1" hangingPunct="1"/>
              <a:t>11</a:t>
            </a:fld>
            <a:endParaRPr lang="en-US" altLang="x-none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843291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EACCE6C-71A1-A946-88DE-FF8E43DB1DA4}" type="slidenum">
              <a:rPr lang="en-US" altLang="x-none"/>
              <a:pPr eaLnBrk="1" hangingPunct="1"/>
              <a:t>12</a:t>
            </a:fld>
            <a:endParaRPr lang="en-US" altLang="x-none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500538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C6564A7-0B56-6C4D-BA29-64D0BE41D186}" type="slidenum">
              <a:rPr lang="en-US" altLang="x-none"/>
              <a:pPr eaLnBrk="1" hangingPunct="1"/>
              <a:t>13</a:t>
            </a:fld>
            <a:endParaRPr lang="en-US" altLang="x-none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231101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7946C4-7D9C-3840-8450-B6672B26A722}" type="slidenum">
              <a:rPr lang="zh-CN" altLang="en-US"/>
              <a:pPr/>
              <a:t>15</a:t>
            </a:fld>
            <a:endParaRPr lang="zh-CN" alt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196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A8E9E7-B9C1-CD42-A6A3-05D616F23478}" type="slidenum">
              <a:rPr lang="zh-CN" altLang="en-US"/>
              <a:pPr/>
              <a:t>16</a:t>
            </a:fld>
            <a:endParaRPr lang="zh-CN" altLang="en-US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280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F5B3CD7E-930A-3E49-88B9-C83D286E5283}" type="slidenum">
              <a:rPr lang="en-US" altLang="x-none" sz="1300"/>
              <a:pPr/>
              <a:t>17</a:t>
            </a:fld>
            <a:endParaRPr lang="en-US" altLang="x-none" sz="130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5768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7AC6D9-5941-5444-A5A9-5AA38F59BE90}" type="slidenum">
              <a:rPr lang="en-US" altLang="x-none"/>
              <a:pPr eaLnBrk="1" hangingPunct="1"/>
              <a:t>18</a:t>
            </a:fld>
            <a:endParaRPr lang="en-US" altLang="x-none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074015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BED697F-462F-5549-988C-CCF90A32033D}" type="slidenum">
              <a:rPr lang="en-US" altLang="x-none"/>
              <a:pPr eaLnBrk="1" hangingPunct="1"/>
              <a:t>19</a:t>
            </a:fld>
            <a:endParaRPr lang="en-US" altLang="x-none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211578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98A7631-1DDD-9F4C-96DF-E1A5A3044B53}" type="slidenum">
              <a:rPr lang="en-US" altLang="x-none"/>
              <a:pPr eaLnBrk="1" hangingPunct="1"/>
              <a:t>20</a:t>
            </a:fld>
            <a:endParaRPr lang="en-US" altLang="x-none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7971568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C5D1E65-E863-F84B-9459-31401982D250}" type="slidenum">
              <a:rPr lang="en-US" altLang="x-none"/>
              <a:pPr eaLnBrk="1" hangingPunct="1"/>
              <a:t>21</a:t>
            </a:fld>
            <a:endParaRPr lang="en-US" altLang="x-none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4930741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8BE0B7B-BA0D-4C42-9442-84050F3337EA}" type="slidenum">
              <a:rPr lang="en-US" altLang="x-none"/>
              <a:pPr eaLnBrk="1" hangingPunct="1"/>
              <a:t>22</a:t>
            </a:fld>
            <a:endParaRPr lang="en-US" altLang="x-none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8774148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79BBCFF-01AD-244C-A576-C26673FD6ED0}" type="slidenum">
              <a:rPr lang="en-US" altLang="x-none"/>
              <a:pPr eaLnBrk="1" hangingPunct="1"/>
              <a:t>23</a:t>
            </a:fld>
            <a:endParaRPr lang="en-US" altLang="x-none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21407042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86E8BB9-4E77-B744-AEB4-4365F50E4BB4}" type="slidenum">
              <a:rPr lang="en-US" altLang="x-none"/>
              <a:pPr eaLnBrk="1" hangingPunct="1"/>
              <a:t>24</a:t>
            </a:fld>
            <a:endParaRPr lang="en-US" altLang="x-none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21091248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CBEAC53-BABB-2A4D-B461-B3C52B4D3393}" type="slidenum">
              <a:rPr lang="en-US" altLang="x-none"/>
              <a:pPr eaLnBrk="1" hangingPunct="1"/>
              <a:t>25</a:t>
            </a:fld>
            <a:endParaRPr lang="en-US" altLang="x-none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4572818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F138AE2-E6DE-D74E-BBDE-6E5202EB2ADA}" type="slidenum">
              <a:rPr lang="en-US" altLang="x-none"/>
              <a:pPr eaLnBrk="1" hangingPunct="1"/>
              <a:t>26</a:t>
            </a:fld>
            <a:endParaRPr lang="en-US" altLang="x-none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1384363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B14C278-FD0F-6C46-8046-E8A07E2D50F9}" type="slidenum">
              <a:rPr lang="en-US" altLang="x-none"/>
              <a:pPr eaLnBrk="1" hangingPunct="1"/>
              <a:t>27</a:t>
            </a:fld>
            <a:endParaRPr lang="en-US" altLang="x-none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245584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7B24D57-A116-2A45-AC5B-D6EA2C3B95D0}" type="slidenum">
              <a:rPr lang="en-US" altLang="x-none"/>
              <a:pPr eaLnBrk="1" hangingPunct="1"/>
              <a:t>28</a:t>
            </a:fld>
            <a:endParaRPr lang="en-US" altLang="x-none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826745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304800" y="1635125"/>
            <a:ext cx="3352800" cy="25146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w"/>
            </a:pPr>
            <a:endParaRPr lang="zh-CN" altLang="zh-CN" sz="1800">
              <a:latin typeface="Arial" charset="0"/>
              <a:ea typeface="宋体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hidden">
          <a:xfrm>
            <a:off x="0" y="2397125"/>
            <a:ext cx="6299200" cy="1143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w"/>
            </a:pPr>
            <a:endParaRPr lang="zh-CN" altLang="zh-CN" sz="2400">
              <a:ea typeface="宋体" charset="-122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hidden">
          <a:xfrm>
            <a:off x="5283200" y="2397125"/>
            <a:ext cx="6299200" cy="1143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w"/>
            </a:pPr>
            <a:endParaRPr lang="zh-CN" altLang="zh-CN" sz="2400">
              <a:ea typeface="宋体" charset="-122"/>
            </a:endParaRPr>
          </a:p>
        </p:txBody>
      </p:sp>
      <p:pic>
        <p:nvPicPr>
          <p:cNvPr id="7" name="Picture 10" descr="tow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2785" y="188914"/>
            <a:ext cx="26543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1" descr="NJU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1" y="260351"/>
            <a:ext cx="3071283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1" y="6092826"/>
            <a:ext cx="12156016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68414"/>
            <a:ext cx="12156017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944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4078818" y="4149726"/>
            <a:ext cx="6913033" cy="1336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9449" name="Rectangle 9"/>
          <p:cNvSpPr>
            <a:spLocks noGrp="1" noChangeArrowheads="1"/>
          </p:cNvSpPr>
          <p:nvPr>
            <p:ph type="ctrTitle"/>
          </p:nvPr>
        </p:nvSpPr>
        <p:spPr>
          <a:xfrm>
            <a:off x="1117600" y="2163763"/>
            <a:ext cx="9874251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914401" y="6284913"/>
            <a:ext cx="1725084" cy="457200"/>
          </a:xfrm>
        </p:spPr>
        <p:txBody>
          <a:bodyPr/>
          <a:lstStyle>
            <a:lvl1pPr>
              <a:defRPr/>
            </a:lvl1pPr>
          </a:lstStyle>
          <a:p>
            <a:fld id="{F94FEB6F-B7C2-B940-9CB6-A9F0DC763507}" type="datetimeFigureOut">
              <a:rPr kumimoji="1" lang="zh-CN" altLang="en-US" smtClean="0"/>
              <a:t>2019/12/16</a:t>
            </a:fld>
            <a:endParaRPr kumimoji="1" lang="zh-CN" altLang="en-US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927351" y="6202363"/>
            <a:ext cx="6817783" cy="539750"/>
          </a:xfrm>
        </p:spPr>
        <p:txBody>
          <a:bodyPr/>
          <a:lstStyle>
            <a:lvl1pPr>
              <a:defRPr/>
            </a:lvl1pPr>
          </a:lstStyle>
          <a:p>
            <a:endParaRPr kumimoji="1" lang="zh-CN" altLang="en-US"/>
          </a:p>
        </p:txBody>
      </p:sp>
      <p:sp>
        <p:nvSpPr>
          <p:cNvPr id="13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EB180F28-4A44-8E47-B538-A8063EDAC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4FEB6F-B7C2-B940-9CB6-A9F0DC763507}" type="datetimeFigureOut">
              <a:rPr kumimoji="1" lang="zh-CN" altLang="en-US" smtClean="0"/>
              <a:t>2019/12/16</a:t>
            </a:fld>
            <a:endParaRPr kumimoji="1"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180F28-4A44-8E47-B538-A8063EDAC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4FEB6F-B7C2-B940-9CB6-A9F0DC763507}" type="datetimeFigureOut">
              <a:rPr kumimoji="1" lang="zh-CN" altLang="en-US" smtClean="0"/>
              <a:t>2019/12/16</a:t>
            </a:fld>
            <a:endParaRPr kumimoji="1"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180F28-4A44-8E47-B538-A8063EDAC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4418" y="1484313"/>
            <a:ext cx="5325533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53152" y="1484313"/>
            <a:ext cx="5327649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4FEB6F-B7C2-B940-9CB6-A9F0DC763507}" type="datetimeFigureOut">
              <a:rPr kumimoji="1" lang="zh-CN" altLang="en-US" smtClean="0"/>
              <a:t>2019/12/16</a:t>
            </a:fld>
            <a:endParaRPr kumimoji="1"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180F28-4A44-8E47-B538-A8063EDAC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4FEB6F-B7C2-B940-9CB6-A9F0DC763507}" type="datetimeFigureOut">
              <a:rPr kumimoji="1" lang="zh-CN" altLang="en-US" smtClean="0"/>
              <a:t>2019/12/16</a:t>
            </a:fld>
            <a:endParaRPr kumimoji="1" lang="zh-CN" alt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zh-CN" altLang="en-U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180F28-4A44-8E47-B538-A8063EDAC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4FEB6F-B7C2-B940-9CB6-A9F0DC763507}" type="datetimeFigureOut">
              <a:rPr kumimoji="1" lang="zh-CN" altLang="en-US" smtClean="0"/>
              <a:t>2019/12/16</a:t>
            </a:fld>
            <a:endParaRPr kumimoji="1"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180F28-4A44-8E47-B538-A8063EDAC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4FEB6F-B7C2-B940-9CB6-A9F0DC763507}" type="datetimeFigureOut">
              <a:rPr kumimoji="1" lang="zh-CN" altLang="en-US" smtClean="0"/>
              <a:t>2019/12/16</a:t>
            </a:fld>
            <a:endParaRPr kumimoji="1"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180F28-4A44-8E47-B538-A8063EDAC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4FEB6F-B7C2-B940-9CB6-A9F0DC763507}" type="datetimeFigureOut">
              <a:rPr kumimoji="1" lang="zh-CN" altLang="en-US" smtClean="0"/>
              <a:t>2019/12/16</a:t>
            </a:fld>
            <a:endParaRPr kumimoji="1"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180F28-4A44-8E47-B538-A8063EDAC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4FEB6F-B7C2-B940-9CB6-A9F0DC763507}" type="datetimeFigureOut">
              <a:rPr kumimoji="1" lang="zh-CN" altLang="en-US" smtClean="0"/>
              <a:t>2019/12/16</a:t>
            </a:fld>
            <a:endParaRPr kumimoji="1"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180F28-4A44-8E47-B538-A8063EDAC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4FEB6F-B7C2-B940-9CB6-A9F0DC763507}" type="datetimeFigureOut">
              <a:rPr kumimoji="1" lang="zh-CN" altLang="en-US" smtClean="0"/>
              <a:t>2019/12/16</a:t>
            </a:fld>
            <a:endParaRPr kumimoji="1"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180F28-4A44-8E47-B538-A8063EDAC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7234" y="404813"/>
            <a:ext cx="2713567" cy="5472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4417" y="404813"/>
            <a:ext cx="7939616" cy="5472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4FEB6F-B7C2-B940-9CB6-A9F0DC763507}" type="datetimeFigureOut">
              <a:rPr kumimoji="1" lang="zh-CN" altLang="en-US" smtClean="0"/>
              <a:t>2019/12/16</a:t>
            </a:fld>
            <a:endParaRPr kumimoji="1"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180F28-4A44-8E47-B538-A8063EDAC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125538"/>
            <a:ext cx="2844800" cy="1016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w"/>
            </a:pPr>
            <a:endParaRPr lang="zh-CN" altLang="zh-CN" sz="2400">
              <a:ea typeface="宋体" charset="-122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930400" y="1125538"/>
            <a:ext cx="9652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w"/>
            </a:pPr>
            <a:endParaRPr lang="zh-CN" altLang="zh-CN" sz="2400">
              <a:ea typeface="宋体" charset="-122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390651" y="404813"/>
            <a:ext cx="748876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18" y="1484313"/>
            <a:ext cx="10856383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1030" name="Picture 6" descr="towe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2785" y="188914"/>
            <a:ext cx="26543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42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4917" y="6284913"/>
            <a:ext cx="17250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w"/>
              <a:defRPr sz="1600">
                <a:latin typeface="+mn-lt"/>
                <a:ea typeface="宋体" pitchFamily="2" charset="-122"/>
              </a:defRPr>
            </a:lvl1pPr>
          </a:lstStyle>
          <a:p>
            <a:fld id="{F94FEB6F-B7C2-B940-9CB6-A9F0DC763507}" type="datetimeFigureOut">
              <a:rPr kumimoji="1" lang="zh-CN" altLang="en-US" smtClean="0"/>
              <a:t>2019/12/16</a:t>
            </a:fld>
            <a:endParaRPr kumimoji="1" lang="zh-CN" altLang="en-US"/>
          </a:p>
        </p:txBody>
      </p:sp>
      <p:sp>
        <p:nvSpPr>
          <p:cNvPr id="18842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34733" y="6202363"/>
            <a:ext cx="70104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w"/>
              <a:defRPr sz="1600">
                <a:latin typeface="+mn-lt"/>
                <a:ea typeface="宋体" pitchFamily="2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18842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33000" y="6284913"/>
            <a:ext cx="124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w"/>
              <a:defRPr sz="1600" smtClean="0">
                <a:latin typeface="+mn-lt"/>
                <a:ea typeface="宋体" pitchFamily="2" charset="-122"/>
              </a:defRPr>
            </a:lvl1pPr>
          </a:lstStyle>
          <a:p>
            <a:fld id="{EB180F28-4A44-8E47-B538-A8063EDAC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1" y="6092826"/>
            <a:ext cx="12156016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1" descr="校徽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17" y="261939"/>
            <a:ext cx="886883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721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3973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¡"/>
        <a:defRPr sz="2400">
          <a:solidFill>
            <a:schemeClr val="tx1"/>
          </a:solidFill>
          <a:latin typeface="+mn-lt"/>
          <a:ea typeface="+mn-ea"/>
        </a:defRPr>
      </a:lvl2pPr>
      <a:lvl3pPr marL="1293813" indent="-4032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3pPr>
      <a:lvl4pPr marL="1681163" indent="-38576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¡"/>
        <a:defRPr sz="2000">
          <a:solidFill>
            <a:schemeClr val="tx1"/>
          </a:solidFill>
          <a:latin typeface="+mn-lt"/>
          <a:ea typeface="+mn-ea"/>
        </a:defRPr>
      </a:lvl4pPr>
      <a:lvl5pPr marL="20701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5pPr>
      <a:lvl6pPr marL="25273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6pPr>
      <a:lvl7pPr marL="29845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7pPr>
      <a:lvl8pPr marL="34417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8pPr>
      <a:lvl9pPr marL="38989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hyperlink" Target="mailto:bulei@nju.edu.c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4888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Summary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altLang="x-none" dirty="0"/>
          </a:p>
          <a:p>
            <a:pPr algn="ctr">
              <a:buFontTx/>
              <a:buNone/>
            </a:pPr>
            <a:endParaRPr lang="en-US" altLang="x-none" dirty="0"/>
          </a:p>
          <a:p>
            <a:pPr algn="ctr">
              <a:buFontTx/>
              <a:buNone/>
            </a:pPr>
            <a:r>
              <a:rPr lang="en-US" altLang="x-none" sz="4000" dirty="0"/>
              <a:t>Automata</a:t>
            </a:r>
          </a:p>
          <a:p>
            <a:pPr>
              <a:buFontTx/>
              <a:buNone/>
            </a:pPr>
            <a:endParaRPr lang="en-US" altLang="x-none" sz="4000" dirty="0"/>
          </a:p>
        </p:txBody>
      </p:sp>
    </p:spTree>
    <p:extLst>
      <p:ext uri="{BB962C8B-B14F-4D97-AF65-F5344CB8AC3E}">
        <p14:creationId xmlns:p14="http://schemas.microsoft.com/office/powerpoint/2010/main" val="163384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Finite Automata</a:t>
            </a:r>
          </a:p>
        </p:txBody>
      </p:sp>
      <p:sp>
        <p:nvSpPr>
          <p:cNvPr id="36870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4876801"/>
            <a:ext cx="8229600" cy="1249363"/>
          </a:xfrm>
        </p:spPr>
        <p:txBody>
          <a:bodyPr/>
          <a:lstStyle/>
          <a:p>
            <a:r>
              <a:rPr lang="en-US" altLang="x-none"/>
              <a:t>read input one symbol at a time; follow arrows; accept if end in accept state</a:t>
            </a:r>
          </a:p>
        </p:txBody>
      </p:sp>
      <p:sp>
        <p:nvSpPr>
          <p:cNvPr id="36871" name="Oval 4"/>
          <p:cNvSpPr>
            <a:spLocks noChangeArrowheads="1"/>
          </p:cNvSpPr>
          <p:nvPr/>
        </p:nvSpPr>
        <p:spPr bwMode="auto">
          <a:xfrm>
            <a:off x="4648200" y="1828800"/>
            <a:ext cx="6858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36872" name="Oval 5"/>
          <p:cNvSpPr>
            <a:spLocks noChangeArrowheads="1"/>
          </p:cNvSpPr>
          <p:nvPr/>
        </p:nvSpPr>
        <p:spPr bwMode="auto">
          <a:xfrm>
            <a:off x="6705600" y="1828800"/>
            <a:ext cx="685800" cy="685800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36873" name="Oval 6"/>
          <p:cNvSpPr>
            <a:spLocks noChangeArrowheads="1"/>
          </p:cNvSpPr>
          <p:nvPr/>
        </p:nvSpPr>
        <p:spPr bwMode="auto">
          <a:xfrm>
            <a:off x="4648200" y="3581400"/>
            <a:ext cx="6858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cxnSp>
        <p:nvCxnSpPr>
          <p:cNvPr id="36874" name="AutoShape 7"/>
          <p:cNvCxnSpPr>
            <a:cxnSpLocks noChangeShapeType="1"/>
            <a:stCxn id="36871" idx="6"/>
            <a:endCxn id="36872" idx="2"/>
          </p:cNvCxnSpPr>
          <p:nvPr/>
        </p:nvCxnSpPr>
        <p:spPr bwMode="auto">
          <a:xfrm>
            <a:off x="5334001" y="2171700"/>
            <a:ext cx="13430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5" name="AutoShape 8"/>
          <p:cNvCxnSpPr>
            <a:cxnSpLocks noChangeShapeType="1"/>
            <a:stCxn id="36871" idx="4"/>
            <a:endCxn id="36873" idx="0"/>
          </p:cNvCxnSpPr>
          <p:nvPr/>
        </p:nvCxnSpPr>
        <p:spPr bwMode="auto">
          <a:xfrm rot="5400000">
            <a:off x="4457700" y="3048000"/>
            <a:ext cx="1066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6" name="AutoShape 9"/>
          <p:cNvCxnSpPr>
            <a:cxnSpLocks noChangeShapeType="1"/>
            <a:stCxn id="36872" idx="7"/>
            <a:endCxn id="36872" idx="6"/>
          </p:cNvCxnSpPr>
          <p:nvPr/>
        </p:nvCxnSpPr>
        <p:spPr bwMode="auto">
          <a:xfrm rot="5400000" flipV="1">
            <a:off x="7219951" y="1971676"/>
            <a:ext cx="271462" cy="128587"/>
          </a:xfrm>
          <a:prstGeom prst="curvedConnector4">
            <a:avLst>
              <a:gd name="adj1" fmla="val -110528"/>
              <a:gd name="adj2" fmla="val 25555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7" name="AutoShape 10"/>
          <p:cNvCxnSpPr>
            <a:cxnSpLocks noChangeShapeType="1"/>
            <a:stCxn id="36873" idx="5"/>
            <a:endCxn id="36873" idx="3"/>
          </p:cNvCxnSpPr>
          <p:nvPr/>
        </p:nvCxnSpPr>
        <p:spPr bwMode="auto">
          <a:xfrm rot="5400000">
            <a:off x="4990308" y="3925095"/>
            <a:ext cx="1587" cy="485775"/>
          </a:xfrm>
          <a:prstGeom prst="curvedConnector3">
            <a:avLst>
              <a:gd name="adj1" fmla="val 3640001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8" name="AutoShape 11"/>
          <p:cNvCxnSpPr>
            <a:cxnSpLocks noChangeShapeType="1"/>
            <a:endCxn id="36871" idx="2"/>
          </p:cNvCxnSpPr>
          <p:nvPr/>
        </p:nvCxnSpPr>
        <p:spPr bwMode="auto">
          <a:xfrm>
            <a:off x="4038600" y="2133600"/>
            <a:ext cx="609600" cy="38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79" name="Text Box 12"/>
          <p:cNvSpPr txBox="1">
            <a:spLocks noChangeArrowheads="1"/>
          </p:cNvSpPr>
          <p:nvPr/>
        </p:nvSpPr>
        <p:spPr bwMode="auto">
          <a:xfrm>
            <a:off x="2514600" y="27432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states</a:t>
            </a:r>
          </a:p>
        </p:txBody>
      </p:sp>
      <p:cxnSp>
        <p:nvCxnSpPr>
          <p:cNvPr id="36880" name="AutoShape 13"/>
          <p:cNvCxnSpPr>
            <a:cxnSpLocks noChangeShapeType="1"/>
            <a:stCxn id="36879" idx="3"/>
            <a:endCxn id="36871" idx="3"/>
          </p:cNvCxnSpPr>
          <p:nvPr/>
        </p:nvCxnSpPr>
        <p:spPr bwMode="auto">
          <a:xfrm flipV="1">
            <a:off x="3657601" y="2414588"/>
            <a:ext cx="1090613" cy="5572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1" name="AutoShape 14"/>
          <p:cNvCxnSpPr>
            <a:cxnSpLocks noChangeShapeType="1"/>
            <a:stCxn id="36879" idx="3"/>
            <a:endCxn id="36873" idx="1"/>
          </p:cNvCxnSpPr>
          <p:nvPr/>
        </p:nvCxnSpPr>
        <p:spPr bwMode="auto">
          <a:xfrm>
            <a:off x="3657601" y="2971801"/>
            <a:ext cx="1090613" cy="709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2" name="AutoShape 15"/>
          <p:cNvCxnSpPr>
            <a:cxnSpLocks noChangeShapeType="1"/>
            <a:stCxn id="36879" idx="3"/>
            <a:endCxn id="36872" idx="3"/>
          </p:cNvCxnSpPr>
          <p:nvPr/>
        </p:nvCxnSpPr>
        <p:spPr bwMode="auto">
          <a:xfrm flipV="1">
            <a:off x="3657601" y="2443164"/>
            <a:ext cx="3148013" cy="528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83" name="Text Box 16"/>
          <p:cNvSpPr txBox="1">
            <a:spLocks noChangeArrowheads="1"/>
          </p:cNvSpPr>
          <p:nvPr/>
        </p:nvSpPr>
        <p:spPr bwMode="auto">
          <a:xfrm>
            <a:off x="1828800" y="12954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400"/>
              <a:t>(single) start state</a:t>
            </a:r>
          </a:p>
        </p:txBody>
      </p:sp>
      <p:cxnSp>
        <p:nvCxnSpPr>
          <p:cNvPr id="36884" name="AutoShape 17"/>
          <p:cNvCxnSpPr>
            <a:cxnSpLocks noChangeShapeType="1"/>
            <a:stCxn id="36883" idx="3"/>
            <a:endCxn id="36871" idx="0"/>
          </p:cNvCxnSpPr>
          <p:nvPr/>
        </p:nvCxnSpPr>
        <p:spPr bwMode="auto">
          <a:xfrm>
            <a:off x="4495800" y="1524000"/>
            <a:ext cx="4953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85" name="Text Box 18"/>
          <p:cNvSpPr txBox="1">
            <a:spLocks noChangeArrowheads="1"/>
          </p:cNvSpPr>
          <p:nvPr/>
        </p:nvSpPr>
        <p:spPr bwMode="auto">
          <a:xfrm>
            <a:off x="6858000" y="3124200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400"/>
              <a:t>(several) accept states</a:t>
            </a:r>
          </a:p>
        </p:txBody>
      </p:sp>
      <p:cxnSp>
        <p:nvCxnSpPr>
          <p:cNvPr id="36886" name="AutoShape 19"/>
          <p:cNvCxnSpPr>
            <a:cxnSpLocks noChangeShapeType="1"/>
            <a:stCxn id="36885" idx="0"/>
            <a:endCxn id="36872" idx="5"/>
          </p:cNvCxnSpPr>
          <p:nvPr/>
        </p:nvCxnSpPr>
        <p:spPr bwMode="auto">
          <a:xfrm flipH="1" flipV="1">
            <a:off x="7291388" y="2443164"/>
            <a:ext cx="1204912" cy="6810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87" name="Text Box 20"/>
          <p:cNvSpPr txBox="1">
            <a:spLocks noChangeArrowheads="1"/>
          </p:cNvSpPr>
          <p:nvPr/>
        </p:nvSpPr>
        <p:spPr bwMode="auto">
          <a:xfrm>
            <a:off x="5791200" y="17668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6888" name="Text Box 21"/>
          <p:cNvSpPr txBox="1">
            <a:spLocks noChangeArrowheads="1"/>
          </p:cNvSpPr>
          <p:nvPr/>
        </p:nvSpPr>
        <p:spPr bwMode="auto">
          <a:xfrm>
            <a:off x="8686800" y="1387476"/>
            <a:ext cx="1447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alphabet </a:t>
            </a:r>
            <a:r>
              <a:rPr lang="el-GR" altLang="x-none" sz="2400">
                <a:ea typeface="Arial" charset="0"/>
                <a:cs typeface="Arial" charset="0"/>
              </a:rPr>
              <a:t>Σ</a:t>
            </a:r>
            <a:r>
              <a:rPr lang="en-US" altLang="x-none" sz="2400">
                <a:ea typeface="Arial" charset="0"/>
                <a:cs typeface="Arial" charset="0"/>
              </a:rPr>
              <a:t> = {0,1}</a:t>
            </a:r>
            <a:endParaRPr lang="el-GR" altLang="x-none" sz="2400">
              <a:ea typeface="Arial" charset="0"/>
              <a:cs typeface="Arial" charset="0"/>
            </a:endParaRPr>
          </a:p>
        </p:txBody>
      </p:sp>
      <p:sp>
        <p:nvSpPr>
          <p:cNvPr id="36889" name="Text Box 22"/>
          <p:cNvSpPr txBox="1">
            <a:spLocks noChangeArrowheads="1"/>
          </p:cNvSpPr>
          <p:nvPr/>
        </p:nvSpPr>
        <p:spPr bwMode="auto">
          <a:xfrm>
            <a:off x="4648200" y="29098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6890" name="Text Box 23"/>
          <p:cNvSpPr txBox="1">
            <a:spLocks noChangeArrowheads="1"/>
          </p:cNvSpPr>
          <p:nvPr/>
        </p:nvSpPr>
        <p:spPr bwMode="auto">
          <a:xfrm>
            <a:off x="7543800" y="1524001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36891" name="Text Box 24"/>
          <p:cNvSpPr txBox="1">
            <a:spLocks noChangeArrowheads="1"/>
          </p:cNvSpPr>
          <p:nvPr/>
        </p:nvSpPr>
        <p:spPr bwMode="auto">
          <a:xfrm>
            <a:off x="5181600" y="42814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36892" name="Text Box 25"/>
          <p:cNvSpPr txBox="1">
            <a:spLocks noChangeArrowheads="1"/>
          </p:cNvSpPr>
          <p:nvPr/>
        </p:nvSpPr>
        <p:spPr bwMode="auto">
          <a:xfrm>
            <a:off x="6096000" y="3886200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400"/>
              <a:t>transition for each symbol</a:t>
            </a:r>
          </a:p>
        </p:txBody>
      </p:sp>
      <p:cxnSp>
        <p:nvCxnSpPr>
          <p:cNvPr id="36893" name="AutoShape 26"/>
          <p:cNvCxnSpPr>
            <a:cxnSpLocks noChangeShapeType="1"/>
            <a:stCxn id="36892" idx="1"/>
            <a:endCxn id="36889" idx="3"/>
          </p:cNvCxnSpPr>
          <p:nvPr/>
        </p:nvCxnSpPr>
        <p:spPr bwMode="auto">
          <a:xfrm flipH="1" flipV="1">
            <a:off x="5029200" y="3094038"/>
            <a:ext cx="1066800" cy="1020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94" name="AutoShape 27"/>
          <p:cNvCxnSpPr>
            <a:cxnSpLocks noChangeShapeType="1"/>
            <a:stCxn id="36892" idx="1"/>
            <a:endCxn id="36887" idx="2"/>
          </p:cNvCxnSpPr>
          <p:nvPr/>
        </p:nvCxnSpPr>
        <p:spPr bwMode="auto">
          <a:xfrm flipH="1" flipV="1">
            <a:off x="5981700" y="2133600"/>
            <a:ext cx="114300" cy="1981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9219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Finite Automata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>
                <a:solidFill>
                  <a:srgbClr val="FF0000"/>
                </a:solidFill>
              </a:rPr>
              <a:t>Non-deterministic</a:t>
            </a:r>
            <a:r>
              <a:rPr lang="en-US" altLang="x-none"/>
              <a:t> variant: NFA</a:t>
            </a:r>
          </a:p>
          <a:p>
            <a:r>
              <a:rPr lang="en-US" altLang="x-none">
                <a:solidFill>
                  <a:srgbClr val="FF0000"/>
                </a:solidFill>
              </a:rPr>
              <a:t>Regular expressions</a:t>
            </a:r>
            <a:r>
              <a:rPr lang="en-US" altLang="x-none"/>
              <a:t> built up from:</a:t>
            </a:r>
          </a:p>
          <a:p>
            <a:pPr lvl="1"/>
            <a:r>
              <a:rPr lang="en-US" altLang="x-none">
                <a:solidFill>
                  <a:schemeClr val="accent2"/>
                </a:solidFill>
              </a:rPr>
              <a:t>unions</a:t>
            </a:r>
          </a:p>
          <a:p>
            <a:pPr lvl="1"/>
            <a:r>
              <a:rPr lang="en-US" altLang="x-none">
                <a:solidFill>
                  <a:schemeClr val="accent2"/>
                </a:solidFill>
              </a:rPr>
              <a:t>concatenations</a:t>
            </a:r>
          </a:p>
          <a:p>
            <a:pPr lvl="1"/>
            <a:r>
              <a:rPr lang="en-US" altLang="x-none">
                <a:solidFill>
                  <a:schemeClr val="accent2"/>
                </a:solidFill>
              </a:rPr>
              <a:t>star operations</a:t>
            </a:r>
          </a:p>
          <a:p>
            <a:pPr>
              <a:buFontTx/>
              <a:buNone/>
            </a:pPr>
            <a:r>
              <a:rPr lang="en-US" altLang="x-none" b="1" u="sng"/>
              <a:t>Main results</a:t>
            </a:r>
            <a:r>
              <a:rPr lang="en-US" altLang="x-none"/>
              <a:t>: same set of languages recognized by FA, NFA and regular expressions (“regular languages”).</a:t>
            </a:r>
            <a:endParaRPr lang="en-US" altLang="x-none" b="1" u="sng"/>
          </a:p>
          <a:p>
            <a:pPr>
              <a:buFontTx/>
              <a:buNone/>
            </a:pPr>
            <a:endParaRPr lang="en-US" altLang="x-none" b="1" u="sng"/>
          </a:p>
        </p:txBody>
      </p:sp>
    </p:spTree>
    <p:extLst>
      <p:ext uri="{BB962C8B-B14F-4D97-AF65-F5344CB8AC3E}">
        <p14:creationId xmlns:p14="http://schemas.microsoft.com/office/powerpoint/2010/main" val="170785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Pushdown Automata</a:t>
            </a:r>
          </a:p>
        </p:txBody>
      </p:sp>
      <p:sp>
        <p:nvSpPr>
          <p:cNvPr id="38918" name="Text Box 3"/>
          <p:cNvSpPr txBox="1">
            <a:spLocks noChangeArrowheads="1"/>
          </p:cNvSpPr>
          <p:nvPr/>
        </p:nvSpPr>
        <p:spPr bwMode="auto">
          <a:xfrm>
            <a:off x="4419600" y="2124075"/>
            <a:ext cx="304800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0</a:t>
            </a:r>
          </a:p>
        </p:txBody>
      </p:sp>
      <p:sp>
        <p:nvSpPr>
          <p:cNvPr id="38919" name="Text Box 4"/>
          <p:cNvSpPr txBox="1">
            <a:spLocks noChangeArrowheads="1"/>
          </p:cNvSpPr>
          <p:nvPr/>
        </p:nvSpPr>
        <p:spPr bwMode="auto">
          <a:xfrm>
            <a:off x="47244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38920" name="Text Box 5"/>
          <p:cNvSpPr txBox="1">
            <a:spLocks noChangeArrowheads="1"/>
          </p:cNvSpPr>
          <p:nvPr/>
        </p:nvSpPr>
        <p:spPr bwMode="auto">
          <a:xfrm>
            <a:off x="50292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38921" name="Text Box 6"/>
          <p:cNvSpPr txBox="1">
            <a:spLocks noChangeArrowheads="1"/>
          </p:cNvSpPr>
          <p:nvPr/>
        </p:nvSpPr>
        <p:spPr bwMode="auto">
          <a:xfrm>
            <a:off x="53340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0</a:t>
            </a:r>
          </a:p>
        </p:txBody>
      </p:sp>
      <p:sp>
        <p:nvSpPr>
          <p:cNvPr id="38922" name="Text Box 7"/>
          <p:cNvSpPr txBox="1">
            <a:spLocks noChangeArrowheads="1"/>
          </p:cNvSpPr>
          <p:nvPr/>
        </p:nvSpPr>
        <p:spPr bwMode="auto">
          <a:xfrm>
            <a:off x="56388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0</a:t>
            </a:r>
          </a:p>
        </p:txBody>
      </p:sp>
      <p:sp>
        <p:nvSpPr>
          <p:cNvPr id="38923" name="Text Box 8"/>
          <p:cNvSpPr txBox="1">
            <a:spLocks noChangeArrowheads="1"/>
          </p:cNvSpPr>
          <p:nvPr/>
        </p:nvSpPr>
        <p:spPr bwMode="auto">
          <a:xfrm>
            <a:off x="59436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38924" name="Text Box 9"/>
          <p:cNvSpPr txBox="1">
            <a:spLocks noChangeArrowheads="1"/>
          </p:cNvSpPr>
          <p:nvPr/>
        </p:nvSpPr>
        <p:spPr bwMode="auto">
          <a:xfrm>
            <a:off x="6248400" y="2124075"/>
            <a:ext cx="304800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38925" name="Text Box 10"/>
          <p:cNvSpPr txBox="1">
            <a:spLocks noChangeArrowheads="1"/>
          </p:cNvSpPr>
          <p:nvPr/>
        </p:nvSpPr>
        <p:spPr bwMode="auto">
          <a:xfrm>
            <a:off x="65532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38926" name="Text Box 11"/>
          <p:cNvSpPr txBox="1">
            <a:spLocks noChangeArrowheads="1"/>
          </p:cNvSpPr>
          <p:nvPr/>
        </p:nvSpPr>
        <p:spPr bwMode="auto">
          <a:xfrm>
            <a:off x="68580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0</a:t>
            </a:r>
          </a:p>
        </p:txBody>
      </p:sp>
      <p:sp>
        <p:nvSpPr>
          <p:cNvPr id="38927" name="Text Box 12"/>
          <p:cNvSpPr txBox="1">
            <a:spLocks noChangeArrowheads="1"/>
          </p:cNvSpPr>
          <p:nvPr/>
        </p:nvSpPr>
        <p:spPr bwMode="auto">
          <a:xfrm>
            <a:off x="7162800" y="2124075"/>
            <a:ext cx="304800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38928" name="Text Box 13"/>
          <p:cNvSpPr txBox="1">
            <a:spLocks noChangeArrowheads="1"/>
          </p:cNvSpPr>
          <p:nvPr/>
        </p:nvSpPr>
        <p:spPr bwMode="auto">
          <a:xfrm>
            <a:off x="74676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0</a:t>
            </a:r>
          </a:p>
        </p:txBody>
      </p:sp>
      <p:sp>
        <p:nvSpPr>
          <p:cNvPr id="38929" name="Text Box 14"/>
          <p:cNvSpPr txBox="1">
            <a:spLocks noChangeArrowheads="1"/>
          </p:cNvSpPr>
          <p:nvPr/>
        </p:nvSpPr>
        <p:spPr bwMode="auto">
          <a:xfrm>
            <a:off x="77724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0</a:t>
            </a:r>
          </a:p>
        </p:txBody>
      </p:sp>
      <p:sp>
        <p:nvSpPr>
          <p:cNvPr id="38930" name="Text Box 15"/>
          <p:cNvSpPr txBox="1">
            <a:spLocks noChangeArrowheads="1"/>
          </p:cNvSpPr>
          <p:nvPr/>
        </p:nvSpPr>
        <p:spPr bwMode="auto">
          <a:xfrm>
            <a:off x="80772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38931" name="Text Box 16"/>
          <p:cNvSpPr txBox="1">
            <a:spLocks noChangeArrowheads="1"/>
          </p:cNvSpPr>
          <p:nvPr/>
        </p:nvSpPr>
        <p:spPr bwMode="auto">
          <a:xfrm>
            <a:off x="83820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0</a:t>
            </a:r>
          </a:p>
        </p:txBody>
      </p:sp>
      <p:sp>
        <p:nvSpPr>
          <p:cNvPr id="38932" name="Text Box 17"/>
          <p:cNvSpPr txBox="1">
            <a:spLocks noChangeArrowheads="1"/>
          </p:cNvSpPr>
          <p:nvPr/>
        </p:nvSpPr>
        <p:spPr bwMode="auto">
          <a:xfrm>
            <a:off x="86868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38933" name="Text Box 18"/>
          <p:cNvSpPr txBox="1">
            <a:spLocks noChangeArrowheads="1"/>
          </p:cNvSpPr>
          <p:nvPr/>
        </p:nvSpPr>
        <p:spPr bwMode="auto">
          <a:xfrm>
            <a:off x="2971800" y="2784476"/>
            <a:ext cx="685800" cy="588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3200"/>
              <a:t>q</a:t>
            </a:r>
            <a:r>
              <a:rPr lang="en-US" altLang="x-none" sz="3200" baseline="-25000"/>
              <a:t>0</a:t>
            </a:r>
            <a:endParaRPr lang="en-US" altLang="x-none" sz="3200"/>
          </a:p>
        </p:txBody>
      </p:sp>
      <p:sp>
        <p:nvSpPr>
          <p:cNvPr id="38934" name="Text Box 19"/>
          <p:cNvSpPr txBox="1">
            <a:spLocks noChangeArrowheads="1"/>
          </p:cNvSpPr>
          <p:nvPr/>
        </p:nvSpPr>
        <p:spPr bwMode="auto">
          <a:xfrm>
            <a:off x="5410200" y="16002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800">
                <a:solidFill>
                  <a:srgbClr val="FF0000"/>
                </a:solidFill>
              </a:rPr>
              <a:t>input tape</a:t>
            </a:r>
          </a:p>
        </p:txBody>
      </p:sp>
      <p:sp>
        <p:nvSpPr>
          <p:cNvPr id="38935" name="Text Box 20"/>
          <p:cNvSpPr txBox="1">
            <a:spLocks noChangeArrowheads="1"/>
          </p:cNvSpPr>
          <p:nvPr/>
        </p:nvSpPr>
        <p:spPr bwMode="auto">
          <a:xfrm>
            <a:off x="2362200" y="1828800"/>
            <a:ext cx="1676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800">
                <a:solidFill>
                  <a:srgbClr val="FF0000"/>
                </a:solidFill>
              </a:rPr>
              <a:t>finite control</a:t>
            </a:r>
          </a:p>
        </p:txBody>
      </p:sp>
      <p:cxnSp>
        <p:nvCxnSpPr>
          <p:cNvPr id="38936" name="AutoShape 21"/>
          <p:cNvCxnSpPr>
            <a:cxnSpLocks noChangeShapeType="1"/>
            <a:stCxn id="38933" idx="3"/>
            <a:endCxn id="38918" idx="2"/>
          </p:cNvCxnSpPr>
          <p:nvPr/>
        </p:nvCxnSpPr>
        <p:spPr bwMode="auto">
          <a:xfrm flipV="1">
            <a:off x="3657600" y="2500314"/>
            <a:ext cx="914400" cy="579437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37" name="Text Box 22"/>
          <p:cNvSpPr txBox="1">
            <a:spLocks noChangeArrowheads="1"/>
          </p:cNvSpPr>
          <p:nvPr/>
        </p:nvSpPr>
        <p:spPr bwMode="auto">
          <a:xfrm>
            <a:off x="5562600" y="389096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0</a:t>
            </a:r>
          </a:p>
        </p:txBody>
      </p:sp>
      <p:sp>
        <p:nvSpPr>
          <p:cNvPr id="38938" name="Text Box 23"/>
          <p:cNvSpPr txBox="1">
            <a:spLocks noChangeArrowheads="1"/>
          </p:cNvSpPr>
          <p:nvPr/>
        </p:nvSpPr>
        <p:spPr bwMode="auto">
          <a:xfrm>
            <a:off x="5562600" y="427196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38939" name="Text Box 24"/>
          <p:cNvSpPr txBox="1">
            <a:spLocks noChangeArrowheads="1"/>
          </p:cNvSpPr>
          <p:nvPr/>
        </p:nvSpPr>
        <p:spPr bwMode="auto">
          <a:xfrm>
            <a:off x="5562600" y="465296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38940" name="Text Box 25"/>
          <p:cNvSpPr txBox="1">
            <a:spLocks noChangeArrowheads="1"/>
          </p:cNvSpPr>
          <p:nvPr/>
        </p:nvSpPr>
        <p:spPr bwMode="auto">
          <a:xfrm>
            <a:off x="5562600" y="503396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0</a:t>
            </a:r>
          </a:p>
        </p:txBody>
      </p:sp>
      <p:sp>
        <p:nvSpPr>
          <p:cNvPr id="38941" name="Text Box 26"/>
          <p:cNvSpPr txBox="1">
            <a:spLocks noChangeArrowheads="1"/>
          </p:cNvSpPr>
          <p:nvPr/>
        </p:nvSpPr>
        <p:spPr bwMode="auto">
          <a:xfrm>
            <a:off x="5410200" y="5410201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x-none" altLang="x-none"/>
          </a:p>
        </p:txBody>
      </p:sp>
      <p:sp>
        <p:nvSpPr>
          <p:cNvPr id="38942" name="Text Box 27"/>
          <p:cNvSpPr txBox="1">
            <a:spLocks noChangeArrowheads="1"/>
          </p:cNvSpPr>
          <p:nvPr/>
        </p:nvSpPr>
        <p:spPr bwMode="auto">
          <a:xfrm>
            <a:off x="5562600" y="5414963"/>
            <a:ext cx="30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800">
                <a:ea typeface="Arial" charset="0"/>
                <a:cs typeface="Arial" charset="0"/>
              </a:rPr>
              <a:t>:</a:t>
            </a:r>
          </a:p>
        </p:txBody>
      </p:sp>
      <p:cxnSp>
        <p:nvCxnSpPr>
          <p:cNvPr id="38943" name="AutoShape 28"/>
          <p:cNvCxnSpPr>
            <a:cxnSpLocks noChangeShapeType="1"/>
            <a:stCxn id="38933" idx="2"/>
            <a:endCxn id="38937" idx="0"/>
          </p:cNvCxnSpPr>
          <p:nvPr/>
        </p:nvCxnSpPr>
        <p:spPr bwMode="auto">
          <a:xfrm rot="16200000" flipH="1">
            <a:off x="4256088" y="2432051"/>
            <a:ext cx="517525" cy="24003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44" name="Text Box 29"/>
          <p:cNvSpPr txBox="1">
            <a:spLocks noChangeArrowheads="1"/>
          </p:cNvSpPr>
          <p:nvPr/>
        </p:nvSpPr>
        <p:spPr bwMode="auto">
          <a:xfrm>
            <a:off x="3886200" y="4083050"/>
            <a:ext cx="1676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800">
                <a:solidFill>
                  <a:srgbClr val="FF0000"/>
                </a:solidFill>
              </a:rPr>
              <a:t>(infinite) stack</a:t>
            </a:r>
          </a:p>
        </p:txBody>
      </p:sp>
      <p:sp>
        <p:nvSpPr>
          <p:cNvPr id="38945" name="Text Box 30"/>
          <p:cNvSpPr txBox="1">
            <a:spLocks noChangeArrowheads="1"/>
          </p:cNvSpPr>
          <p:nvPr/>
        </p:nvSpPr>
        <p:spPr bwMode="auto">
          <a:xfrm>
            <a:off x="6400800" y="3048000"/>
            <a:ext cx="3886200" cy="265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800"/>
              <a:t>New capabilities: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x-none" sz="2800"/>
              <a:t> can </a:t>
            </a:r>
            <a:r>
              <a:rPr lang="en-US" altLang="x-none" sz="2800">
                <a:solidFill>
                  <a:schemeClr val="accent2"/>
                </a:solidFill>
              </a:rPr>
              <a:t>push</a:t>
            </a:r>
            <a:r>
              <a:rPr lang="en-US" altLang="x-none" sz="2800"/>
              <a:t> symbol onto stack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x-none" sz="2800"/>
              <a:t> can </a:t>
            </a:r>
            <a:r>
              <a:rPr lang="en-US" altLang="x-none" sz="2800">
                <a:solidFill>
                  <a:schemeClr val="accent2"/>
                </a:solidFill>
              </a:rPr>
              <a:t>pop</a:t>
            </a:r>
            <a:r>
              <a:rPr lang="en-US" altLang="x-none" sz="2800"/>
              <a:t> symbol off of stack</a:t>
            </a:r>
          </a:p>
        </p:txBody>
      </p:sp>
    </p:spTree>
    <p:extLst>
      <p:ext uri="{BB962C8B-B14F-4D97-AF65-F5344CB8AC3E}">
        <p14:creationId xmlns:p14="http://schemas.microsoft.com/office/powerpoint/2010/main" val="301838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Context-Free Grammars</a:t>
            </a:r>
          </a:p>
        </p:txBody>
      </p:sp>
      <p:sp>
        <p:nvSpPr>
          <p:cNvPr id="399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x-none" dirty="0"/>
          </a:p>
          <a:p>
            <a:pPr>
              <a:buFontTx/>
              <a:buNone/>
            </a:pPr>
            <a:r>
              <a:rPr lang="en-US" altLang="x-none" dirty="0"/>
              <a:t>				</a:t>
            </a:r>
          </a:p>
          <a:p>
            <a:pPr>
              <a:buFontTx/>
              <a:buNone/>
            </a:pPr>
            <a:r>
              <a:rPr lang="en-US" altLang="x-none" dirty="0"/>
              <a:t>		</a:t>
            </a:r>
            <a:r>
              <a:rPr lang="zh-CN" altLang="en-US" dirty="0"/>
              <a:t>    </a:t>
            </a:r>
            <a:endParaRPr lang="en-US" altLang="zh-CN" dirty="0"/>
          </a:p>
          <a:p>
            <a:pPr>
              <a:buFontTx/>
              <a:buNone/>
            </a:pPr>
            <a:r>
              <a:rPr lang="zh-CN" altLang="en-US" dirty="0"/>
              <a:t>                              </a:t>
            </a:r>
            <a:r>
              <a:rPr lang="en-US" altLang="x-none" dirty="0"/>
              <a:t>		</a:t>
            </a:r>
            <a:r>
              <a:rPr lang="zh-CN" altLang="en-US" dirty="0"/>
              <a:t>   </a:t>
            </a:r>
            <a:r>
              <a:rPr lang="en-US" altLang="x-none" dirty="0">
                <a:solidFill>
                  <a:schemeClr val="accent2"/>
                </a:solidFill>
              </a:rPr>
              <a:t>A </a:t>
            </a:r>
            <a:r>
              <a:rPr lang="en-US" altLang="x-none" dirty="0">
                <a:solidFill>
                  <a:schemeClr val="accent2"/>
                </a:solidFill>
                <a:ea typeface="Arial" charset="0"/>
                <a:cs typeface="Arial" charset="0"/>
              </a:rPr>
              <a:t>→ 0A1</a:t>
            </a:r>
          </a:p>
          <a:p>
            <a:pPr>
              <a:buFontTx/>
              <a:buNone/>
            </a:pPr>
            <a:r>
              <a:rPr lang="en-US" altLang="x-none" dirty="0">
                <a:solidFill>
                  <a:schemeClr val="accent2"/>
                </a:solidFill>
                <a:ea typeface="Arial" charset="0"/>
                <a:cs typeface="Arial" charset="0"/>
              </a:rPr>
              <a:t>				</a:t>
            </a:r>
            <a:r>
              <a:rPr lang="zh-CN" altLang="en-US" dirty="0">
                <a:solidFill>
                  <a:schemeClr val="accent2"/>
                </a:solidFill>
                <a:ea typeface="Arial" charset="0"/>
                <a:cs typeface="Arial" charset="0"/>
              </a:rPr>
              <a:t>                </a:t>
            </a:r>
            <a:r>
              <a:rPr lang="en-US" altLang="x-none" dirty="0">
                <a:solidFill>
                  <a:schemeClr val="accent2"/>
                </a:solidFill>
                <a:ea typeface="Arial" charset="0"/>
                <a:cs typeface="Arial" charset="0"/>
              </a:rPr>
              <a:t>A → B</a:t>
            </a:r>
          </a:p>
          <a:p>
            <a:pPr>
              <a:buFontTx/>
              <a:buNone/>
            </a:pPr>
            <a:r>
              <a:rPr lang="en-US" altLang="x-none" dirty="0">
                <a:solidFill>
                  <a:schemeClr val="accent2"/>
                </a:solidFill>
                <a:ea typeface="Arial" charset="0"/>
                <a:cs typeface="Arial" charset="0"/>
              </a:rPr>
              <a:t>				</a:t>
            </a:r>
            <a:r>
              <a:rPr lang="zh-CN" altLang="en-US" dirty="0">
                <a:solidFill>
                  <a:schemeClr val="accent2"/>
                </a:solidFill>
                <a:ea typeface="Arial" charset="0"/>
                <a:cs typeface="Arial" charset="0"/>
              </a:rPr>
              <a:t>                </a:t>
            </a:r>
            <a:r>
              <a:rPr lang="en-US" altLang="x-none" dirty="0">
                <a:solidFill>
                  <a:schemeClr val="accent2"/>
                </a:solidFill>
                <a:ea typeface="Arial" charset="0"/>
                <a:cs typeface="Arial" charset="0"/>
              </a:rPr>
              <a:t>B → #</a:t>
            </a:r>
          </a:p>
        </p:txBody>
      </p:sp>
      <p:sp>
        <p:nvSpPr>
          <p:cNvPr id="39943" name="Text Box 4"/>
          <p:cNvSpPr txBox="1">
            <a:spLocks noChangeArrowheads="1"/>
          </p:cNvSpPr>
          <p:nvPr/>
        </p:nvSpPr>
        <p:spPr bwMode="auto">
          <a:xfrm>
            <a:off x="2667000" y="2057400"/>
            <a:ext cx="1524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800" dirty="0"/>
              <a:t>start symbol</a:t>
            </a:r>
          </a:p>
        </p:txBody>
      </p:sp>
      <p:sp>
        <p:nvSpPr>
          <p:cNvPr id="39944" name="Text Box 5"/>
          <p:cNvSpPr txBox="1">
            <a:spLocks noChangeArrowheads="1"/>
          </p:cNvSpPr>
          <p:nvPr/>
        </p:nvSpPr>
        <p:spPr bwMode="auto">
          <a:xfrm>
            <a:off x="7239000" y="2025650"/>
            <a:ext cx="1524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800"/>
              <a:t>terminal symbols</a:t>
            </a:r>
          </a:p>
        </p:txBody>
      </p:sp>
      <p:sp>
        <p:nvSpPr>
          <p:cNvPr id="39945" name="Text Box 6"/>
          <p:cNvSpPr txBox="1">
            <a:spLocks noChangeArrowheads="1"/>
          </p:cNvSpPr>
          <p:nvPr/>
        </p:nvSpPr>
        <p:spPr bwMode="auto">
          <a:xfrm>
            <a:off x="7086600" y="3854450"/>
            <a:ext cx="2362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800"/>
              <a:t>non-terminal symbols</a:t>
            </a:r>
          </a:p>
        </p:txBody>
      </p:sp>
      <p:sp>
        <p:nvSpPr>
          <p:cNvPr id="39946" name="Text Box 7"/>
          <p:cNvSpPr txBox="1">
            <a:spLocks noChangeArrowheads="1"/>
          </p:cNvSpPr>
          <p:nvPr/>
        </p:nvSpPr>
        <p:spPr bwMode="auto">
          <a:xfrm>
            <a:off x="3429000" y="527208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800"/>
              <a:t>production</a:t>
            </a:r>
          </a:p>
        </p:txBody>
      </p:sp>
      <p:sp>
        <p:nvSpPr>
          <p:cNvPr id="39947" name="Line 8"/>
          <p:cNvSpPr>
            <a:spLocks noChangeShapeType="1"/>
          </p:cNvSpPr>
          <p:nvPr/>
        </p:nvSpPr>
        <p:spPr bwMode="auto">
          <a:xfrm>
            <a:off x="4038600" y="25146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8" name="Line 9"/>
          <p:cNvSpPr>
            <a:spLocks noChangeShapeType="1"/>
          </p:cNvSpPr>
          <p:nvPr/>
        </p:nvSpPr>
        <p:spPr bwMode="auto">
          <a:xfrm flipH="1">
            <a:off x="5562600" y="2362200"/>
            <a:ext cx="1524000" cy="823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9" name="Line 10"/>
          <p:cNvSpPr>
            <a:spLocks noChangeShapeType="1"/>
          </p:cNvSpPr>
          <p:nvPr/>
        </p:nvSpPr>
        <p:spPr bwMode="auto">
          <a:xfrm flipH="1">
            <a:off x="6019800" y="2514600"/>
            <a:ext cx="1143000" cy="671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0" name="Line 11"/>
          <p:cNvSpPr>
            <a:spLocks noChangeShapeType="1"/>
          </p:cNvSpPr>
          <p:nvPr/>
        </p:nvSpPr>
        <p:spPr bwMode="auto">
          <a:xfrm flipH="1" flipV="1">
            <a:off x="5943600" y="3849686"/>
            <a:ext cx="1295400" cy="569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1" name="Line 12"/>
          <p:cNvSpPr>
            <a:spLocks noChangeShapeType="1"/>
          </p:cNvSpPr>
          <p:nvPr/>
        </p:nvSpPr>
        <p:spPr bwMode="auto">
          <a:xfrm flipH="1" flipV="1">
            <a:off x="5791200" y="3419474"/>
            <a:ext cx="1371600" cy="771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2" name="AutoShape 13"/>
          <p:cNvSpPr>
            <a:spLocks/>
          </p:cNvSpPr>
          <p:nvPr/>
        </p:nvSpPr>
        <p:spPr bwMode="auto">
          <a:xfrm rot="-5400000">
            <a:off x="5219700" y="4076700"/>
            <a:ext cx="304800" cy="1143000"/>
          </a:xfrm>
          <a:prstGeom prst="leftBrace">
            <a:avLst>
              <a:gd name="adj1" fmla="val 312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cxnSp>
        <p:nvCxnSpPr>
          <p:cNvPr id="39953" name="AutoShape 14"/>
          <p:cNvCxnSpPr>
            <a:cxnSpLocks noChangeShapeType="1"/>
            <a:stCxn id="39946" idx="0"/>
            <a:endCxn id="39952" idx="1"/>
          </p:cNvCxnSpPr>
          <p:nvPr/>
        </p:nvCxnSpPr>
        <p:spPr bwMode="auto">
          <a:xfrm flipV="1">
            <a:off x="4610100" y="4800600"/>
            <a:ext cx="762000" cy="4714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71361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CFL-&gt; PDA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PDA-&gt; CFL</a:t>
            </a:r>
          </a:p>
        </p:txBody>
      </p:sp>
    </p:spTree>
    <p:extLst>
      <p:ext uri="{BB962C8B-B14F-4D97-AF65-F5344CB8AC3E}">
        <p14:creationId xmlns:p14="http://schemas.microsoft.com/office/powerpoint/2010/main" val="371359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Pushdown Automata</a:t>
            </a:r>
          </a:p>
        </p:txBody>
      </p:sp>
      <p:sp>
        <p:nvSpPr>
          <p:cNvPr id="409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x-none" b="1" u="sng" dirty="0"/>
              <a:t>Main results</a:t>
            </a:r>
            <a:r>
              <a:rPr lang="en-US" altLang="x-none" dirty="0"/>
              <a:t>: same set of languages recognized by NPDA, and context-free grammars (“context-free languages”).</a:t>
            </a:r>
          </a:p>
          <a:p>
            <a:pPr>
              <a:buFontTx/>
              <a:buNone/>
            </a:pPr>
            <a:r>
              <a:rPr lang="zh-CN" altLang="en-US" dirty="0"/>
              <a:t>     </a:t>
            </a:r>
            <a:r>
              <a:rPr lang="en-US" altLang="zh-CN" dirty="0"/>
              <a:t>L</a:t>
            </a:r>
            <a:r>
              <a:rPr lang="zh-CN" altLang="en-US" dirty="0"/>
              <a:t> </a:t>
            </a:r>
            <a:r>
              <a:rPr lang="en-US" altLang="zh-CN" dirty="0"/>
              <a:t>(P)?  N(P)?</a:t>
            </a:r>
            <a:endParaRPr lang="en-US" altLang="x-none" dirty="0"/>
          </a:p>
          <a:p>
            <a:pPr>
              <a:buFontTx/>
              <a:buNone/>
            </a:pPr>
            <a:endParaRPr lang="en-US" altLang="x-none" dirty="0"/>
          </a:p>
          <a:p>
            <a:r>
              <a:rPr lang="en-US" altLang="x-none" dirty="0"/>
              <a:t>and DPDA’s weaker than NPDA’s…</a:t>
            </a:r>
          </a:p>
          <a:p>
            <a:r>
              <a:rPr lang="en-US" altLang="x-none" dirty="0"/>
              <a:t>again, </a:t>
            </a:r>
            <a:r>
              <a:rPr lang="en-US" altLang="zh-CN" dirty="0"/>
              <a:t>L</a:t>
            </a:r>
            <a:r>
              <a:rPr lang="zh-CN" altLang="en-US" dirty="0"/>
              <a:t> </a:t>
            </a:r>
            <a:r>
              <a:rPr lang="en-US" altLang="zh-CN" dirty="0"/>
              <a:t>(P)?  N(P)?</a:t>
            </a:r>
            <a:endParaRPr lang="en-US" altLang="x-none" b="1" u="sng" dirty="0"/>
          </a:p>
          <a:p>
            <a:pPr>
              <a:buFontTx/>
              <a:buNone/>
            </a:pP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864437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Non-regular languages</a:t>
            </a:r>
          </a:p>
        </p:txBody>
      </p:sp>
      <p:sp>
        <p:nvSpPr>
          <p:cNvPr id="419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 altLang="x-none" b="1" u="sng" dirty="0"/>
              <a:t>Pumping Lemma</a:t>
            </a:r>
            <a:r>
              <a:rPr lang="en-US" altLang="x-none" dirty="0"/>
              <a:t>: Let L be a regular language. </a:t>
            </a:r>
            <a:r>
              <a:rPr lang="en-US" altLang="x-none" dirty="0">
                <a:solidFill>
                  <a:schemeClr val="accent2"/>
                </a:solidFill>
              </a:rPr>
              <a:t>There exists</a:t>
            </a:r>
            <a:r>
              <a:rPr lang="en-US" altLang="x-none" dirty="0"/>
              <a:t> an integer p (“pumping length”) for which </a:t>
            </a:r>
            <a:r>
              <a:rPr lang="en-US" altLang="x-none" dirty="0">
                <a:solidFill>
                  <a:schemeClr val="accent2"/>
                </a:solidFill>
              </a:rPr>
              <a:t>every</a:t>
            </a:r>
            <a:r>
              <a:rPr lang="en-US" altLang="x-none" dirty="0"/>
              <a:t> w </a:t>
            </a:r>
            <a:r>
              <a:rPr lang="en-US" altLang="x-none" dirty="0">
                <a:sym typeface="Symbol" charset="2"/>
              </a:rPr>
              <a:t> L with |w|  p can be written as</a:t>
            </a:r>
            <a:r>
              <a:rPr lang="zh-CN" altLang="en-US" dirty="0">
                <a:sym typeface="Symbol" charset="2"/>
              </a:rPr>
              <a:t> </a:t>
            </a:r>
            <a:r>
              <a:rPr lang="en-US" altLang="x-none" dirty="0">
                <a:sym typeface="Symbol" charset="2"/>
              </a:rPr>
              <a:t>w = xyz     such that</a:t>
            </a:r>
          </a:p>
          <a:p>
            <a:pPr marL="990600" lvl="1" indent="-533400">
              <a:buFontTx/>
              <a:buAutoNum type="arabicPeriod"/>
            </a:pPr>
            <a:r>
              <a:rPr lang="en-US" altLang="x-none" dirty="0"/>
              <a:t>for every </a:t>
            </a:r>
            <a:r>
              <a:rPr lang="en-US" altLang="x-none" dirty="0" err="1"/>
              <a:t>i</a:t>
            </a:r>
            <a:r>
              <a:rPr lang="en-US" altLang="x-none" dirty="0"/>
              <a:t> </a:t>
            </a:r>
            <a:r>
              <a:rPr lang="en-US" altLang="x-none" dirty="0">
                <a:sym typeface="Symbol" charset="2"/>
              </a:rPr>
              <a:t> 0, </a:t>
            </a:r>
            <a:r>
              <a:rPr lang="en-US" altLang="x-none" dirty="0" err="1">
                <a:sym typeface="Symbol" charset="2"/>
              </a:rPr>
              <a:t>xy</a:t>
            </a:r>
            <a:r>
              <a:rPr lang="en-US" altLang="x-none" baseline="30000" dirty="0" err="1">
                <a:sym typeface="Symbol" charset="2"/>
              </a:rPr>
              <a:t>i</a:t>
            </a:r>
            <a:r>
              <a:rPr lang="en-US" altLang="x-none" dirty="0" err="1">
                <a:sym typeface="Symbol" charset="2"/>
              </a:rPr>
              <a:t>z</a:t>
            </a:r>
            <a:r>
              <a:rPr lang="en-US" altLang="x-none" dirty="0">
                <a:sym typeface="Symbol" charset="2"/>
              </a:rPr>
              <a:t>  L , and </a:t>
            </a:r>
          </a:p>
          <a:p>
            <a:pPr marL="990600" lvl="1" indent="-533400">
              <a:buFontTx/>
              <a:buAutoNum type="arabicPeriod"/>
            </a:pPr>
            <a:r>
              <a:rPr lang="en-US" altLang="x-none" dirty="0">
                <a:sym typeface="Symbol" charset="2"/>
              </a:rPr>
              <a:t>|y| &gt; 0, and</a:t>
            </a:r>
          </a:p>
          <a:p>
            <a:pPr marL="990600" lvl="1" indent="-533400">
              <a:buFontTx/>
              <a:buAutoNum type="arabicPeriod"/>
            </a:pPr>
            <a:r>
              <a:rPr lang="en-US" altLang="x-none" dirty="0">
                <a:sym typeface="Symbol" charset="2"/>
              </a:rPr>
              <a:t>|</a:t>
            </a:r>
            <a:r>
              <a:rPr lang="en-US" altLang="x-none" dirty="0" err="1">
                <a:sym typeface="Symbol" charset="2"/>
              </a:rPr>
              <a:t>xy</a:t>
            </a:r>
            <a:r>
              <a:rPr lang="en-US" altLang="x-none" dirty="0">
                <a:sym typeface="Symbol" charset="2"/>
              </a:rPr>
              <a:t>|  p.</a:t>
            </a:r>
          </a:p>
          <a:p>
            <a:pPr marL="990600" lvl="1" indent="-533400">
              <a:buFontTx/>
              <a:buAutoNum type="arabicPeriod"/>
            </a:pPr>
            <a:endParaRPr lang="en-US" altLang="x-none" dirty="0">
              <a:sym typeface="Symbol" charset="2"/>
            </a:endParaRPr>
          </a:p>
          <a:p>
            <a:pPr marL="990600" lvl="1" indent="-533400">
              <a:buFontTx/>
              <a:buAutoNum type="arabicPeriod"/>
            </a:pPr>
            <a:endParaRPr lang="en-US" altLang="x-none" dirty="0">
              <a:sym typeface="Symbol" charset="2"/>
            </a:endParaRPr>
          </a:p>
          <a:p>
            <a:pPr marL="15875" indent="0">
              <a:buNone/>
            </a:pPr>
            <a:r>
              <a:rPr lang="en-US" altLang="x-none" dirty="0">
                <a:sym typeface="Symbol" charset="2"/>
              </a:rPr>
              <a:t>                                             Reason?</a:t>
            </a:r>
            <a:r>
              <a:rPr lang="zh-CN" altLang="en-US" dirty="0">
                <a:sym typeface="Symbol" charset="2"/>
              </a:rPr>
              <a:t>       </a:t>
            </a:r>
            <a:endParaRPr lang="en-US" altLang="x-none" dirty="0">
              <a:sym typeface="Symbol" charset="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61CD9A-B43F-9445-88B5-B4F0EE784B0E}"/>
              </a:ext>
            </a:extLst>
          </p:cNvPr>
          <p:cNvSpPr txBox="1"/>
          <p:nvPr/>
        </p:nvSpPr>
        <p:spPr>
          <a:xfrm>
            <a:off x="8450318" y="5050521"/>
            <a:ext cx="19094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Suppose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y=</a:t>
            </a:r>
            <a:r>
              <a:rPr kumimoji="1" lang="en-US" altLang="zh-CN" dirty="0" err="1">
                <a:solidFill>
                  <a:srgbClr val="FF0000"/>
                </a:solidFill>
              </a:rPr>
              <a:t>abc</a:t>
            </a:r>
            <a:r>
              <a:rPr kumimoji="1" lang="zh-CN" altLang="en-US" dirty="0">
                <a:solidFill>
                  <a:srgbClr val="FF0000"/>
                </a:solidFill>
              </a:rPr>
              <a:t>  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r>
              <a:rPr kumimoji="1" lang="en-US" altLang="zh-CN" dirty="0">
                <a:solidFill>
                  <a:srgbClr val="FF0000"/>
                </a:solidFill>
              </a:rPr>
              <a:t>y= </a:t>
            </a:r>
            <a:r>
              <a:rPr kumimoji="1" lang="en-US" altLang="zh-CN" dirty="0" err="1">
                <a:solidFill>
                  <a:srgbClr val="FF0000"/>
                </a:solidFill>
              </a:rPr>
              <a:t>dddd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4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Pumping Lemma for CFLs</a:t>
            </a:r>
          </a:p>
        </p:txBody>
      </p:sp>
      <p:sp>
        <p:nvSpPr>
          <p:cNvPr id="430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 altLang="x-none" b="1" u="sng" dirty="0"/>
              <a:t>CFL Pumping Lemma</a:t>
            </a:r>
            <a:r>
              <a:rPr lang="en-US" altLang="x-none" dirty="0"/>
              <a:t>: Let L be a CFL. </a:t>
            </a:r>
            <a:r>
              <a:rPr lang="en-US" altLang="x-none" dirty="0">
                <a:solidFill>
                  <a:schemeClr val="accent2"/>
                </a:solidFill>
              </a:rPr>
              <a:t>There exists</a:t>
            </a:r>
            <a:r>
              <a:rPr lang="en-US" altLang="x-none" dirty="0"/>
              <a:t> an integer p (“pumping length”) for which </a:t>
            </a:r>
            <a:r>
              <a:rPr lang="en-US" altLang="x-none" dirty="0">
                <a:solidFill>
                  <a:schemeClr val="accent2"/>
                </a:solidFill>
              </a:rPr>
              <a:t>every</a:t>
            </a:r>
            <a:r>
              <a:rPr lang="en-US" altLang="x-none" dirty="0"/>
              <a:t> w </a:t>
            </a:r>
            <a:r>
              <a:rPr lang="en-US" altLang="x-none" dirty="0">
                <a:sym typeface="Symbol" charset="2"/>
              </a:rPr>
              <a:t> L with |w|  p can be written as</a:t>
            </a:r>
            <a:r>
              <a:rPr lang="zh-CN" altLang="en-US" dirty="0">
                <a:sym typeface="Symbol" charset="2"/>
              </a:rPr>
              <a:t> </a:t>
            </a:r>
            <a:r>
              <a:rPr lang="en-US" altLang="x-none" dirty="0">
                <a:sym typeface="Symbol" charset="2"/>
              </a:rPr>
              <a:t>w = </a:t>
            </a:r>
            <a:r>
              <a:rPr lang="en-US" altLang="x-none" dirty="0" err="1">
                <a:sym typeface="Symbol" charset="2"/>
              </a:rPr>
              <a:t>uvxyz</a:t>
            </a:r>
            <a:r>
              <a:rPr lang="en-US" altLang="x-none" dirty="0">
                <a:sym typeface="Symbol" charset="2"/>
              </a:rPr>
              <a:t>     such that</a:t>
            </a:r>
          </a:p>
          <a:p>
            <a:pPr marL="990600" lvl="1" indent="-533400">
              <a:buFontTx/>
              <a:buAutoNum type="arabicPeriod"/>
            </a:pPr>
            <a:r>
              <a:rPr lang="en-US" altLang="x-none" dirty="0"/>
              <a:t>for every </a:t>
            </a:r>
            <a:r>
              <a:rPr lang="en-US" altLang="x-none" dirty="0" err="1"/>
              <a:t>i</a:t>
            </a:r>
            <a:r>
              <a:rPr lang="en-US" altLang="x-none" dirty="0"/>
              <a:t> </a:t>
            </a:r>
            <a:r>
              <a:rPr lang="en-US" altLang="x-none" dirty="0">
                <a:sym typeface="Symbol" charset="2"/>
              </a:rPr>
              <a:t> 0, </a:t>
            </a:r>
            <a:r>
              <a:rPr lang="en-US" altLang="x-none" dirty="0" err="1">
                <a:sym typeface="Symbol" charset="2"/>
              </a:rPr>
              <a:t>uv</a:t>
            </a:r>
            <a:r>
              <a:rPr lang="en-US" altLang="x-none" baseline="30000" dirty="0" err="1">
                <a:sym typeface="Symbol" charset="2"/>
              </a:rPr>
              <a:t>i</a:t>
            </a:r>
            <a:r>
              <a:rPr lang="en-US" altLang="x-none" dirty="0" err="1">
                <a:sym typeface="Symbol" charset="2"/>
              </a:rPr>
              <a:t>xy</a:t>
            </a:r>
            <a:r>
              <a:rPr lang="en-US" altLang="x-none" baseline="30000" dirty="0" err="1">
                <a:sym typeface="Symbol" charset="2"/>
              </a:rPr>
              <a:t>i</a:t>
            </a:r>
            <a:r>
              <a:rPr lang="en-US" altLang="x-none" dirty="0" err="1">
                <a:sym typeface="Symbol" charset="2"/>
              </a:rPr>
              <a:t>z</a:t>
            </a:r>
            <a:r>
              <a:rPr lang="en-US" altLang="x-none" dirty="0">
                <a:sym typeface="Symbol" charset="2"/>
              </a:rPr>
              <a:t>  L , and </a:t>
            </a:r>
          </a:p>
          <a:p>
            <a:pPr marL="990600" lvl="1" indent="-533400">
              <a:buFontTx/>
              <a:buAutoNum type="arabicPeriod"/>
            </a:pPr>
            <a:r>
              <a:rPr lang="en-US" altLang="x-none" dirty="0">
                <a:sym typeface="Symbol" charset="2"/>
              </a:rPr>
              <a:t>|</a:t>
            </a:r>
            <a:r>
              <a:rPr lang="en-US" altLang="x-none" dirty="0" err="1">
                <a:sym typeface="Symbol" charset="2"/>
              </a:rPr>
              <a:t>vy</a:t>
            </a:r>
            <a:r>
              <a:rPr lang="en-US" altLang="x-none" dirty="0">
                <a:sym typeface="Symbol" charset="2"/>
              </a:rPr>
              <a:t>| &gt; 0, and</a:t>
            </a:r>
          </a:p>
          <a:p>
            <a:pPr marL="990600" lvl="1" indent="-533400">
              <a:buFontTx/>
              <a:buAutoNum type="arabicPeriod"/>
            </a:pPr>
            <a:r>
              <a:rPr lang="en-US" altLang="x-none" dirty="0">
                <a:sym typeface="Symbol" charset="2"/>
              </a:rPr>
              <a:t>|</a:t>
            </a:r>
            <a:r>
              <a:rPr lang="en-US" altLang="x-none" dirty="0" err="1">
                <a:sym typeface="Symbol" charset="2"/>
              </a:rPr>
              <a:t>vxy</a:t>
            </a:r>
            <a:r>
              <a:rPr lang="en-US" altLang="x-none" dirty="0">
                <a:sym typeface="Symbol" charset="2"/>
              </a:rPr>
              <a:t>|  p.</a:t>
            </a:r>
          </a:p>
          <a:p>
            <a:pPr marL="990600" lvl="1" indent="-533400">
              <a:buFontTx/>
              <a:buAutoNum type="arabicPeriod"/>
            </a:pPr>
            <a:endParaRPr lang="en-US" altLang="x-none" dirty="0">
              <a:sym typeface="Symbol" charset="2"/>
            </a:endParaRPr>
          </a:p>
          <a:p>
            <a:pPr marL="457200" lvl="1" indent="0">
              <a:buNone/>
            </a:pPr>
            <a:r>
              <a:rPr lang="en-US" altLang="x-none" dirty="0">
                <a:sym typeface="Symbol" charset="2"/>
              </a:rPr>
              <a:t>                                             Reason?</a:t>
            </a: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323111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Summary</a:t>
            </a:r>
          </a:p>
        </p:txBody>
      </p:sp>
      <p:sp>
        <p:nvSpPr>
          <p:cNvPr id="440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altLang="x-none" dirty="0"/>
          </a:p>
          <a:p>
            <a:pPr algn="ctr">
              <a:buFontTx/>
              <a:buNone/>
            </a:pPr>
            <a:endParaRPr lang="en-US" altLang="x-none" dirty="0"/>
          </a:p>
          <a:p>
            <a:pPr algn="ctr">
              <a:buFontTx/>
              <a:buNone/>
            </a:pPr>
            <a:r>
              <a:rPr lang="en-US" altLang="x-none" sz="4000" dirty="0"/>
              <a:t>Turing Machines and decidability</a:t>
            </a:r>
          </a:p>
          <a:p>
            <a:pPr>
              <a:buFontTx/>
              <a:buNone/>
            </a:pPr>
            <a:endParaRPr lang="en-US" altLang="x-none" sz="4000" dirty="0"/>
          </a:p>
        </p:txBody>
      </p:sp>
    </p:spTree>
    <p:extLst>
      <p:ext uri="{BB962C8B-B14F-4D97-AF65-F5344CB8AC3E}">
        <p14:creationId xmlns:p14="http://schemas.microsoft.com/office/powerpoint/2010/main" val="1169234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Turing Machines</a:t>
            </a:r>
          </a:p>
        </p:txBody>
      </p:sp>
      <p:sp>
        <p:nvSpPr>
          <p:cNvPr id="45062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3962400"/>
            <a:ext cx="8229600" cy="2514600"/>
          </a:xfrm>
        </p:spPr>
        <p:txBody>
          <a:bodyPr/>
          <a:lstStyle/>
          <a:p>
            <a:r>
              <a:rPr lang="en-US" altLang="x-none"/>
              <a:t>New capabilities:</a:t>
            </a:r>
          </a:p>
          <a:p>
            <a:pPr lvl="1"/>
            <a:r>
              <a:rPr lang="en-US" altLang="x-none"/>
              <a:t>infinite tape</a:t>
            </a:r>
          </a:p>
          <a:p>
            <a:pPr lvl="1"/>
            <a:r>
              <a:rPr lang="en-US" altLang="x-none"/>
              <a:t>can read OR write to tape</a:t>
            </a:r>
          </a:p>
          <a:p>
            <a:pPr lvl="1"/>
            <a:r>
              <a:rPr lang="en-US" altLang="x-none"/>
              <a:t>read/write head can move left and right</a:t>
            </a:r>
          </a:p>
        </p:txBody>
      </p:sp>
      <p:sp>
        <p:nvSpPr>
          <p:cNvPr id="45063" name="Text Box 4"/>
          <p:cNvSpPr txBox="1">
            <a:spLocks noChangeArrowheads="1"/>
          </p:cNvSpPr>
          <p:nvPr/>
        </p:nvSpPr>
        <p:spPr bwMode="auto">
          <a:xfrm>
            <a:off x="4419600" y="2124075"/>
            <a:ext cx="304800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0</a:t>
            </a:r>
          </a:p>
        </p:txBody>
      </p:sp>
      <p:sp>
        <p:nvSpPr>
          <p:cNvPr id="45064" name="Text Box 5"/>
          <p:cNvSpPr txBox="1">
            <a:spLocks noChangeArrowheads="1"/>
          </p:cNvSpPr>
          <p:nvPr/>
        </p:nvSpPr>
        <p:spPr bwMode="auto">
          <a:xfrm>
            <a:off x="47244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45065" name="Text Box 6"/>
          <p:cNvSpPr txBox="1">
            <a:spLocks noChangeArrowheads="1"/>
          </p:cNvSpPr>
          <p:nvPr/>
        </p:nvSpPr>
        <p:spPr bwMode="auto">
          <a:xfrm>
            <a:off x="50292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45066" name="Text Box 7"/>
          <p:cNvSpPr txBox="1">
            <a:spLocks noChangeArrowheads="1"/>
          </p:cNvSpPr>
          <p:nvPr/>
        </p:nvSpPr>
        <p:spPr bwMode="auto">
          <a:xfrm>
            <a:off x="53340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0</a:t>
            </a:r>
          </a:p>
        </p:txBody>
      </p:sp>
      <p:sp>
        <p:nvSpPr>
          <p:cNvPr id="45067" name="Text Box 8"/>
          <p:cNvSpPr txBox="1">
            <a:spLocks noChangeArrowheads="1"/>
          </p:cNvSpPr>
          <p:nvPr/>
        </p:nvSpPr>
        <p:spPr bwMode="auto">
          <a:xfrm>
            <a:off x="56388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0</a:t>
            </a:r>
          </a:p>
        </p:txBody>
      </p:sp>
      <p:sp>
        <p:nvSpPr>
          <p:cNvPr id="45068" name="Text Box 9"/>
          <p:cNvSpPr txBox="1">
            <a:spLocks noChangeArrowheads="1"/>
          </p:cNvSpPr>
          <p:nvPr/>
        </p:nvSpPr>
        <p:spPr bwMode="auto">
          <a:xfrm>
            <a:off x="59436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45069" name="Text Box 10"/>
          <p:cNvSpPr txBox="1">
            <a:spLocks noChangeArrowheads="1"/>
          </p:cNvSpPr>
          <p:nvPr/>
        </p:nvSpPr>
        <p:spPr bwMode="auto">
          <a:xfrm>
            <a:off x="6248400" y="2124075"/>
            <a:ext cx="304800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45070" name="Text Box 11"/>
          <p:cNvSpPr txBox="1">
            <a:spLocks noChangeArrowheads="1"/>
          </p:cNvSpPr>
          <p:nvPr/>
        </p:nvSpPr>
        <p:spPr bwMode="auto">
          <a:xfrm>
            <a:off x="65532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45071" name="Text Box 12"/>
          <p:cNvSpPr txBox="1">
            <a:spLocks noChangeArrowheads="1"/>
          </p:cNvSpPr>
          <p:nvPr/>
        </p:nvSpPr>
        <p:spPr bwMode="auto">
          <a:xfrm>
            <a:off x="68580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0</a:t>
            </a:r>
          </a:p>
        </p:txBody>
      </p:sp>
      <p:sp>
        <p:nvSpPr>
          <p:cNvPr id="45072" name="Text Box 13"/>
          <p:cNvSpPr txBox="1">
            <a:spLocks noChangeArrowheads="1"/>
          </p:cNvSpPr>
          <p:nvPr/>
        </p:nvSpPr>
        <p:spPr bwMode="auto">
          <a:xfrm>
            <a:off x="7162800" y="2124075"/>
            <a:ext cx="304800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1</a:t>
            </a:r>
          </a:p>
        </p:txBody>
      </p:sp>
      <p:sp>
        <p:nvSpPr>
          <p:cNvPr id="45073" name="Text Box 14"/>
          <p:cNvSpPr txBox="1">
            <a:spLocks noChangeArrowheads="1"/>
          </p:cNvSpPr>
          <p:nvPr/>
        </p:nvSpPr>
        <p:spPr bwMode="auto">
          <a:xfrm>
            <a:off x="74676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0</a:t>
            </a:r>
          </a:p>
        </p:txBody>
      </p:sp>
      <p:sp>
        <p:nvSpPr>
          <p:cNvPr id="45074" name="Text Box 15"/>
          <p:cNvSpPr txBox="1">
            <a:spLocks noChangeArrowheads="1"/>
          </p:cNvSpPr>
          <p:nvPr/>
        </p:nvSpPr>
        <p:spPr bwMode="auto">
          <a:xfrm>
            <a:off x="77724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/>
              <a:t>0</a:t>
            </a:r>
          </a:p>
        </p:txBody>
      </p:sp>
      <p:sp>
        <p:nvSpPr>
          <p:cNvPr id="45075" name="Text Box 16"/>
          <p:cNvSpPr txBox="1">
            <a:spLocks noChangeArrowheads="1"/>
          </p:cNvSpPr>
          <p:nvPr/>
        </p:nvSpPr>
        <p:spPr bwMode="auto">
          <a:xfrm>
            <a:off x="80772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x-none" altLang="x-none"/>
          </a:p>
        </p:txBody>
      </p:sp>
      <p:sp>
        <p:nvSpPr>
          <p:cNvPr id="45076" name="Text Box 17"/>
          <p:cNvSpPr txBox="1">
            <a:spLocks noChangeArrowheads="1"/>
          </p:cNvSpPr>
          <p:nvPr/>
        </p:nvSpPr>
        <p:spPr bwMode="auto">
          <a:xfrm>
            <a:off x="83820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x-none" altLang="x-none"/>
          </a:p>
        </p:txBody>
      </p:sp>
      <p:sp>
        <p:nvSpPr>
          <p:cNvPr id="45077" name="Text Box 18"/>
          <p:cNvSpPr txBox="1">
            <a:spLocks noChangeArrowheads="1"/>
          </p:cNvSpPr>
          <p:nvPr/>
        </p:nvSpPr>
        <p:spPr bwMode="auto">
          <a:xfrm>
            <a:off x="8686800" y="2119314"/>
            <a:ext cx="304800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x-none" altLang="x-none"/>
          </a:p>
        </p:txBody>
      </p:sp>
      <p:sp>
        <p:nvSpPr>
          <p:cNvPr id="45078" name="Text Box 19"/>
          <p:cNvSpPr txBox="1">
            <a:spLocks noChangeArrowheads="1"/>
          </p:cNvSpPr>
          <p:nvPr/>
        </p:nvSpPr>
        <p:spPr bwMode="auto">
          <a:xfrm>
            <a:off x="2971800" y="3297238"/>
            <a:ext cx="685800" cy="588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3200"/>
              <a:t>q</a:t>
            </a:r>
            <a:r>
              <a:rPr lang="en-US" altLang="x-none" sz="3200" baseline="-25000"/>
              <a:t>0</a:t>
            </a:r>
            <a:endParaRPr lang="en-US" altLang="x-none" sz="3200"/>
          </a:p>
        </p:txBody>
      </p:sp>
      <p:sp>
        <p:nvSpPr>
          <p:cNvPr id="45079" name="Text Box 20"/>
          <p:cNvSpPr txBox="1">
            <a:spLocks noChangeArrowheads="1"/>
          </p:cNvSpPr>
          <p:nvPr/>
        </p:nvSpPr>
        <p:spPr bwMode="auto">
          <a:xfrm>
            <a:off x="5410200" y="16002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800">
                <a:solidFill>
                  <a:srgbClr val="FF0000"/>
                </a:solidFill>
              </a:rPr>
              <a:t>input tape</a:t>
            </a:r>
          </a:p>
        </p:txBody>
      </p:sp>
      <p:sp>
        <p:nvSpPr>
          <p:cNvPr id="45080" name="Text Box 21"/>
          <p:cNvSpPr txBox="1">
            <a:spLocks noChangeArrowheads="1"/>
          </p:cNvSpPr>
          <p:nvPr/>
        </p:nvSpPr>
        <p:spPr bwMode="auto">
          <a:xfrm>
            <a:off x="2362200" y="2341563"/>
            <a:ext cx="1676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800">
                <a:solidFill>
                  <a:srgbClr val="FF0000"/>
                </a:solidFill>
              </a:rPr>
              <a:t>finite control</a:t>
            </a:r>
          </a:p>
        </p:txBody>
      </p:sp>
      <p:cxnSp>
        <p:nvCxnSpPr>
          <p:cNvPr id="45081" name="AutoShape 22"/>
          <p:cNvCxnSpPr>
            <a:cxnSpLocks noChangeShapeType="1"/>
            <a:stCxn id="45078" idx="3"/>
            <a:endCxn id="45063" idx="2"/>
          </p:cNvCxnSpPr>
          <p:nvPr/>
        </p:nvCxnSpPr>
        <p:spPr bwMode="auto">
          <a:xfrm flipV="1">
            <a:off x="3657600" y="2500313"/>
            <a:ext cx="914400" cy="10922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82" name="Text Box 23"/>
          <p:cNvSpPr txBox="1">
            <a:spLocks noChangeArrowheads="1"/>
          </p:cNvSpPr>
          <p:nvPr/>
        </p:nvSpPr>
        <p:spPr bwMode="auto">
          <a:xfrm>
            <a:off x="9144000" y="198120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800"/>
              <a:t>…</a:t>
            </a:r>
          </a:p>
        </p:txBody>
      </p:sp>
      <p:sp>
        <p:nvSpPr>
          <p:cNvPr id="45083" name="Text Box 24"/>
          <p:cNvSpPr txBox="1">
            <a:spLocks noChangeArrowheads="1"/>
          </p:cNvSpPr>
          <p:nvPr/>
        </p:nvSpPr>
        <p:spPr bwMode="auto">
          <a:xfrm>
            <a:off x="4495800" y="2635250"/>
            <a:ext cx="1905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800">
                <a:solidFill>
                  <a:srgbClr val="FF0000"/>
                </a:solidFill>
              </a:rPr>
              <a:t>read/write head</a:t>
            </a:r>
          </a:p>
        </p:txBody>
      </p:sp>
    </p:spTree>
    <p:extLst>
      <p:ext uri="{BB962C8B-B14F-4D97-AF65-F5344CB8AC3E}">
        <p14:creationId xmlns:p14="http://schemas.microsoft.com/office/powerpoint/2010/main" val="601585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Deciding and Recognizing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81201"/>
            <a:ext cx="8229600" cy="4144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x-none" dirty="0"/>
              <a:t>TM M: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L(M) is the language it </a:t>
            </a:r>
            <a:r>
              <a:rPr lang="en-US" altLang="x-none" dirty="0">
                <a:solidFill>
                  <a:srgbClr val="FF0000"/>
                </a:solidFill>
              </a:rPr>
              <a:t>recognizes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by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final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state</a:t>
            </a:r>
            <a:endParaRPr lang="en-US" altLang="x-none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x-none" dirty="0"/>
              <a:t>if M rejects every x </a:t>
            </a:r>
            <a:r>
              <a:rPr lang="en-US" altLang="x-none" dirty="0">
                <a:sym typeface="Symbol" charset="2"/>
              </a:rPr>
              <a:t> L(M) it </a:t>
            </a:r>
            <a:r>
              <a:rPr lang="en-US" altLang="x-none" dirty="0">
                <a:solidFill>
                  <a:srgbClr val="FF0000"/>
                </a:solidFill>
                <a:sym typeface="Symbol" charset="2"/>
              </a:rPr>
              <a:t>decides</a:t>
            </a:r>
            <a:r>
              <a:rPr lang="en-US" altLang="x-none" dirty="0">
                <a:sym typeface="Symbol" charset="2"/>
              </a:rPr>
              <a:t> L</a:t>
            </a:r>
          </a:p>
          <a:p>
            <a:pPr lvl="1">
              <a:lnSpc>
                <a:spcPct val="90000"/>
              </a:lnSpc>
            </a:pPr>
            <a:r>
              <a:rPr lang="en-US" altLang="x-none" dirty="0">
                <a:sym typeface="Symbol" charset="2"/>
              </a:rPr>
              <a:t>set of languages recognized by some TM is called </a:t>
            </a:r>
            <a:r>
              <a:rPr lang="en-US" altLang="x-none" dirty="0">
                <a:solidFill>
                  <a:schemeClr val="accent2"/>
                </a:solidFill>
                <a:sym typeface="Symbol" charset="2"/>
              </a:rPr>
              <a:t>Turing-recognizable </a:t>
            </a:r>
            <a:r>
              <a:rPr lang="en-US" altLang="x-none" dirty="0">
                <a:sym typeface="Symbol" charset="2"/>
              </a:rPr>
              <a:t>or </a:t>
            </a:r>
            <a:r>
              <a:rPr lang="en-US" altLang="x-none" dirty="0">
                <a:solidFill>
                  <a:schemeClr val="accent2"/>
                </a:solidFill>
                <a:sym typeface="Symbol" charset="2"/>
              </a:rPr>
              <a:t>recursively enumerable (RE)</a:t>
            </a:r>
          </a:p>
          <a:p>
            <a:pPr lvl="1">
              <a:lnSpc>
                <a:spcPct val="90000"/>
              </a:lnSpc>
            </a:pPr>
            <a:r>
              <a:rPr lang="en-US" altLang="x-none" dirty="0">
                <a:sym typeface="Symbol" charset="2"/>
              </a:rPr>
              <a:t>set of languages decided by some TM is called </a:t>
            </a:r>
            <a:r>
              <a:rPr lang="en-US" altLang="x-none" dirty="0">
                <a:solidFill>
                  <a:schemeClr val="accent2"/>
                </a:solidFill>
                <a:sym typeface="Symbol" charset="2"/>
              </a:rPr>
              <a:t>Turing-decidable</a:t>
            </a:r>
            <a:r>
              <a:rPr lang="en-US" altLang="x-none" dirty="0">
                <a:sym typeface="Symbol" charset="2"/>
              </a:rPr>
              <a:t> or </a:t>
            </a:r>
            <a:r>
              <a:rPr lang="en-US" altLang="x-none" dirty="0">
                <a:solidFill>
                  <a:schemeClr val="accent2"/>
                </a:solidFill>
                <a:sym typeface="Symbol" charset="2"/>
              </a:rPr>
              <a:t>decidable</a:t>
            </a:r>
            <a:r>
              <a:rPr lang="en-US" altLang="x-none" dirty="0">
                <a:sym typeface="Symbol" charset="2"/>
              </a:rPr>
              <a:t> or </a:t>
            </a:r>
            <a:r>
              <a:rPr lang="en-US" altLang="x-none" dirty="0">
                <a:solidFill>
                  <a:schemeClr val="accent2"/>
                </a:solidFill>
                <a:sym typeface="Symbol" charset="2"/>
              </a:rPr>
              <a:t>recursive</a:t>
            </a:r>
          </a:p>
          <a:p>
            <a:pPr lvl="1">
              <a:lnSpc>
                <a:spcPct val="90000"/>
              </a:lnSpc>
            </a:pPr>
            <a:endParaRPr lang="en-US" altLang="x-none" dirty="0">
              <a:solidFill>
                <a:schemeClr val="accent2"/>
              </a:solidFill>
              <a:sym typeface="Symbol" charset="2"/>
            </a:endParaRPr>
          </a:p>
          <a:p>
            <a:pPr lvl="1">
              <a:lnSpc>
                <a:spcPct val="90000"/>
              </a:lnSpc>
            </a:pPr>
            <a:endParaRPr lang="en-US" altLang="x-none" dirty="0">
              <a:solidFill>
                <a:schemeClr val="accent2"/>
              </a:solidFill>
              <a:sym typeface="Symbol" charset="2"/>
            </a:endParaRPr>
          </a:p>
        </p:txBody>
      </p:sp>
      <p:sp>
        <p:nvSpPr>
          <p:cNvPr id="46087" name="Text Box 4"/>
          <p:cNvSpPr txBox="1">
            <a:spLocks noChangeArrowheads="1"/>
          </p:cNvSpPr>
          <p:nvPr/>
        </p:nvSpPr>
        <p:spPr bwMode="auto">
          <a:xfrm>
            <a:off x="6096000" y="1676401"/>
            <a:ext cx="1676400" cy="466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machine</a:t>
            </a:r>
          </a:p>
        </p:txBody>
      </p:sp>
      <p:sp>
        <p:nvSpPr>
          <p:cNvPr id="46088" name="Text Box 5"/>
          <p:cNvSpPr txBox="1">
            <a:spLocks noChangeArrowheads="1"/>
          </p:cNvSpPr>
          <p:nvPr/>
        </p:nvSpPr>
        <p:spPr bwMode="auto">
          <a:xfrm>
            <a:off x="4267200" y="16764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input</a:t>
            </a:r>
          </a:p>
        </p:txBody>
      </p:sp>
      <p:cxnSp>
        <p:nvCxnSpPr>
          <p:cNvPr id="46089" name="AutoShape 6"/>
          <p:cNvCxnSpPr>
            <a:cxnSpLocks noChangeShapeType="1"/>
            <a:stCxn id="46088" idx="3"/>
            <a:endCxn id="46087" idx="1"/>
          </p:cNvCxnSpPr>
          <p:nvPr/>
        </p:nvCxnSpPr>
        <p:spPr bwMode="auto">
          <a:xfrm>
            <a:off x="5181600" y="1905001"/>
            <a:ext cx="914400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090" name="AutoShape 7"/>
          <p:cNvSpPr>
            <a:spLocks/>
          </p:cNvSpPr>
          <p:nvPr/>
        </p:nvSpPr>
        <p:spPr bwMode="auto">
          <a:xfrm>
            <a:off x="8610600" y="1295400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46091" name="Text Box 8"/>
          <p:cNvSpPr txBox="1">
            <a:spLocks noChangeArrowheads="1"/>
          </p:cNvSpPr>
          <p:nvPr/>
        </p:nvSpPr>
        <p:spPr bwMode="auto">
          <a:xfrm>
            <a:off x="8915400" y="1295401"/>
            <a:ext cx="22098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x-none"/>
              <a:t> accept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x-none"/>
              <a:t> reject 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x-none"/>
              <a:t> loop forever</a:t>
            </a:r>
          </a:p>
        </p:txBody>
      </p:sp>
      <p:cxnSp>
        <p:nvCxnSpPr>
          <p:cNvPr id="46092" name="AutoShape 9"/>
          <p:cNvCxnSpPr>
            <a:cxnSpLocks noChangeShapeType="1"/>
            <a:stCxn id="46087" idx="3"/>
            <a:endCxn id="46090" idx="1"/>
          </p:cNvCxnSpPr>
          <p:nvPr/>
        </p:nvCxnSpPr>
        <p:spPr bwMode="auto">
          <a:xfrm flipV="1">
            <a:off x="7772400" y="1905001"/>
            <a:ext cx="838200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864586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Extension</a:t>
            </a:r>
          </a:p>
          <a:p>
            <a:pPr lvl="1"/>
            <a:r>
              <a:rPr kumimoji="1" lang="en-US" altLang="zh-CN" dirty="0"/>
              <a:t>Multiple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track</a:t>
            </a:r>
          </a:p>
          <a:p>
            <a:pPr lvl="1"/>
            <a:r>
              <a:rPr kumimoji="1" lang="en-US" altLang="zh-CN" dirty="0"/>
              <a:t>Multiple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tape</a:t>
            </a:r>
          </a:p>
          <a:p>
            <a:pPr lvl="1"/>
            <a:r>
              <a:rPr kumimoji="1" lang="en-US" altLang="zh-CN" dirty="0"/>
              <a:t>State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Buffer</a:t>
            </a:r>
          </a:p>
          <a:p>
            <a:pPr lvl="1"/>
            <a:r>
              <a:rPr kumimoji="1" lang="en-US" altLang="zh-CN" dirty="0"/>
              <a:t>Nondeterministic</a:t>
            </a:r>
          </a:p>
          <a:p>
            <a:pPr lvl="1"/>
            <a:r>
              <a:rPr kumimoji="1" lang="zh-CN" altLang="en-US" dirty="0"/>
              <a:t>。。。</a:t>
            </a:r>
          </a:p>
        </p:txBody>
      </p:sp>
    </p:spTree>
    <p:extLst>
      <p:ext uri="{BB962C8B-B14F-4D97-AF65-F5344CB8AC3E}">
        <p14:creationId xmlns:p14="http://schemas.microsoft.com/office/powerpoint/2010/main" val="1989425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The Halting Problem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charset="0"/>
                <a:cs typeface="宋体" charset="0"/>
              </a:rPr>
              <a:t>Definition of the </a:t>
            </a:r>
            <a:r>
              <a:rPr lang="en-US" altLang="zh-CN" dirty="0">
                <a:latin typeface="Arial"/>
                <a:ea typeface="宋体" charset="0"/>
                <a:cs typeface="宋体" charset="0"/>
              </a:rPr>
              <a:t>“</a:t>
            </a:r>
            <a:r>
              <a:rPr lang="en-US" altLang="zh-CN" dirty="0">
                <a:ea typeface="宋体" charset="0"/>
                <a:cs typeface="宋体" charset="0"/>
              </a:rPr>
              <a:t>Halting Problem</a:t>
            </a:r>
            <a:r>
              <a:rPr lang="en-US" altLang="zh-CN" dirty="0">
                <a:latin typeface="Arial"/>
                <a:ea typeface="宋体" charset="0"/>
                <a:cs typeface="宋体" charset="0"/>
              </a:rPr>
              <a:t>”</a:t>
            </a:r>
            <a:r>
              <a:rPr lang="en-US" altLang="zh-CN" dirty="0">
                <a:ea typeface="宋体" charset="0"/>
                <a:cs typeface="宋体" charset="0"/>
              </a:rPr>
              <a:t>: </a:t>
            </a:r>
          </a:p>
          <a:p>
            <a:pPr algn="ctr">
              <a:lnSpc>
                <a:spcPct val="90000"/>
              </a:lnSpc>
              <a:buFont typeface="Wingdings 2" charset="0"/>
              <a:buNone/>
            </a:pPr>
            <a:r>
              <a:rPr lang="en-US" altLang="zh-CN" dirty="0">
                <a:solidFill>
                  <a:srgbClr val="FF0000"/>
                </a:solidFill>
                <a:ea typeface="宋体" charset="0"/>
                <a:cs typeface="宋体" charset="0"/>
              </a:rPr>
              <a:t>HALT = { &lt;M, x&gt; | TM M halts on input x }</a:t>
            </a:r>
          </a:p>
          <a:p>
            <a:pPr marL="449262" lvl="1" indent="0">
              <a:buNone/>
            </a:pPr>
            <a:endParaRPr lang="en-US" altLang="zh-CN" dirty="0">
              <a:ea typeface="宋体" charset="0"/>
              <a:cs typeface="宋体" charset="0"/>
            </a:endParaRPr>
          </a:p>
          <a:p>
            <a:endParaRPr lang="en-US" altLang="zh-CN" dirty="0">
              <a:ea typeface="宋体" charset="0"/>
              <a:cs typeface="宋体" charset="0"/>
            </a:endParaRPr>
          </a:p>
          <a:p>
            <a:r>
              <a:rPr lang="en-US" altLang="zh-CN" dirty="0">
                <a:ea typeface="宋体" charset="0"/>
                <a:cs typeface="宋体" charset="0"/>
              </a:rPr>
              <a:t>Is HALT decidable?</a:t>
            </a:r>
          </a:p>
        </p:txBody>
      </p:sp>
    </p:spTree>
    <p:extLst>
      <p:ext uri="{BB962C8B-B14F-4D97-AF65-F5344CB8AC3E}">
        <p14:creationId xmlns:p14="http://schemas.microsoft.com/office/powerpoint/2010/main" val="1318025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The Halting Problem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1992313" y="1484313"/>
            <a:ext cx="8360724" cy="4965533"/>
          </a:xfrm>
        </p:spPr>
        <p:txBody>
          <a:bodyPr>
            <a:normAutofit fontScale="92500" lnSpcReduction="10000"/>
          </a:bodyPr>
          <a:lstStyle/>
          <a:p>
            <a:pPr>
              <a:buFont typeface="Wingdings 2" charset="0"/>
              <a:buNone/>
            </a:pPr>
            <a:r>
              <a:rPr lang="en-US" altLang="zh-CN" b="1" u="sng" dirty="0">
                <a:ea typeface="宋体" charset="0"/>
                <a:cs typeface="宋体" charset="0"/>
              </a:rPr>
              <a:t>Theorem</a:t>
            </a:r>
            <a:r>
              <a:rPr lang="en-US" altLang="zh-CN" dirty="0">
                <a:ea typeface="宋体" charset="0"/>
                <a:cs typeface="宋体" charset="0"/>
              </a:rPr>
              <a:t>: HALT is not decidable (</a:t>
            </a:r>
            <a:r>
              <a:rPr lang="en-US" altLang="zh-CN" dirty="0" err="1">
                <a:ea typeface="宋体" charset="0"/>
                <a:cs typeface="宋体" charset="0"/>
              </a:rPr>
              <a:t>undecidable</a:t>
            </a:r>
            <a:r>
              <a:rPr lang="en-US" altLang="zh-CN" dirty="0">
                <a:ea typeface="宋体" charset="0"/>
                <a:cs typeface="宋体" charset="0"/>
              </a:rPr>
              <a:t>).</a:t>
            </a:r>
          </a:p>
          <a:p>
            <a:pPr>
              <a:buFont typeface="Wingdings 2" charset="0"/>
              <a:buNone/>
            </a:pPr>
            <a:endParaRPr lang="en-US" altLang="zh-CN" dirty="0">
              <a:ea typeface="宋体" charset="0"/>
              <a:cs typeface="宋体" charset="0"/>
            </a:endParaRPr>
          </a:p>
          <a:p>
            <a:pPr>
              <a:buFont typeface="Wingdings 2" charset="0"/>
              <a:buNone/>
            </a:pPr>
            <a:r>
              <a:rPr lang="en-US" altLang="zh-CN" dirty="0">
                <a:ea typeface="宋体" charset="0"/>
                <a:cs typeface="宋体" charset="0"/>
              </a:rPr>
              <a:t>Proof:</a:t>
            </a:r>
          </a:p>
          <a:p>
            <a:pPr lvl="1"/>
            <a:r>
              <a:rPr lang="en-US" altLang="zh-CN" dirty="0">
                <a:ea typeface="宋体" charset="0"/>
                <a:cs typeface="宋体" charset="0"/>
              </a:rPr>
              <a:t>Suppose TM </a:t>
            </a:r>
            <a:r>
              <a:rPr lang="en-US" altLang="zh-CN" dirty="0">
                <a:solidFill>
                  <a:srgbClr val="FF0000"/>
                </a:solidFill>
                <a:ea typeface="宋体" charset="0"/>
                <a:cs typeface="宋体" charset="0"/>
              </a:rPr>
              <a:t>H</a:t>
            </a:r>
            <a:r>
              <a:rPr lang="en-US" altLang="zh-CN" dirty="0">
                <a:ea typeface="宋体" charset="0"/>
                <a:cs typeface="宋体" charset="0"/>
              </a:rPr>
              <a:t> decides HALT</a:t>
            </a:r>
          </a:p>
          <a:p>
            <a:pPr lvl="2"/>
            <a:r>
              <a:rPr lang="en-US" altLang="zh-CN" dirty="0">
                <a:ea typeface="宋体" charset="0"/>
                <a:cs typeface="宋体" charset="0"/>
              </a:rPr>
              <a:t>if M accept x, H accept</a:t>
            </a:r>
          </a:p>
          <a:p>
            <a:pPr lvl="2"/>
            <a:r>
              <a:rPr lang="en-US" altLang="zh-CN" dirty="0">
                <a:ea typeface="宋体" charset="0"/>
                <a:cs typeface="宋体" charset="0"/>
              </a:rPr>
              <a:t>if M does not accept x, H reject</a:t>
            </a:r>
          </a:p>
          <a:p>
            <a:pPr lvl="1"/>
            <a:r>
              <a:rPr lang="en-US" altLang="zh-CN" dirty="0">
                <a:ea typeface="宋体" charset="0"/>
                <a:cs typeface="宋体" charset="0"/>
              </a:rPr>
              <a:t>Define new TM </a:t>
            </a:r>
            <a:r>
              <a:rPr lang="en-US" altLang="zh-CN" dirty="0">
                <a:solidFill>
                  <a:srgbClr val="FF0000"/>
                </a:solidFill>
                <a:ea typeface="宋体" charset="0"/>
                <a:cs typeface="宋体" charset="0"/>
              </a:rPr>
              <a:t>H</a:t>
            </a:r>
            <a:r>
              <a:rPr lang="en-US" altLang="zh-CN" dirty="0">
                <a:solidFill>
                  <a:srgbClr val="FF0000"/>
                </a:solidFill>
                <a:latin typeface="Arial"/>
                <a:ea typeface="宋体" charset="0"/>
                <a:cs typeface="宋体" charset="0"/>
              </a:rPr>
              <a:t>’</a:t>
            </a:r>
            <a:r>
              <a:rPr lang="en-US" altLang="zh-CN" dirty="0">
                <a:ea typeface="宋体" charset="0"/>
                <a:cs typeface="宋体" charset="0"/>
              </a:rPr>
              <a:t>: on input &lt;M&gt;</a:t>
            </a:r>
          </a:p>
          <a:p>
            <a:pPr lvl="2"/>
            <a:r>
              <a:rPr lang="en-US" altLang="zh-CN" dirty="0">
                <a:solidFill>
                  <a:schemeClr val="accent1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宋体" charset="0"/>
                <a:cs typeface="宋体" charset="0"/>
              </a:rPr>
              <a:t>if H accepts &lt;M, &lt;M&gt;&gt;, then loop</a:t>
            </a:r>
          </a:p>
          <a:p>
            <a:pPr lvl="2"/>
            <a:r>
              <a:rPr lang="en-US" altLang="zh-CN" dirty="0">
                <a:solidFill>
                  <a:srgbClr val="FF0000"/>
                </a:solidFill>
                <a:ea typeface="宋体" charset="0"/>
                <a:cs typeface="宋体" charset="0"/>
              </a:rPr>
              <a:t> if H rejects &lt;M, &lt;M&gt;&gt;, then halt</a:t>
            </a:r>
          </a:p>
          <a:p>
            <a:pPr lvl="1"/>
            <a:r>
              <a:rPr lang="en-US" altLang="zh-CN" dirty="0">
                <a:ea typeface="宋体" charset="0"/>
                <a:cs typeface="宋体" charset="0"/>
              </a:rPr>
              <a:t>consider H</a:t>
            </a:r>
            <a:r>
              <a:rPr lang="en-US" altLang="zh-CN" dirty="0">
                <a:latin typeface="Arial"/>
                <a:ea typeface="宋体" charset="0"/>
                <a:cs typeface="宋体" charset="0"/>
              </a:rPr>
              <a:t>’</a:t>
            </a:r>
            <a:r>
              <a:rPr lang="en-US" altLang="zh-CN" dirty="0">
                <a:ea typeface="宋体" charset="0"/>
                <a:cs typeface="宋体" charset="0"/>
              </a:rPr>
              <a:t> on input &lt;H</a:t>
            </a:r>
            <a:r>
              <a:rPr lang="en-US" altLang="zh-CN" dirty="0">
                <a:latin typeface="Arial"/>
                <a:ea typeface="宋体" charset="0"/>
                <a:cs typeface="宋体" charset="0"/>
              </a:rPr>
              <a:t>’</a:t>
            </a:r>
            <a:r>
              <a:rPr lang="en-US" altLang="zh-CN" dirty="0">
                <a:ea typeface="宋体" charset="0"/>
                <a:cs typeface="宋体" charset="0"/>
              </a:rPr>
              <a:t>&gt;:</a:t>
            </a:r>
          </a:p>
          <a:p>
            <a:pPr lvl="2"/>
            <a:r>
              <a:rPr lang="en-US" altLang="zh-CN" dirty="0">
                <a:solidFill>
                  <a:srgbClr val="FF0000"/>
                </a:solidFill>
                <a:ea typeface="宋体" charset="0"/>
                <a:cs typeface="宋体" charset="0"/>
              </a:rPr>
              <a:t> if it halts, then H rejects &lt;H</a:t>
            </a:r>
            <a:r>
              <a:rPr lang="en-US" altLang="zh-CN" dirty="0">
                <a:solidFill>
                  <a:srgbClr val="FF0000"/>
                </a:solidFill>
                <a:latin typeface="Arial"/>
                <a:ea typeface="宋体" charset="0"/>
                <a:cs typeface="宋体" charset="0"/>
              </a:rPr>
              <a:t>’</a:t>
            </a:r>
            <a:r>
              <a:rPr lang="en-US" altLang="zh-CN" dirty="0">
                <a:solidFill>
                  <a:srgbClr val="FF0000"/>
                </a:solidFill>
                <a:ea typeface="宋体" charset="0"/>
                <a:cs typeface="宋体" charset="0"/>
              </a:rPr>
              <a:t>, &lt;H</a:t>
            </a:r>
            <a:r>
              <a:rPr lang="en-US" altLang="zh-CN" dirty="0">
                <a:solidFill>
                  <a:srgbClr val="FF0000"/>
                </a:solidFill>
                <a:latin typeface="Arial"/>
                <a:ea typeface="宋体" charset="0"/>
                <a:cs typeface="宋体" charset="0"/>
              </a:rPr>
              <a:t>’</a:t>
            </a:r>
            <a:r>
              <a:rPr lang="en-US" altLang="zh-CN" dirty="0">
                <a:solidFill>
                  <a:srgbClr val="FF0000"/>
                </a:solidFill>
                <a:ea typeface="宋体" charset="0"/>
                <a:cs typeface="宋体" charset="0"/>
              </a:rPr>
              <a:t>&gt;&gt;, which implies it cannot halt</a:t>
            </a:r>
          </a:p>
          <a:p>
            <a:pPr lvl="2"/>
            <a:r>
              <a:rPr lang="en-US" altLang="zh-CN" dirty="0">
                <a:solidFill>
                  <a:srgbClr val="FF0000"/>
                </a:solidFill>
                <a:ea typeface="宋体" charset="0"/>
                <a:cs typeface="宋体" charset="0"/>
              </a:rPr>
              <a:t> if it loops, then H accepts &lt;H</a:t>
            </a:r>
            <a:r>
              <a:rPr lang="en-US" altLang="zh-CN" dirty="0">
                <a:solidFill>
                  <a:srgbClr val="FF0000"/>
                </a:solidFill>
                <a:latin typeface="Arial"/>
                <a:ea typeface="宋体" charset="0"/>
                <a:cs typeface="宋体" charset="0"/>
              </a:rPr>
              <a:t>’</a:t>
            </a:r>
            <a:r>
              <a:rPr lang="en-US" altLang="zh-CN" dirty="0">
                <a:solidFill>
                  <a:srgbClr val="FF0000"/>
                </a:solidFill>
                <a:ea typeface="宋体" charset="0"/>
                <a:cs typeface="宋体" charset="0"/>
              </a:rPr>
              <a:t>, &lt;H</a:t>
            </a:r>
            <a:r>
              <a:rPr lang="en-US" altLang="zh-CN" dirty="0">
                <a:solidFill>
                  <a:srgbClr val="FF0000"/>
                </a:solidFill>
                <a:latin typeface="Arial"/>
                <a:ea typeface="宋体" charset="0"/>
                <a:cs typeface="宋体" charset="0"/>
              </a:rPr>
              <a:t>’</a:t>
            </a:r>
            <a:r>
              <a:rPr lang="en-US" altLang="zh-CN" dirty="0">
                <a:solidFill>
                  <a:srgbClr val="FF0000"/>
                </a:solidFill>
                <a:ea typeface="宋体" charset="0"/>
                <a:cs typeface="宋体" charset="0"/>
              </a:rPr>
              <a:t>&gt;&gt;, which implies it must halt</a:t>
            </a:r>
          </a:p>
          <a:p>
            <a:pPr lvl="1"/>
            <a:r>
              <a:rPr lang="en-US" altLang="zh-CN" dirty="0">
                <a:ea typeface="宋体" charset="0"/>
                <a:cs typeface="宋体" charset="0"/>
              </a:rPr>
              <a:t>contradiction. Thus neither H nor H</a:t>
            </a:r>
            <a:r>
              <a:rPr lang="en-US" altLang="zh-CN" dirty="0">
                <a:latin typeface="Arial"/>
                <a:ea typeface="宋体" charset="0"/>
                <a:cs typeface="宋体" charset="0"/>
              </a:rPr>
              <a:t>’</a:t>
            </a:r>
            <a:r>
              <a:rPr lang="en-US" altLang="zh-CN" dirty="0">
                <a:ea typeface="宋体" charset="0"/>
                <a:cs typeface="宋体" charset="0"/>
              </a:rPr>
              <a:t> can exist</a:t>
            </a:r>
          </a:p>
          <a:p>
            <a:pPr lvl="2"/>
            <a:endParaRPr lang="en-US" altLang="zh-CN" dirty="0">
              <a:solidFill>
                <a:srgbClr val="FF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716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312993" y="404813"/>
            <a:ext cx="7423679" cy="576262"/>
          </a:xfrm>
        </p:spPr>
        <p:txBody>
          <a:bodyPr/>
          <a:lstStyle/>
          <a:p>
            <a:pPr eaLnBrk="1" hangingPunct="1"/>
            <a:r>
              <a:rPr lang="en-US" altLang="x-none" sz="4000"/>
              <a:t>H’ is the opposite of the diagonals: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981200"/>
            <a:ext cx="8534400" cy="4114800"/>
          </a:xfrm>
        </p:spPr>
        <p:txBody>
          <a:bodyPr/>
          <a:lstStyle/>
          <a:p>
            <a:pPr eaLnBrk="1" hangingPunct="1"/>
            <a:r>
              <a:rPr lang="en-US" altLang="x-none"/>
              <a:t>Entry i,j is the value of H on input &lt;M</a:t>
            </a:r>
            <a:r>
              <a:rPr lang="en-US" altLang="x-none" baseline="-25000"/>
              <a:t>i</a:t>
            </a:r>
            <a:r>
              <a:rPr lang="en-US" altLang="x-none"/>
              <a:t>, &lt;M</a:t>
            </a:r>
            <a:r>
              <a:rPr lang="en-US" altLang="x-none" baseline="-25000"/>
              <a:t>j</a:t>
            </a:r>
            <a:r>
              <a:rPr lang="en-US" altLang="x-none"/>
              <a:t>&gt;&gt;</a:t>
            </a:r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3565526" y="2860676"/>
            <a:ext cx="54729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x-none" dirty="0"/>
              <a:t>&lt;M1&gt;	&lt;M2&gt;	&lt;M3&gt;	&lt;M4&gt;	…	&lt;H’&gt;</a:t>
            </a: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2803526" y="3394075"/>
            <a:ext cx="608171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x-none" dirty="0"/>
              <a:t>M1	        </a:t>
            </a:r>
            <a:r>
              <a:rPr lang="en-US" altLang="x-none" u="sng" dirty="0"/>
              <a:t>A</a:t>
            </a:r>
            <a:r>
              <a:rPr lang="en-US" altLang="x-none" dirty="0"/>
              <a:t>	       R	        A	      R</a:t>
            </a:r>
          </a:p>
          <a:p>
            <a:pPr eaLnBrk="1" hangingPunct="1"/>
            <a:r>
              <a:rPr lang="en-US" altLang="x-none" dirty="0"/>
              <a:t>M2	        A	       </a:t>
            </a:r>
            <a:r>
              <a:rPr lang="en-US" altLang="x-none" u="sng" dirty="0"/>
              <a:t>A</a:t>
            </a:r>
            <a:r>
              <a:rPr lang="en-US" altLang="x-none" dirty="0"/>
              <a:t>	       A	      A</a:t>
            </a:r>
          </a:p>
          <a:p>
            <a:pPr eaLnBrk="1" hangingPunct="1"/>
            <a:r>
              <a:rPr lang="en-US" altLang="x-none" dirty="0"/>
              <a:t>M3      	        R	       R	      </a:t>
            </a:r>
            <a:r>
              <a:rPr lang="en-US" altLang="x-none" u="sng" dirty="0"/>
              <a:t>R</a:t>
            </a:r>
            <a:r>
              <a:rPr lang="en-US" altLang="x-none" dirty="0"/>
              <a:t>	     R</a:t>
            </a:r>
          </a:p>
          <a:p>
            <a:pPr eaLnBrk="1" hangingPunct="1"/>
            <a:r>
              <a:rPr lang="en-US" altLang="x-none" dirty="0"/>
              <a:t>M4	       A	       A	     R	     </a:t>
            </a:r>
            <a:r>
              <a:rPr lang="en-US" altLang="x-none" u="sng" dirty="0"/>
              <a:t>R</a:t>
            </a:r>
          </a:p>
          <a:p>
            <a:pPr eaLnBrk="1" hangingPunct="1"/>
            <a:r>
              <a:rPr lang="en-US" altLang="x-none" dirty="0"/>
              <a:t>…</a:t>
            </a:r>
          </a:p>
          <a:p>
            <a:pPr eaLnBrk="1" hangingPunct="1"/>
            <a:r>
              <a:rPr lang="en-US" altLang="x-none" dirty="0"/>
              <a:t>H’	       R	       R	     A	     A		?</a:t>
            </a:r>
          </a:p>
        </p:txBody>
      </p:sp>
      <p:sp>
        <p:nvSpPr>
          <p:cNvPr id="62470" name="Line 6"/>
          <p:cNvSpPr>
            <a:spLocks noChangeShapeType="1"/>
          </p:cNvSpPr>
          <p:nvPr/>
        </p:nvSpPr>
        <p:spPr bwMode="auto">
          <a:xfrm>
            <a:off x="2743200" y="3352800"/>
            <a:ext cx="594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1" name="Line 7"/>
          <p:cNvSpPr>
            <a:spLocks noChangeShapeType="1"/>
          </p:cNvSpPr>
          <p:nvPr/>
        </p:nvSpPr>
        <p:spPr bwMode="auto">
          <a:xfrm>
            <a:off x="3581400" y="29718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141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Decidable, RE, coRE…</a:t>
            </a:r>
          </a:p>
        </p:txBody>
      </p:sp>
      <p:sp>
        <p:nvSpPr>
          <p:cNvPr id="49158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5105401"/>
            <a:ext cx="8229600" cy="1020763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x-none"/>
              <a:t>some problems (e.g HALT) have no algorithms </a:t>
            </a:r>
          </a:p>
        </p:txBody>
      </p:sp>
      <p:sp>
        <p:nvSpPr>
          <p:cNvPr id="49159" name="Oval 4"/>
          <p:cNvSpPr>
            <a:spLocks noChangeArrowheads="1"/>
          </p:cNvSpPr>
          <p:nvPr/>
        </p:nvSpPr>
        <p:spPr bwMode="auto">
          <a:xfrm>
            <a:off x="4419600" y="2438400"/>
            <a:ext cx="4495800" cy="1676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49160" name="Oval 5"/>
          <p:cNvSpPr>
            <a:spLocks noChangeArrowheads="1"/>
          </p:cNvSpPr>
          <p:nvPr/>
        </p:nvSpPr>
        <p:spPr bwMode="auto">
          <a:xfrm>
            <a:off x="4419600" y="2819400"/>
            <a:ext cx="1295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49161" name="Oval 6"/>
          <p:cNvSpPr>
            <a:spLocks noChangeArrowheads="1"/>
          </p:cNvSpPr>
          <p:nvPr/>
        </p:nvSpPr>
        <p:spPr bwMode="auto">
          <a:xfrm>
            <a:off x="4419600" y="2971800"/>
            <a:ext cx="9144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49162" name="Text Box 7"/>
          <p:cNvSpPr txBox="1">
            <a:spLocks noChangeArrowheads="1"/>
          </p:cNvSpPr>
          <p:nvPr/>
        </p:nvSpPr>
        <p:spPr bwMode="auto">
          <a:xfrm>
            <a:off x="2590800" y="2438401"/>
            <a:ext cx="1676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x-none" sz="2400"/>
              <a:t>regular languages</a:t>
            </a:r>
          </a:p>
        </p:txBody>
      </p:sp>
      <p:cxnSp>
        <p:nvCxnSpPr>
          <p:cNvPr id="49163" name="AutoShape 8"/>
          <p:cNvCxnSpPr>
            <a:cxnSpLocks noChangeShapeType="1"/>
            <a:endCxn id="49161" idx="0"/>
          </p:cNvCxnSpPr>
          <p:nvPr/>
        </p:nvCxnSpPr>
        <p:spPr bwMode="auto">
          <a:xfrm>
            <a:off x="4343400" y="2819400"/>
            <a:ext cx="533400" cy="1524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64" name="Text Box 9"/>
          <p:cNvSpPr txBox="1">
            <a:spLocks noChangeArrowheads="1"/>
          </p:cNvSpPr>
          <p:nvPr/>
        </p:nvSpPr>
        <p:spPr bwMode="auto">
          <a:xfrm>
            <a:off x="2514600" y="3597276"/>
            <a:ext cx="2133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x-none" sz="2400"/>
              <a:t>context free languages</a:t>
            </a:r>
          </a:p>
        </p:txBody>
      </p:sp>
      <p:cxnSp>
        <p:nvCxnSpPr>
          <p:cNvPr id="49165" name="AutoShape 10"/>
          <p:cNvCxnSpPr>
            <a:cxnSpLocks noChangeShapeType="1"/>
            <a:stCxn id="49164" idx="3"/>
            <a:endCxn id="49160" idx="5"/>
          </p:cNvCxnSpPr>
          <p:nvPr/>
        </p:nvCxnSpPr>
        <p:spPr bwMode="auto">
          <a:xfrm flipV="1">
            <a:off x="4648201" y="3599890"/>
            <a:ext cx="877093" cy="41288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66" name="Text Box 11"/>
          <p:cNvSpPr txBox="1">
            <a:spLocks noChangeArrowheads="1"/>
          </p:cNvSpPr>
          <p:nvPr/>
        </p:nvSpPr>
        <p:spPr bwMode="auto">
          <a:xfrm>
            <a:off x="8305800" y="21336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x-none" sz="2400"/>
              <a:t>all languages</a:t>
            </a:r>
          </a:p>
        </p:txBody>
      </p:sp>
      <p:cxnSp>
        <p:nvCxnSpPr>
          <p:cNvPr id="49167" name="AutoShape 12"/>
          <p:cNvCxnSpPr>
            <a:cxnSpLocks noChangeShapeType="1"/>
            <a:stCxn id="49166" idx="2"/>
            <a:endCxn id="49159" idx="6"/>
          </p:cNvCxnSpPr>
          <p:nvPr/>
        </p:nvCxnSpPr>
        <p:spPr bwMode="auto">
          <a:xfrm rot="5400000">
            <a:off x="8801100" y="2705100"/>
            <a:ext cx="685800" cy="4572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68" name="Oval 13"/>
          <p:cNvSpPr>
            <a:spLocks noChangeArrowheads="1"/>
          </p:cNvSpPr>
          <p:nvPr/>
        </p:nvSpPr>
        <p:spPr bwMode="auto">
          <a:xfrm rot="309908">
            <a:off x="4419600" y="2667000"/>
            <a:ext cx="3124200" cy="13716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49169" name="Text Box 14"/>
          <p:cNvSpPr txBox="1">
            <a:spLocks noChangeArrowheads="1"/>
          </p:cNvSpPr>
          <p:nvPr/>
        </p:nvSpPr>
        <p:spPr bwMode="auto">
          <a:xfrm>
            <a:off x="4267200" y="19050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decidable</a:t>
            </a:r>
          </a:p>
        </p:txBody>
      </p:sp>
      <p:sp>
        <p:nvSpPr>
          <p:cNvPr id="49170" name="Text Box 15"/>
          <p:cNvSpPr txBox="1">
            <a:spLocks noChangeArrowheads="1"/>
          </p:cNvSpPr>
          <p:nvPr/>
        </p:nvSpPr>
        <p:spPr bwMode="auto">
          <a:xfrm>
            <a:off x="8001000" y="38100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RE</a:t>
            </a:r>
          </a:p>
        </p:txBody>
      </p:sp>
      <p:cxnSp>
        <p:nvCxnSpPr>
          <p:cNvPr id="49171" name="AutoShape 16"/>
          <p:cNvCxnSpPr>
            <a:cxnSpLocks noChangeShapeType="1"/>
            <a:stCxn id="49169" idx="2"/>
          </p:cNvCxnSpPr>
          <p:nvPr/>
        </p:nvCxnSpPr>
        <p:spPr bwMode="auto">
          <a:xfrm rot="16200000" flipH="1">
            <a:off x="5518945" y="2177257"/>
            <a:ext cx="536575" cy="906463"/>
          </a:xfrm>
          <a:prstGeom prst="curvedConnector3">
            <a:avLst>
              <a:gd name="adj1" fmla="val 355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2" name="AutoShape 17"/>
          <p:cNvCxnSpPr>
            <a:cxnSpLocks noChangeShapeType="1"/>
            <a:stCxn id="49170" idx="0"/>
            <a:endCxn id="49168" idx="6"/>
          </p:cNvCxnSpPr>
          <p:nvPr/>
        </p:nvCxnSpPr>
        <p:spPr bwMode="auto">
          <a:xfrm rot="5400000" flipH="1">
            <a:off x="8154194" y="2896394"/>
            <a:ext cx="315912" cy="15113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73" name="Text Box 18"/>
          <p:cNvSpPr txBox="1">
            <a:spLocks noChangeArrowheads="1"/>
          </p:cNvSpPr>
          <p:nvPr/>
        </p:nvSpPr>
        <p:spPr bwMode="auto">
          <a:xfrm>
            <a:off x="2362200" y="16002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>
                <a:solidFill>
                  <a:schemeClr val="accent2"/>
                </a:solidFill>
              </a:rPr>
              <a:t>{a</a:t>
            </a:r>
            <a:r>
              <a:rPr lang="en-US" altLang="x-none" sz="2400" baseline="30000">
                <a:solidFill>
                  <a:schemeClr val="accent2"/>
                </a:solidFill>
              </a:rPr>
              <a:t>n</a:t>
            </a:r>
            <a:r>
              <a:rPr lang="en-US" altLang="x-none" sz="2400">
                <a:solidFill>
                  <a:schemeClr val="accent2"/>
                </a:solidFill>
              </a:rPr>
              <a:t>b</a:t>
            </a:r>
            <a:r>
              <a:rPr lang="en-US" altLang="x-none" sz="2400" baseline="30000">
                <a:solidFill>
                  <a:schemeClr val="accent2"/>
                </a:solidFill>
              </a:rPr>
              <a:t>n </a:t>
            </a:r>
            <a:r>
              <a:rPr lang="en-US" altLang="x-none" sz="2400">
                <a:solidFill>
                  <a:schemeClr val="accent2"/>
                </a:solidFill>
              </a:rPr>
              <a:t>: n </a:t>
            </a:r>
            <a:r>
              <a:rPr lang="en-US" altLang="x-none" sz="2400">
                <a:solidFill>
                  <a:schemeClr val="accent2"/>
                </a:solidFill>
                <a:ea typeface="Arial" charset="0"/>
                <a:cs typeface="Arial" charset="0"/>
              </a:rPr>
              <a:t>≥ 0</a:t>
            </a:r>
            <a:r>
              <a:rPr lang="en-US" altLang="x-none" sz="2400">
                <a:solidFill>
                  <a:schemeClr val="accent2"/>
                </a:solidFill>
              </a:rPr>
              <a:t> }</a:t>
            </a:r>
          </a:p>
        </p:txBody>
      </p:sp>
      <p:sp>
        <p:nvSpPr>
          <p:cNvPr id="49174" name="Oval 19"/>
          <p:cNvSpPr>
            <a:spLocks noChangeArrowheads="1"/>
          </p:cNvSpPr>
          <p:nvPr/>
        </p:nvSpPr>
        <p:spPr bwMode="auto">
          <a:xfrm>
            <a:off x="5257800" y="29718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49175" name="Oval 20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49176" name="Oval 21"/>
          <p:cNvSpPr>
            <a:spLocks noChangeArrowheads="1"/>
          </p:cNvSpPr>
          <p:nvPr/>
        </p:nvSpPr>
        <p:spPr bwMode="auto">
          <a:xfrm>
            <a:off x="8610600" y="3124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49177" name="Text Box 22"/>
          <p:cNvSpPr txBox="1">
            <a:spLocks noChangeArrowheads="1"/>
          </p:cNvSpPr>
          <p:nvPr/>
        </p:nvSpPr>
        <p:spPr bwMode="auto">
          <a:xfrm>
            <a:off x="5105400" y="44196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>
                <a:solidFill>
                  <a:schemeClr val="accent2"/>
                </a:solidFill>
              </a:rPr>
              <a:t>{a</a:t>
            </a:r>
            <a:r>
              <a:rPr lang="en-US" altLang="x-none" sz="2400" baseline="30000">
                <a:solidFill>
                  <a:schemeClr val="accent2"/>
                </a:solidFill>
              </a:rPr>
              <a:t>n</a:t>
            </a:r>
            <a:r>
              <a:rPr lang="en-US" altLang="x-none" sz="2400">
                <a:solidFill>
                  <a:schemeClr val="accent2"/>
                </a:solidFill>
              </a:rPr>
              <a:t>b</a:t>
            </a:r>
            <a:r>
              <a:rPr lang="en-US" altLang="x-none" sz="2400" baseline="30000">
                <a:solidFill>
                  <a:schemeClr val="accent2"/>
                </a:solidFill>
              </a:rPr>
              <a:t>n</a:t>
            </a:r>
            <a:r>
              <a:rPr lang="en-US" altLang="x-none" sz="2400">
                <a:solidFill>
                  <a:schemeClr val="accent2"/>
                </a:solidFill>
              </a:rPr>
              <a:t>c</a:t>
            </a:r>
            <a:r>
              <a:rPr lang="en-US" altLang="x-none" sz="2400" baseline="30000">
                <a:solidFill>
                  <a:schemeClr val="accent2"/>
                </a:solidFill>
              </a:rPr>
              <a:t>n </a:t>
            </a:r>
            <a:r>
              <a:rPr lang="en-US" altLang="x-none" sz="2400">
                <a:solidFill>
                  <a:schemeClr val="accent2"/>
                </a:solidFill>
              </a:rPr>
              <a:t>: n </a:t>
            </a:r>
            <a:r>
              <a:rPr lang="en-US" altLang="x-none" sz="2400">
                <a:solidFill>
                  <a:schemeClr val="accent2"/>
                </a:solidFill>
                <a:ea typeface="Arial" charset="0"/>
                <a:cs typeface="Arial" charset="0"/>
              </a:rPr>
              <a:t>≥ 0</a:t>
            </a:r>
            <a:r>
              <a:rPr lang="en-US" altLang="x-none" sz="2400">
                <a:solidFill>
                  <a:schemeClr val="accent2"/>
                </a:solidFill>
              </a:rPr>
              <a:t> }</a:t>
            </a:r>
          </a:p>
        </p:txBody>
      </p:sp>
      <p:sp>
        <p:nvSpPr>
          <p:cNvPr id="49178" name="Text Box 23"/>
          <p:cNvSpPr txBox="1">
            <a:spLocks noChangeArrowheads="1"/>
          </p:cNvSpPr>
          <p:nvPr/>
        </p:nvSpPr>
        <p:spPr bwMode="auto">
          <a:xfrm>
            <a:off x="7010400" y="15240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>
                <a:solidFill>
                  <a:schemeClr val="accent2"/>
                </a:solidFill>
              </a:rPr>
              <a:t>some language</a:t>
            </a:r>
          </a:p>
        </p:txBody>
      </p:sp>
      <p:cxnSp>
        <p:nvCxnSpPr>
          <p:cNvPr id="49179" name="AutoShape 24"/>
          <p:cNvCxnSpPr>
            <a:cxnSpLocks noChangeShapeType="1"/>
            <a:stCxn id="49173" idx="2"/>
            <a:endCxn id="49174" idx="1"/>
          </p:cNvCxnSpPr>
          <p:nvPr/>
        </p:nvCxnSpPr>
        <p:spPr bwMode="auto">
          <a:xfrm rot="16200000" flipH="1">
            <a:off x="4019551" y="1733551"/>
            <a:ext cx="925513" cy="1573213"/>
          </a:xfrm>
          <a:prstGeom prst="curvedConnector3">
            <a:avLst>
              <a:gd name="adj1" fmla="val 49398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80" name="AutoShape 25"/>
          <p:cNvCxnSpPr>
            <a:cxnSpLocks noChangeShapeType="1"/>
            <a:stCxn id="49177" idx="0"/>
            <a:endCxn id="49175" idx="7"/>
          </p:cNvCxnSpPr>
          <p:nvPr/>
        </p:nvCxnSpPr>
        <p:spPr bwMode="auto">
          <a:xfrm rot="5400000" flipH="1">
            <a:off x="5734051" y="3714751"/>
            <a:ext cx="827087" cy="582612"/>
          </a:xfrm>
          <a:prstGeom prst="curvedConnector3">
            <a:avLst>
              <a:gd name="adj1" fmla="val 12898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81" name="AutoShape 26"/>
          <p:cNvCxnSpPr>
            <a:cxnSpLocks noChangeShapeType="1"/>
            <a:stCxn id="49178" idx="2"/>
            <a:endCxn id="49176" idx="5"/>
          </p:cNvCxnSpPr>
          <p:nvPr/>
        </p:nvCxnSpPr>
        <p:spPr bwMode="auto">
          <a:xfrm rot="16200000" flipH="1">
            <a:off x="7905750" y="2419350"/>
            <a:ext cx="1208088" cy="331788"/>
          </a:xfrm>
          <a:prstGeom prst="curvedConnector3">
            <a:avLst>
              <a:gd name="adj1" fmla="val 11984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82" name="Text Box 27"/>
          <p:cNvSpPr txBox="1">
            <a:spLocks noChangeArrowheads="1"/>
          </p:cNvSpPr>
          <p:nvPr/>
        </p:nvSpPr>
        <p:spPr bwMode="auto">
          <a:xfrm>
            <a:off x="7696200" y="4495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>
                <a:solidFill>
                  <a:schemeClr val="accent2"/>
                </a:solidFill>
              </a:rPr>
              <a:t>HALT</a:t>
            </a:r>
          </a:p>
        </p:txBody>
      </p:sp>
      <p:sp>
        <p:nvSpPr>
          <p:cNvPr id="49183" name="Oval 28"/>
          <p:cNvSpPr>
            <a:spLocks noChangeArrowheads="1"/>
          </p:cNvSpPr>
          <p:nvPr/>
        </p:nvSpPr>
        <p:spPr bwMode="auto">
          <a:xfrm>
            <a:off x="6781800" y="3810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cxnSp>
        <p:nvCxnSpPr>
          <p:cNvPr id="49184" name="AutoShape 29"/>
          <p:cNvCxnSpPr>
            <a:cxnSpLocks noChangeShapeType="1"/>
            <a:stCxn id="49182" idx="0"/>
            <a:endCxn id="49183" idx="6"/>
          </p:cNvCxnSpPr>
          <p:nvPr/>
        </p:nvCxnSpPr>
        <p:spPr bwMode="auto">
          <a:xfrm rot="5400000" flipH="1">
            <a:off x="7239000" y="3467100"/>
            <a:ext cx="647700" cy="14097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85" name="Oval 30"/>
          <p:cNvSpPr>
            <a:spLocks noChangeArrowheads="1"/>
          </p:cNvSpPr>
          <p:nvPr/>
        </p:nvSpPr>
        <p:spPr bwMode="auto">
          <a:xfrm rot="21290092" flipV="1">
            <a:off x="4419600" y="2514600"/>
            <a:ext cx="3124200" cy="13716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49186" name="Text Box 31"/>
          <p:cNvSpPr txBox="1">
            <a:spLocks noChangeArrowheads="1"/>
          </p:cNvSpPr>
          <p:nvPr/>
        </p:nvSpPr>
        <p:spPr bwMode="auto">
          <a:xfrm>
            <a:off x="5486400" y="16764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co-RE</a:t>
            </a:r>
          </a:p>
        </p:txBody>
      </p:sp>
      <p:cxnSp>
        <p:nvCxnSpPr>
          <p:cNvPr id="49187" name="AutoShape 32"/>
          <p:cNvCxnSpPr>
            <a:cxnSpLocks noChangeShapeType="1"/>
            <a:stCxn id="49186" idx="2"/>
            <a:endCxn id="49185" idx="5"/>
          </p:cNvCxnSpPr>
          <p:nvPr/>
        </p:nvCxnSpPr>
        <p:spPr bwMode="auto">
          <a:xfrm rot="16200000" flipH="1">
            <a:off x="6561931" y="2124869"/>
            <a:ext cx="465138" cy="482600"/>
          </a:xfrm>
          <a:prstGeom prst="curvedConnector3">
            <a:avLst>
              <a:gd name="adj1" fmla="val 2594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88" name="Text Box 33"/>
          <p:cNvSpPr txBox="1">
            <a:spLocks noChangeArrowheads="1"/>
          </p:cNvSpPr>
          <p:nvPr/>
        </p:nvSpPr>
        <p:spPr bwMode="auto">
          <a:xfrm>
            <a:off x="4953000" y="12954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>
                <a:solidFill>
                  <a:schemeClr val="accent2"/>
                </a:solidFill>
              </a:rPr>
              <a:t>co-HALT</a:t>
            </a:r>
          </a:p>
        </p:txBody>
      </p:sp>
      <p:sp>
        <p:nvSpPr>
          <p:cNvPr id="49189" name="Oval 34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cxnSp>
        <p:nvCxnSpPr>
          <p:cNvPr id="49190" name="AutoShape 35"/>
          <p:cNvCxnSpPr>
            <a:cxnSpLocks noChangeShapeType="1"/>
            <a:stCxn id="49188" idx="2"/>
            <a:endCxn id="49189" idx="1"/>
          </p:cNvCxnSpPr>
          <p:nvPr/>
        </p:nvCxnSpPr>
        <p:spPr bwMode="auto">
          <a:xfrm rot="16200000" flipH="1">
            <a:off x="5829301" y="1790701"/>
            <a:ext cx="925513" cy="849313"/>
          </a:xfrm>
          <a:prstGeom prst="curvedConnector3">
            <a:avLst>
              <a:gd name="adj1" fmla="val 49398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118590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Definition of reduction</a:t>
            </a:r>
          </a:p>
        </p:txBody>
      </p:sp>
      <p:sp>
        <p:nvSpPr>
          <p:cNvPr id="50182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8229600" cy="1676400"/>
          </a:xfrm>
        </p:spPr>
        <p:txBody>
          <a:bodyPr/>
          <a:lstStyle/>
          <a:p>
            <a:endParaRPr lang="en-US" altLang="x-none" dirty="0">
              <a:solidFill>
                <a:schemeClr val="accent2"/>
              </a:solidFill>
            </a:endParaRPr>
          </a:p>
        </p:txBody>
      </p:sp>
      <p:sp>
        <p:nvSpPr>
          <p:cNvPr id="50183" name="Oval 4"/>
          <p:cNvSpPr>
            <a:spLocks noChangeArrowheads="1"/>
          </p:cNvSpPr>
          <p:nvPr/>
        </p:nvSpPr>
        <p:spPr bwMode="auto">
          <a:xfrm>
            <a:off x="2667000" y="3429000"/>
            <a:ext cx="1676400" cy="2209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cxnSp>
        <p:nvCxnSpPr>
          <p:cNvPr id="50184" name="AutoShape 5"/>
          <p:cNvCxnSpPr>
            <a:cxnSpLocks noChangeShapeType="1"/>
            <a:stCxn id="50183" idx="2"/>
            <a:endCxn id="50183" idx="6"/>
          </p:cNvCxnSpPr>
          <p:nvPr/>
        </p:nvCxnSpPr>
        <p:spPr bwMode="auto">
          <a:xfrm>
            <a:off x="2667000" y="4533900"/>
            <a:ext cx="1676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185" name="Oval 6"/>
          <p:cNvSpPr>
            <a:spLocks noChangeArrowheads="1"/>
          </p:cNvSpPr>
          <p:nvPr/>
        </p:nvSpPr>
        <p:spPr bwMode="auto">
          <a:xfrm>
            <a:off x="5638800" y="3429000"/>
            <a:ext cx="1676400" cy="2209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cxnSp>
        <p:nvCxnSpPr>
          <p:cNvPr id="50186" name="AutoShape 7"/>
          <p:cNvCxnSpPr>
            <a:cxnSpLocks noChangeShapeType="1"/>
            <a:stCxn id="50185" idx="2"/>
            <a:endCxn id="50185" idx="6"/>
          </p:cNvCxnSpPr>
          <p:nvPr/>
        </p:nvCxnSpPr>
        <p:spPr bwMode="auto">
          <a:xfrm>
            <a:off x="5638800" y="4533900"/>
            <a:ext cx="1676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187" name="Text Box 8"/>
          <p:cNvSpPr txBox="1">
            <a:spLocks noChangeArrowheads="1"/>
          </p:cNvSpPr>
          <p:nvPr/>
        </p:nvSpPr>
        <p:spPr bwMode="auto">
          <a:xfrm>
            <a:off x="3200400" y="3810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yes</a:t>
            </a:r>
          </a:p>
        </p:txBody>
      </p:sp>
      <p:sp>
        <p:nvSpPr>
          <p:cNvPr id="50188" name="Text Box 9"/>
          <p:cNvSpPr txBox="1">
            <a:spLocks noChangeArrowheads="1"/>
          </p:cNvSpPr>
          <p:nvPr/>
        </p:nvSpPr>
        <p:spPr bwMode="auto">
          <a:xfrm>
            <a:off x="3200400" y="4724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no</a:t>
            </a:r>
          </a:p>
        </p:txBody>
      </p:sp>
      <p:sp>
        <p:nvSpPr>
          <p:cNvPr id="50189" name="Text Box 10"/>
          <p:cNvSpPr txBox="1">
            <a:spLocks noChangeArrowheads="1"/>
          </p:cNvSpPr>
          <p:nvPr/>
        </p:nvSpPr>
        <p:spPr bwMode="auto">
          <a:xfrm>
            <a:off x="6172200" y="3810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yes</a:t>
            </a:r>
          </a:p>
        </p:txBody>
      </p:sp>
      <p:sp>
        <p:nvSpPr>
          <p:cNvPr id="50190" name="Text Box 11"/>
          <p:cNvSpPr txBox="1">
            <a:spLocks noChangeArrowheads="1"/>
          </p:cNvSpPr>
          <p:nvPr/>
        </p:nvSpPr>
        <p:spPr bwMode="auto">
          <a:xfrm>
            <a:off x="6172200" y="4724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no</a:t>
            </a:r>
          </a:p>
        </p:txBody>
      </p:sp>
      <p:cxnSp>
        <p:nvCxnSpPr>
          <p:cNvPr id="50191" name="AutoShape 12"/>
          <p:cNvCxnSpPr>
            <a:cxnSpLocks noChangeShapeType="1"/>
            <a:stCxn id="50187" idx="3"/>
            <a:endCxn id="50189" idx="1"/>
          </p:cNvCxnSpPr>
          <p:nvPr/>
        </p:nvCxnSpPr>
        <p:spPr bwMode="auto">
          <a:xfrm>
            <a:off x="3886200" y="4038600"/>
            <a:ext cx="2286000" cy="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2" name="AutoShape 13"/>
          <p:cNvCxnSpPr>
            <a:cxnSpLocks noChangeShapeType="1"/>
            <a:stCxn id="50188" idx="3"/>
            <a:endCxn id="50190" idx="1"/>
          </p:cNvCxnSpPr>
          <p:nvPr/>
        </p:nvCxnSpPr>
        <p:spPr bwMode="auto">
          <a:xfrm>
            <a:off x="3886200" y="4953000"/>
            <a:ext cx="2286000" cy="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193" name="Text Box 14"/>
          <p:cNvSpPr txBox="1">
            <a:spLocks noChangeArrowheads="1"/>
          </p:cNvSpPr>
          <p:nvPr/>
        </p:nvSpPr>
        <p:spPr bwMode="auto">
          <a:xfrm>
            <a:off x="2209800" y="3429001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800"/>
              <a:t>A</a:t>
            </a:r>
          </a:p>
        </p:txBody>
      </p:sp>
      <p:sp>
        <p:nvSpPr>
          <p:cNvPr id="50194" name="Text Box 15"/>
          <p:cNvSpPr txBox="1">
            <a:spLocks noChangeArrowheads="1"/>
          </p:cNvSpPr>
          <p:nvPr/>
        </p:nvSpPr>
        <p:spPr bwMode="auto">
          <a:xfrm>
            <a:off x="7162800" y="3429001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800"/>
              <a:t>B</a:t>
            </a:r>
          </a:p>
        </p:txBody>
      </p:sp>
      <p:sp>
        <p:nvSpPr>
          <p:cNvPr id="50195" name="Text Box 16"/>
          <p:cNvSpPr txBox="1">
            <a:spLocks noChangeArrowheads="1"/>
          </p:cNvSpPr>
          <p:nvPr/>
        </p:nvSpPr>
        <p:spPr bwMode="auto">
          <a:xfrm>
            <a:off x="7696200" y="4037014"/>
            <a:ext cx="25146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800"/>
              <a:t>reduction </a:t>
            </a:r>
            <a:r>
              <a:rPr lang="en-US" altLang="x-none" sz="2800">
                <a:solidFill>
                  <a:schemeClr val="accent2"/>
                </a:solidFill>
              </a:rPr>
              <a:t>from</a:t>
            </a:r>
            <a:r>
              <a:rPr lang="en-US" altLang="x-none" sz="2800"/>
              <a:t> language A </a:t>
            </a:r>
            <a:r>
              <a:rPr lang="en-US" altLang="x-none" sz="2800">
                <a:solidFill>
                  <a:schemeClr val="accent2"/>
                </a:solidFill>
              </a:rPr>
              <a:t>to</a:t>
            </a:r>
            <a:r>
              <a:rPr lang="en-US" altLang="x-none" sz="2800"/>
              <a:t> language B</a:t>
            </a:r>
          </a:p>
        </p:txBody>
      </p:sp>
      <p:sp>
        <p:nvSpPr>
          <p:cNvPr id="50196" name="Text Box 17"/>
          <p:cNvSpPr txBox="1">
            <a:spLocks noChangeArrowheads="1"/>
          </p:cNvSpPr>
          <p:nvPr/>
        </p:nvSpPr>
        <p:spPr bwMode="auto">
          <a:xfrm>
            <a:off x="4876800" y="3581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400"/>
              <a:t>f</a:t>
            </a:r>
          </a:p>
        </p:txBody>
      </p:sp>
      <p:sp>
        <p:nvSpPr>
          <p:cNvPr id="50197" name="Text Box 18"/>
          <p:cNvSpPr txBox="1">
            <a:spLocks noChangeArrowheads="1"/>
          </p:cNvSpPr>
          <p:nvPr/>
        </p:nvSpPr>
        <p:spPr bwMode="auto">
          <a:xfrm>
            <a:off x="4876800" y="4495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40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375362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Using reductions</a:t>
            </a:r>
          </a:p>
        </p:txBody>
      </p:sp>
      <p:sp>
        <p:nvSpPr>
          <p:cNvPr id="512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x-none" dirty="0"/>
              <a:t>Used reductions to prove lots of problems were: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undecidable (reduce from undecidable)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non-RE (reduce from non-RE)</a:t>
            </a:r>
          </a:p>
          <a:p>
            <a:pPr lvl="2">
              <a:lnSpc>
                <a:spcPct val="90000"/>
              </a:lnSpc>
            </a:pPr>
            <a:r>
              <a:rPr lang="en-US" altLang="x-none" dirty="0"/>
              <a:t>or show undecidable, and </a:t>
            </a:r>
            <a:r>
              <a:rPr lang="en-US" altLang="x-none" dirty="0" err="1"/>
              <a:t>coRE</a:t>
            </a:r>
            <a:endParaRPr lang="en-US" altLang="x-none" dirty="0"/>
          </a:p>
          <a:p>
            <a:pPr lvl="1">
              <a:lnSpc>
                <a:spcPct val="90000"/>
              </a:lnSpc>
            </a:pPr>
            <a:r>
              <a:rPr lang="en-US" altLang="x-none" dirty="0"/>
              <a:t>non-</a:t>
            </a:r>
            <a:r>
              <a:rPr lang="en-US" altLang="x-none" dirty="0" err="1"/>
              <a:t>coRE</a:t>
            </a:r>
            <a:r>
              <a:rPr lang="en-US" altLang="x-none" dirty="0"/>
              <a:t> (reduce from non-</a:t>
            </a:r>
            <a:r>
              <a:rPr lang="en-US" altLang="x-none" dirty="0" err="1"/>
              <a:t>coRE</a:t>
            </a:r>
            <a:r>
              <a:rPr lang="en-US" altLang="x-none" dirty="0"/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x-none" dirty="0"/>
              <a:t>or show undecidable, and RE</a:t>
            </a:r>
          </a:p>
          <a:p>
            <a:pPr lvl="2">
              <a:lnSpc>
                <a:spcPct val="90000"/>
              </a:lnSpc>
            </a:pPr>
            <a:endParaRPr lang="en-US" altLang="x-none" dirty="0"/>
          </a:p>
          <a:p>
            <a:pPr lvl="2">
              <a:lnSpc>
                <a:spcPct val="90000"/>
              </a:lnSpc>
            </a:pPr>
            <a:endParaRPr lang="en-US" altLang="x-none" dirty="0"/>
          </a:p>
          <a:p>
            <a:pPr lvl="2">
              <a:lnSpc>
                <a:spcPct val="90000"/>
              </a:lnSpc>
            </a:pPr>
            <a:endParaRPr lang="en-US" altLang="x-none" dirty="0"/>
          </a:p>
          <a:p>
            <a:pPr>
              <a:lnSpc>
                <a:spcPct val="90000"/>
              </a:lnSpc>
            </a:pPr>
            <a:r>
              <a:rPr lang="en-US" altLang="x-none" dirty="0">
                <a:solidFill>
                  <a:srgbClr val="FF0000"/>
                </a:solidFill>
              </a:rPr>
              <a:t>Reduction Direction!</a:t>
            </a:r>
          </a:p>
        </p:txBody>
      </p:sp>
    </p:spTree>
    <p:extLst>
      <p:ext uri="{BB962C8B-B14F-4D97-AF65-F5344CB8AC3E}">
        <p14:creationId xmlns:p14="http://schemas.microsoft.com/office/powerpoint/2010/main" val="1908211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Summary</a:t>
            </a:r>
          </a:p>
        </p:txBody>
      </p:sp>
      <p:sp>
        <p:nvSpPr>
          <p:cNvPr id="542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altLang="x-none" dirty="0"/>
          </a:p>
          <a:p>
            <a:pPr algn="ctr">
              <a:buFontTx/>
              <a:buNone/>
            </a:pPr>
            <a:endParaRPr lang="en-US" altLang="x-none" dirty="0"/>
          </a:p>
          <a:p>
            <a:pPr algn="ctr">
              <a:buFontTx/>
              <a:buNone/>
            </a:pPr>
            <a:r>
              <a:rPr lang="en-US" altLang="x-none" sz="4000" dirty="0"/>
              <a:t>Complexity</a:t>
            </a:r>
          </a:p>
          <a:p>
            <a:pPr>
              <a:buFontTx/>
              <a:buNone/>
            </a:pPr>
            <a:endParaRPr lang="en-US" altLang="x-none" sz="4000" dirty="0"/>
          </a:p>
        </p:txBody>
      </p:sp>
    </p:spTree>
    <p:extLst>
      <p:ext uri="{BB962C8B-B14F-4D97-AF65-F5344CB8AC3E}">
        <p14:creationId xmlns:p14="http://schemas.microsoft.com/office/powerpoint/2010/main" val="1811784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Complexity</a:t>
            </a:r>
          </a:p>
        </p:txBody>
      </p:sp>
      <p:sp>
        <p:nvSpPr>
          <p:cNvPr id="553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x-none" dirty="0">
                <a:solidFill>
                  <a:srgbClr val="FF0000"/>
                </a:solidFill>
              </a:rPr>
              <a:t>Complexity Theory</a:t>
            </a:r>
            <a:r>
              <a:rPr lang="en-US" altLang="x-none" dirty="0"/>
              <a:t> = study of what is computationally feasible (or </a:t>
            </a:r>
            <a:r>
              <a:rPr lang="en-US" altLang="x-none" dirty="0">
                <a:solidFill>
                  <a:schemeClr val="accent2"/>
                </a:solidFill>
              </a:rPr>
              <a:t>tractable</a:t>
            </a:r>
            <a:r>
              <a:rPr lang="en-US" altLang="x-none" dirty="0"/>
              <a:t>) with limited resources: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running </a:t>
            </a:r>
            <a:r>
              <a:rPr lang="en-US" altLang="x-none" i="1" dirty="0"/>
              <a:t>time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storage </a:t>
            </a:r>
            <a:r>
              <a:rPr lang="en-US" altLang="x-none" i="1" dirty="0"/>
              <a:t>space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number of </a:t>
            </a:r>
            <a:r>
              <a:rPr lang="en-US" altLang="x-none" i="1" dirty="0"/>
              <a:t>random bits</a:t>
            </a:r>
            <a:r>
              <a:rPr lang="en-US" altLang="x-none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degree of </a:t>
            </a:r>
            <a:r>
              <a:rPr lang="en-US" altLang="x-none" i="1" dirty="0"/>
              <a:t>parallelism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rounds of </a:t>
            </a:r>
            <a:r>
              <a:rPr lang="en-US" altLang="x-none" i="1" dirty="0"/>
              <a:t>interaction</a:t>
            </a:r>
          </a:p>
          <a:p>
            <a:pPr lvl="1">
              <a:lnSpc>
                <a:spcPct val="90000"/>
              </a:lnSpc>
            </a:pPr>
            <a:r>
              <a:rPr lang="en-US" altLang="x-none" i="1" dirty="0"/>
              <a:t>others…</a:t>
            </a:r>
            <a:endParaRPr lang="en-US" altLang="x-none" dirty="0"/>
          </a:p>
        </p:txBody>
      </p:sp>
      <p:sp>
        <p:nvSpPr>
          <p:cNvPr id="55303" name="AutoShape 4"/>
          <p:cNvSpPr>
            <a:spLocks/>
          </p:cNvSpPr>
          <p:nvPr/>
        </p:nvSpPr>
        <p:spPr bwMode="auto">
          <a:xfrm>
            <a:off x="6324600" y="2336800"/>
            <a:ext cx="1981200" cy="457200"/>
          </a:xfrm>
          <a:prstGeom prst="borderCallout1">
            <a:avLst>
              <a:gd name="adj1" fmla="val 25000"/>
              <a:gd name="adj2" fmla="val -3847"/>
              <a:gd name="adj3" fmla="val 107639"/>
              <a:gd name="adj4" fmla="val -7099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x-none" sz="2400"/>
              <a:t>main focus</a:t>
            </a:r>
          </a:p>
        </p:txBody>
      </p:sp>
      <p:sp>
        <p:nvSpPr>
          <p:cNvPr id="55304" name="AutoShape 5"/>
          <p:cNvSpPr>
            <a:spLocks/>
          </p:cNvSpPr>
          <p:nvPr/>
        </p:nvSpPr>
        <p:spPr bwMode="auto">
          <a:xfrm>
            <a:off x="6553200" y="3124199"/>
            <a:ext cx="381000" cy="1828800"/>
          </a:xfrm>
          <a:prstGeom prst="rightBrace">
            <a:avLst>
              <a:gd name="adj1" fmla="val 4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55305" name="Text Box 6"/>
          <p:cNvSpPr txBox="1">
            <a:spLocks noChangeArrowheads="1"/>
          </p:cNvSpPr>
          <p:nvPr/>
        </p:nvSpPr>
        <p:spPr bwMode="auto">
          <a:xfrm>
            <a:off x="7086600" y="3809999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400"/>
              <a:t>not in this course</a:t>
            </a:r>
          </a:p>
        </p:txBody>
      </p:sp>
    </p:spTree>
    <p:extLst>
      <p:ext uri="{BB962C8B-B14F-4D97-AF65-F5344CB8AC3E}">
        <p14:creationId xmlns:p14="http://schemas.microsoft.com/office/powerpoint/2010/main" val="750975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Time and Space Complexity</a:t>
            </a:r>
          </a:p>
        </p:txBody>
      </p:sp>
      <p:sp>
        <p:nvSpPr>
          <p:cNvPr id="12308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x-none" b="1" u="sng"/>
              <a:t>Definition</a:t>
            </a:r>
            <a:r>
              <a:rPr lang="en-US" altLang="x-none"/>
              <a:t>: the </a:t>
            </a:r>
            <a:r>
              <a:rPr lang="en-US" altLang="x-none">
                <a:solidFill>
                  <a:srgbClr val="FF0000"/>
                </a:solidFill>
              </a:rPr>
              <a:t>time complexity</a:t>
            </a:r>
            <a:r>
              <a:rPr lang="en-US" altLang="x-none"/>
              <a:t> of a TM M is a function </a:t>
            </a:r>
            <a:r>
              <a:rPr lang="en-US" altLang="x-none">
                <a:solidFill>
                  <a:schemeClr val="accent2"/>
                </a:solidFill>
              </a:rPr>
              <a:t>f:</a:t>
            </a:r>
            <a:r>
              <a:rPr lang="en-US" altLang="x-none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altLang="x-none">
                <a:solidFill>
                  <a:schemeClr val="accent2"/>
                </a:solidFill>
              </a:rPr>
              <a:t> </a:t>
            </a:r>
            <a:r>
              <a:rPr lang="en-US" altLang="x-none">
                <a:solidFill>
                  <a:schemeClr val="accent2"/>
                </a:solidFill>
                <a:ea typeface="Arial" charset="0"/>
                <a:cs typeface="Arial" charset="0"/>
              </a:rPr>
              <a:t>→ </a:t>
            </a:r>
            <a:r>
              <a:rPr lang="en-US" altLang="x-none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Arial" charset="0"/>
                <a:cs typeface="Arial" charset="0"/>
              </a:rPr>
              <a:t>N</a:t>
            </a:r>
            <a:r>
              <a:rPr lang="en-US" altLang="x-none">
                <a:ea typeface="Arial" charset="0"/>
                <a:cs typeface="Arial" charset="0"/>
              </a:rPr>
              <a:t>, where f(n) is the maximum number of steps M uses on any input of length n.</a:t>
            </a:r>
          </a:p>
          <a:p>
            <a:pPr>
              <a:buFontTx/>
              <a:buNone/>
            </a:pPr>
            <a:endParaRPr lang="en-US" altLang="x-none">
              <a:ea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altLang="x-none" b="1" u="sng"/>
              <a:t>Definition</a:t>
            </a:r>
            <a:r>
              <a:rPr lang="en-US" altLang="x-none"/>
              <a:t>: the </a:t>
            </a:r>
            <a:r>
              <a:rPr lang="en-US" altLang="x-none">
                <a:solidFill>
                  <a:srgbClr val="FF0000"/>
                </a:solidFill>
              </a:rPr>
              <a:t>space complexity</a:t>
            </a:r>
            <a:r>
              <a:rPr lang="en-US" altLang="x-none"/>
              <a:t> of a TM M is a function </a:t>
            </a:r>
            <a:r>
              <a:rPr lang="en-US" altLang="x-none">
                <a:solidFill>
                  <a:schemeClr val="accent2"/>
                </a:solidFill>
              </a:rPr>
              <a:t>f:</a:t>
            </a:r>
            <a:r>
              <a:rPr lang="en-US" altLang="x-none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altLang="x-none">
                <a:solidFill>
                  <a:schemeClr val="accent2"/>
                </a:solidFill>
              </a:rPr>
              <a:t> </a:t>
            </a:r>
            <a:r>
              <a:rPr lang="en-US" altLang="x-none">
                <a:solidFill>
                  <a:schemeClr val="accent2"/>
                </a:solidFill>
                <a:ea typeface="Arial" charset="0"/>
                <a:cs typeface="Arial" charset="0"/>
              </a:rPr>
              <a:t>→ </a:t>
            </a:r>
            <a:r>
              <a:rPr lang="en-US" altLang="x-none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Arial" charset="0"/>
                <a:cs typeface="Arial" charset="0"/>
              </a:rPr>
              <a:t>N, </a:t>
            </a:r>
            <a:r>
              <a:rPr lang="en-US" altLang="x-none">
                <a:ea typeface="Arial" charset="0"/>
                <a:cs typeface="Arial" charset="0"/>
              </a:rPr>
              <a:t>where f(n) is the maximum number of tape cells M scans on any input of length n.</a:t>
            </a:r>
          </a:p>
          <a:p>
            <a:pPr>
              <a:buFontTx/>
              <a:buNone/>
            </a:pPr>
            <a:endParaRPr lang="en-US" altLang="x-none" sz="2400">
              <a:ea typeface="Arial" charset="0"/>
              <a:cs typeface="Arial" charset="0"/>
            </a:endParaRPr>
          </a:p>
          <a:p>
            <a:endParaRPr lang="en-US" altLang="x-none" sz="2400"/>
          </a:p>
        </p:txBody>
      </p:sp>
    </p:spTree>
    <p:extLst>
      <p:ext uri="{BB962C8B-B14F-4D97-AF65-F5344CB8AC3E}">
        <p14:creationId xmlns:p14="http://schemas.microsoft.com/office/powerpoint/2010/main" val="2087940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Complexity Classes</a:t>
            </a:r>
          </a:p>
        </p:txBody>
      </p:sp>
      <p:sp>
        <p:nvSpPr>
          <p:cNvPr id="573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x-none" b="1" u="sng"/>
              <a:t>Definition</a:t>
            </a:r>
            <a:r>
              <a:rPr lang="en-US" altLang="x-none"/>
              <a:t>: </a:t>
            </a:r>
            <a:r>
              <a:rPr lang="en-US" altLang="x-none">
                <a:solidFill>
                  <a:schemeClr val="accent2"/>
                </a:solidFill>
              </a:rPr>
              <a:t>TIME(t(n))</a:t>
            </a:r>
            <a:r>
              <a:rPr lang="en-US" altLang="x-none"/>
              <a:t> = {L : there exists a TM M that decides L in space O(t(n))}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x-none" sz="3600">
                <a:solidFill>
                  <a:schemeClr val="accent2"/>
                </a:solidFill>
                <a:sym typeface="Symbol" charset="2"/>
              </a:rPr>
              <a:t>P = </a:t>
            </a:r>
            <a:r>
              <a:rPr lang="en-US" altLang="x-none" sz="4400">
                <a:solidFill>
                  <a:schemeClr val="accent2"/>
                </a:solidFill>
                <a:sym typeface="Symbol" charset="2"/>
              </a:rPr>
              <a:t></a:t>
            </a:r>
            <a:r>
              <a:rPr lang="en-US" altLang="x-none" sz="3600" baseline="-25000">
                <a:solidFill>
                  <a:schemeClr val="accent2"/>
                </a:solidFill>
                <a:sym typeface="Symbol" charset="2"/>
              </a:rPr>
              <a:t>k </a:t>
            </a:r>
            <a:r>
              <a:rPr lang="en-US" altLang="x-none" sz="3600" baseline="-25000">
                <a:solidFill>
                  <a:schemeClr val="accent2"/>
                </a:solidFill>
                <a:ea typeface="Arial" charset="0"/>
                <a:cs typeface="Arial" charset="0"/>
                <a:sym typeface="Symbol" charset="2"/>
              </a:rPr>
              <a:t>≥</a:t>
            </a:r>
            <a:r>
              <a:rPr lang="en-US" altLang="x-none" sz="3600" baseline="-25000">
                <a:solidFill>
                  <a:schemeClr val="accent2"/>
                </a:solidFill>
                <a:sym typeface="Symbol" charset="2"/>
              </a:rPr>
              <a:t> 1 </a:t>
            </a:r>
            <a:r>
              <a:rPr lang="en-US" altLang="x-none" sz="3600">
                <a:solidFill>
                  <a:schemeClr val="accent2"/>
                </a:solidFill>
                <a:sym typeface="Symbol" charset="2"/>
              </a:rPr>
              <a:t>TIME(n</a:t>
            </a:r>
            <a:r>
              <a:rPr lang="en-US" altLang="x-none" sz="3600" baseline="30000">
                <a:solidFill>
                  <a:schemeClr val="accent2"/>
                </a:solidFill>
                <a:sym typeface="Symbol" charset="2"/>
              </a:rPr>
              <a:t>k</a:t>
            </a:r>
            <a:r>
              <a:rPr lang="en-US" altLang="x-none" sz="3600">
                <a:solidFill>
                  <a:schemeClr val="accent2"/>
                </a:solidFill>
                <a:sym typeface="Symbol" charset="2"/>
              </a:rPr>
              <a:t>)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x-none" sz="3600">
                <a:solidFill>
                  <a:schemeClr val="accent2"/>
                </a:solidFill>
                <a:sym typeface="Symbol" charset="2"/>
              </a:rPr>
              <a:t>EXP = </a:t>
            </a:r>
            <a:r>
              <a:rPr lang="en-US" altLang="x-none" sz="4400">
                <a:solidFill>
                  <a:schemeClr val="accent2"/>
                </a:solidFill>
                <a:sym typeface="Symbol" charset="2"/>
              </a:rPr>
              <a:t></a:t>
            </a:r>
            <a:r>
              <a:rPr lang="en-US" altLang="x-none" sz="3600" baseline="-25000">
                <a:solidFill>
                  <a:schemeClr val="accent2"/>
                </a:solidFill>
                <a:sym typeface="Symbol" charset="2"/>
              </a:rPr>
              <a:t>k </a:t>
            </a:r>
            <a:r>
              <a:rPr lang="en-US" altLang="x-none" sz="3600" baseline="-25000">
                <a:solidFill>
                  <a:schemeClr val="accent2"/>
                </a:solidFill>
                <a:ea typeface="Arial" charset="0"/>
                <a:cs typeface="Arial" charset="0"/>
                <a:sym typeface="Symbol" charset="2"/>
              </a:rPr>
              <a:t>≥</a:t>
            </a:r>
            <a:r>
              <a:rPr lang="en-US" altLang="x-none" sz="3600" baseline="-25000">
                <a:solidFill>
                  <a:schemeClr val="accent2"/>
                </a:solidFill>
                <a:sym typeface="Symbol" charset="2"/>
              </a:rPr>
              <a:t> 1 </a:t>
            </a:r>
            <a:r>
              <a:rPr lang="en-US" altLang="x-none" sz="3600">
                <a:solidFill>
                  <a:schemeClr val="accent2"/>
                </a:solidFill>
                <a:sym typeface="Symbol" charset="2"/>
              </a:rPr>
              <a:t>TIME(2</a:t>
            </a:r>
            <a:r>
              <a:rPr lang="en-US" altLang="x-none" sz="3600" baseline="30000">
                <a:solidFill>
                  <a:schemeClr val="accent2"/>
                </a:solidFill>
                <a:sym typeface="Symbol" charset="2"/>
              </a:rPr>
              <a:t>n</a:t>
            </a:r>
            <a:r>
              <a:rPr lang="en-US" altLang="x-none" sz="3600" baseline="44000">
                <a:solidFill>
                  <a:schemeClr val="accent2"/>
                </a:solidFill>
                <a:sym typeface="Symbol" charset="2"/>
              </a:rPr>
              <a:t>k</a:t>
            </a:r>
            <a:r>
              <a:rPr lang="en-US" altLang="x-none" sz="3600">
                <a:solidFill>
                  <a:schemeClr val="accent2"/>
                </a:solidFill>
                <a:sym typeface="Symbol" charset="2"/>
              </a:rPr>
              <a:t>)</a:t>
            </a:r>
            <a:endParaRPr lang="en-US" altLang="x-none" b="1" u="sng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x-none" b="1" u="sng"/>
              <a:t>Definition</a:t>
            </a:r>
            <a:r>
              <a:rPr lang="en-US" altLang="x-none"/>
              <a:t>: </a:t>
            </a:r>
            <a:r>
              <a:rPr lang="en-US" altLang="x-none">
                <a:solidFill>
                  <a:schemeClr val="accent2"/>
                </a:solidFill>
              </a:rPr>
              <a:t>SPACE(t(n))</a:t>
            </a:r>
            <a:r>
              <a:rPr lang="en-US" altLang="x-none"/>
              <a:t> = {L : there exists a TM M that decides L in space O(t(n))}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x-none" sz="3600">
                <a:solidFill>
                  <a:schemeClr val="accent2"/>
                </a:solidFill>
                <a:sym typeface="Symbol" charset="2"/>
              </a:rPr>
              <a:t>PSPACE = </a:t>
            </a:r>
            <a:r>
              <a:rPr lang="en-US" altLang="x-none" sz="4400">
                <a:solidFill>
                  <a:schemeClr val="accent2"/>
                </a:solidFill>
                <a:sym typeface="Symbol" charset="2"/>
              </a:rPr>
              <a:t></a:t>
            </a:r>
            <a:r>
              <a:rPr lang="en-US" altLang="x-none" sz="3600" baseline="-25000">
                <a:solidFill>
                  <a:schemeClr val="accent2"/>
                </a:solidFill>
                <a:sym typeface="Symbol" charset="2"/>
              </a:rPr>
              <a:t>k </a:t>
            </a:r>
            <a:r>
              <a:rPr lang="en-US" altLang="x-none" sz="3600" baseline="-25000">
                <a:solidFill>
                  <a:schemeClr val="accent2"/>
                </a:solidFill>
                <a:ea typeface="Arial" charset="0"/>
                <a:cs typeface="Arial" charset="0"/>
                <a:sym typeface="Symbol" charset="2"/>
              </a:rPr>
              <a:t>≥</a:t>
            </a:r>
            <a:r>
              <a:rPr lang="en-US" altLang="x-none" sz="3600" baseline="-25000">
                <a:solidFill>
                  <a:schemeClr val="accent2"/>
                </a:solidFill>
                <a:sym typeface="Symbol" charset="2"/>
              </a:rPr>
              <a:t> 1 </a:t>
            </a:r>
            <a:r>
              <a:rPr lang="en-US" altLang="x-none" sz="3600">
                <a:solidFill>
                  <a:schemeClr val="accent2"/>
                </a:solidFill>
                <a:sym typeface="Symbol" charset="2"/>
              </a:rPr>
              <a:t>SPACE(n</a:t>
            </a:r>
            <a:r>
              <a:rPr lang="en-US" altLang="x-none" sz="3600" baseline="30000">
                <a:solidFill>
                  <a:schemeClr val="accent2"/>
                </a:solidFill>
                <a:sym typeface="Symbol" charset="2"/>
              </a:rPr>
              <a:t>k</a:t>
            </a:r>
            <a:r>
              <a:rPr lang="en-US" altLang="x-none" sz="3600">
                <a:solidFill>
                  <a:schemeClr val="accent2"/>
                </a:solidFill>
                <a:sym typeface="Symbol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2774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Complexity Classes</a:t>
            </a:r>
          </a:p>
        </p:txBody>
      </p:sp>
      <p:sp>
        <p:nvSpPr>
          <p:cNvPr id="583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x-none" b="1" u="sng"/>
              <a:t>Definition</a:t>
            </a:r>
            <a:r>
              <a:rPr lang="en-US" altLang="x-none"/>
              <a:t>: </a:t>
            </a:r>
            <a:r>
              <a:rPr lang="en-US" altLang="x-none">
                <a:solidFill>
                  <a:srgbClr val="FF0000"/>
                </a:solidFill>
              </a:rPr>
              <a:t>NTIME(t(n))</a:t>
            </a:r>
            <a:r>
              <a:rPr lang="en-US" altLang="x-none"/>
              <a:t> = {L : there exists a </a:t>
            </a:r>
            <a:r>
              <a:rPr lang="en-US" altLang="x-none">
                <a:solidFill>
                  <a:srgbClr val="FF0000"/>
                </a:solidFill>
              </a:rPr>
              <a:t>N</a:t>
            </a:r>
            <a:r>
              <a:rPr lang="en-US" altLang="x-none"/>
              <a:t>TM M that decides L in time O(t(n))}</a:t>
            </a:r>
          </a:p>
          <a:p>
            <a:pPr algn="ctr">
              <a:buFontTx/>
              <a:buNone/>
            </a:pPr>
            <a:r>
              <a:rPr lang="en-US" altLang="x-none" sz="3600">
                <a:solidFill>
                  <a:srgbClr val="FF0000"/>
                </a:solidFill>
                <a:sym typeface="Symbol" charset="2"/>
              </a:rPr>
              <a:t>NP = </a:t>
            </a:r>
            <a:r>
              <a:rPr lang="en-US" altLang="x-none" sz="4400">
                <a:solidFill>
                  <a:srgbClr val="FF0000"/>
                </a:solidFill>
                <a:sym typeface="Symbol" charset="2"/>
              </a:rPr>
              <a:t></a:t>
            </a:r>
            <a:r>
              <a:rPr lang="en-US" altLang="x-none" sz="3600" baseline="-25000">
                <a:solidFill>
                  <a:srgbClr val="FF0000"/>
                </a:solidFill>
                <a:sym typeface="Symbol" charset="2"/>
              </a:rPr>
              <a:t>k </a:t>
            </a:r>
            <a:r>
              <a:rPr lang="en-US" altLang="x-none" sz="3600" baseline="-25000">
                <a:solidFill>
                  <a:srgbClr val="FF0000"/>
                </a:solidFill>
                <a:ea typeface="Arial" charset="0"/>
                <a:cs typeface="Arial" charset="0"/>
                <a:sym typeface="Symbol" charset="2"/>
              </a:rPr>
              <a:t>≥</a:t>
            </a:r>
            <a:r>
              <a:rPr lang="en-US" altLang="x-none" sz="3600" baseline="-25000">
                <a:solidFill>
                  <a:srgbClr val="FF0000"/>
                </a:solidFill>
                <a:sym typeface="Symbol" charset="2"/>
              </a:rPr>
              <a:t> 1 </a:t>
            </a:r>
            <a:r>
              <a:rPr lang="en-US" altLang="x-none" sz="3600">
                <a:solidFill>
                  <a:srgbClr val="FF0000"/>
                </a:solidFill>
                <a:sym typeface="Symbol" charset="2"/>
              </a:rPr>
              <a:t>NTIME(n</a:t>
            </a:r>
            <a:r>
              <a:rPr lang="en-US" altLang="x-none" sz="3600" baseline="30000">
                <a:solidFill>
                  <a:srgbClr val="FF0000"/>
                </a:solidFill>
                <a:sym typeface="Symbol" charset="2"/>
              </a:rPr>
              <a:t>k</a:t>
            </a:r>
            <a:r>
              <a:rPr lang="en-US" altLang="x-none" sz="3600">
                <a:solidFill>
                  <a:srgbClr val="FF0000"/>
                </a:solidFill>
                <a:sym typeface="Symbol" charset="2"/>
              </a:rPr>
              <a:t>)</a:t>
            </a:r>
            <a:endParaRPr lang="en-US" altLang="x-none"/>
          </a:p>
          <a:p>
            <a:r>
              <a:rPr lang="en-US" altLang="x-none"/>
              <a:t>Theorem: P </a:t>
            </a:r>
            <a:r>
              <a:rPr lang="en-US" altLang="x-none">
                <a:sym typeface="Symbol" charset="2"/>
              </a:rPr>
              <a:t> EXP</a:t>
            </a:r>
          </a:p>
          <a:p>
            <a:r>
              <a:rPr lang="en-US" altLang="x-none">
                <a:sym typeface="Symbol" charset="2"/>
              </a:rPr>
              <a:t>P  NP  PSPACE  EXP</a:t>
            </a:r>
          </a:p>
          <a:p>
            <a:r>
              <a:rPr lang="en-US" altLang="x-none">
                <a:sym typeface="Symbol" charset="2"/>
              </a:rPr>
              <a:t>Don’t know if any of the containments are proper. </a:t>
            </a:r>
          </a:p>
        </p:txBody>
      </p:sp>
    </p:spTree>
    <p:extLst>
      <p:ext uri="{BB962C8B-B14F-4D97-AF65-F5344CB8AC3E}">
        <p14:creationId xmlns:p14="http://schemas.microsoft.com/office/powerpoint/2010/main" val="1696343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Poly-time reductions</a:t>
            </a:r>
          </a:p>
        </p:txBody>
      </p:sp>
      <p:sp>
        <p:nvSpPr>
          <p:cNvPr id="60422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371600"/>
            <a:ext cx="8229600" cy="1676400"/>
          </a:xfrm>
        </p:spPr>
        <p:txBody>
          <a:bodyPr/>
          <a:lstStyle/>
          <a:p>
            <a:r>
              <a:rPr lang="en-US" altLang="x-none"/>
              <a:t>Type of reduction we will use:</a:t>
            </a:r>
          </a:p>
          <a:p>
            <a:pPr lvl="1"/>
            <a:r>
              <a:rPr lang="en-US" altLang="x-none">
                <a:solidFill>
                  <a:schemeClr val="accent2"/>
                </a:solidFill>
              </a:rPr>
              <a:t>“many-one” </a:t>
            </a:r>
            <a:r>
              <a:rPr lang="en-US" altLang="x-none">
                <a:solidFill>
                  <a:srgbClr val="FF0000"/>
                </a:solidFill>
              </a:rPr>
              <a:t>poly-time</a:t>
            </a:r>
            <a:r>
              <a:rPr lang="en-US" altLang="x-none">
                <a:solidFill>
                  <a:schemeClr val="accent2"/>
                </a:solidFill>
              </a:rPr>
              <a:t> reduction (commonly)</a:t>
            </a:r>
          </a:p>
          <a:p>
            <a:pPr lvl="1"/>
            <a:r>
              <a:rPr lang="en-US" altLang="x-none">
                <a:solidFill>
                  <a:schemeClr val="accent2"/>
                </a:solidFill>
              </a:rPr>
              <a:t>“mapping” </a:t>
            </a:r>
            <a:r>
              <a:rPr lang="en-US" altLang="x-none">
                <a:solidFill>
                  <a:srgbClr val="FF0000"/>
                </a:solidFill>
              </a:rPr>
              <a:t>poly-time </a:t>
            </a:r>
            <a:r>
              <a:rPr lang="en-US" altLang="x-none">
                <a:solidFill>
                  <a:schemeClr val="accent2"/>
                </a:solidFill>
              </a:rPr>
              <a:t>reduction (book)</a:t>
            </a:r>
          </a:p>
        </p:txBody>
      </p:sp>
      <p:sp>
        <p:nvSpPr>
          <p:cNvPr id="60423" name="Oval 4"/>
          <p:cNvSpPr>
            <a:spLocks noChangeArrowheads="1"/>
          </p:cNvSpPr>
          <p:nvPr/>
        </p:nvSpPr>
        <p:spPr bwMode="auto">
          <a:xfrm>
            <a:off x="2667000" y="3429000"/>
            <a:ext cx="1676400" cy="2209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cxnSp>
        <p:nvCxnSpPr>
          <p:cNvPr id="60424" name="AutoShape 5"/>
          <p:cNvCxnSpPr>
            <a:cxnSpLocks noChangeShapeType="1"/>
            <a:stCxn id="60423" idx="2"/>
            <a:endCxn id="60423" idx="6"/>
          </p:cNvCxnSpPr>
          <p:nvPr/>
        </p:nvCxnSpPr>
        <p:spPr bwMode="auto">
          <a:xfrm>
            <a:off x="2667000" y="4533900"/>
            <a:ext cx="1676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25" name="Oval 6"/>
          <p:cNvSpPr>
            <a:spLocks noChangeArrowheads="1"/>
          </p:cNvSpPr>
          <p:nvPr/>
        </p:nvSpPr>
        <p:spPr bwMode="auto">
          <a:xfrm>
            <a:off x="5638800" y="3429000"/>
            <a:ext cx="1676400" cy="2209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cxnSp>
        <p:nvCxnSpPr>
          <p:cNvPr id="60426" name="AutoShape 7"/>
          <p:cNvCxnSpPr>
            <a:cxnSpLocks noChangeShapeType="1"/>
            <a:stCxn id="60425" idx="2"/>
            <a:endCxn id="60425" idx="6"/>
          </p:cNvCxnSpPr>
          <p:nvPr/>
        </p:nvCxnSpPr>
        <p:spPr bwMode="auto">
          <a:xfrm>
            <a:off x="5638800" y="4533900"/>
            <a:ext cx="1676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27" name="Text Box 8"/>
          <p:cNvSpPr txBox="1">
            <a:spLocks noChangeArrowheads="1"/>
          </p:cNvSpPr>
          <p:nvPr/>
        </p:nvSpPr>
        <p:spPr bwMode="auto">
          <a:xfrm>
            <a:off x="3200400" y="3810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yes</a:t>
            </a:r>
          </a:p>
        </p:txBody>
      </p:sp>
      <p:sp>
        <p:nvSpPr>
          <p:cNvPr id="60428" name="Text Box 9"/>
          <p:cNvSpPr txBox="1">
            <a:spLocks noChangeArrowheads="1"/>
          </p:cNvSpPr>
          <p:nvPr/>
        </p:nvSpPr>
        <p:spPr bwMode="auto">
          <a:xfrm>
            <a:off x="3200400" y="4724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no</a:t>
            </a:r>
          </a:p>
        </p:txBody>
      </p:sp>
      <p:sp>
        <p:nvSpPr>
          <p:cNvPr id="60429" name="Text Box 10"/>
          <p:cNvSpPr txBox="1">
            <a:spLocks noChangeArrowheads="1"/>
          </p:cNvSpPr>
          <p:nvPr/>
        </p:nvSpPr>
        <p:spPr bwMode="auto">
          <a:xfrm>
            <a:off x="6172200" y="3810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yes</a:t>
            </a:r>
          </a:p>
        </p:txBody>
      </p:sp>
      <p:sp>
        <p:nvSpPr>
          <p:cNvPr id="60430" name="Text Box 11"/>
          <p:cNvSpPr txBox="1">
            <a:spLocks noChangeArrowheads="1"/>
          </p:cNvSpPr>
          <p:nvPr/>
        </p:nvSpPr>
        <p:spPr bwMode="auto">
          <a:xfrm>
            <a:off x="6172200" y="4724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no</a:t>
            </a:r>
          </a:p>
        </p:txBody>
      </p:sp>
      <p:cxnSp>
        <p:nvCxnSpPr>
          <p:cNvPr id="60431" name="AutoShape 12"/>
          <p:cNvCxnSpPr>
            <a:cxnSpLocks noChangeShapeType="1"/>
            <a:stCxn id="60427" idx="3"/>
            <a:endCxn id="60429" idx="1"/>
          </p:cNvCxnSpPr>
          <p:nvPr/>
        </p:nvCxnSpPr>
        <p:spPr bwMode="auto">
          <a:xfrm>
            <a:off x="3886200" y="4038600"/>
            <a:ext cx="2286000" cy="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2" name="AutoShape 13"/>
          <p:cNvCxnSpPr>
            <a:cxnSpLocks noChangeShapeType="1"/>
            <a:stCxn id="60428" idx="3"/>
            <a:endCxn id="60430" idx="1"/>
          </p:cNvCxnSpPr>
          <p:nvPr/>
        </p:nvCxnSpPr>
        <p:spPr bwMode="auto">
          <a:xfrm>
            <a:off x="3886200" y="4953000"/>
            <a:ext cx="2286000" cy="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33" name="Text Box 14"/>
          <p:cNvSpPr txBox="1">
            <a:spLocks noChangeArrowheads="1"/>
          </p:cNvSpPr>
          <p:nvPr/>
        </p:nvSpPr>
        <p:spPr bwMode="auto">
          <a:xfrm>
            <a:off x="2209800" y="3429001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800"/>
              <a:t>A</a:t>
            </a:r>
          </a:p>
        </p:txBody>
      </p:sp>
      <p:sp>
        <p:nvSpPr>
          <p:cNvPr id="60434" name="Text Box 15"/>
          <p:cNvSpPr txBox="1">
            <a:spLocks noChangeArrowheads="1"/>
          </p:cNvSpPr>
          <p:nvPr/>
        </p:nvSpPr>
        <p:spPr bwMode="auto">
          <a:xfrm>
            <a:off x="7162800" y="3429001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800"/>
              <a:t>B</a:t>
            </a:r>
          </a:p>
        </p:txBody>
      </p:sp>
      <p:sp>
        <p:nvSpPr>
          <p:cNvPr id="60435" name="Text Box 16"/>
          <p:cNvSpPr txBox="1">
            <a:spLocks noChangeArrowheads="1"/>
          </p:cNvSpPr>
          <p:nvPr/>
        </p:nvSpPr>
        <p:spPr bwMode="auto">
          <a:xfrm>
            <a:off x="7696200" y="3124201"/>
            <a:ext cx="2514600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x-none" sz="2800"/>
              <a:t> f poly-time computable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x-none" sz="2800"/>
              <a:t> YES maps to YES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x-none" sz="2800"/>
              <a:t> NO maps to NO</a:t>
            </a:r>
          </a:p>
        </p:txBody>
      </p:sp>
      <p:sp>
        <p:nvSpPr>
          <p:cNvPr id="60436" name="Text Box 17"/>
          <p:cNvSpPr txBox="1">
            <a:spLocks noChangeArrowheads="1"/>
          </p:cNvSpPr>
          <p:nvPr/>
        </p:nvSpPr>
        <p:spPr bwMode="auto">
          <a:xfrm>
            <a:off x="4876800" y="3581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400"/>
              <a:t>f</a:t>
            </a:r>
          </a:p>
        </p:txBody>
      </p:sp>
      <p:sp>
        <p:nvSpPr>
          <p:cNvPr id="60437" name="Text Box 18"/>
          <p:cNvSpPr txBox="1">
            <a:spLocks noChangeArrowheads="1"/>
          </p:cNvSpPr>
          <p:nvPr/>
        </p:nvSpPr>
        <p:spPr bwMode="auto">
          <a:xfrm>
            <a:off x="4876800" y="4495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240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838723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Hardness and completeness</a:t>
            </a:r>
          </a:p>
        </p:txBody>
      </p:sp>
      <p:sp>
        <p:nvSpPr>
          <p:cNvPr id="614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x-none" b="1" u="sng"/>
              <a:t>Definition</a:t>
            </a:r>
            <a:r>
              <a:rPr lang="en-US" altLang="x-none"/>
              <a:t>: a language L is </a:t>
            </a:r>
            <a:r>
              <a:rPr lang="en-US" altLang="x-none">
                <a:solidFill>
                  <a:srgbClr val="FF0000"/>
                </a:solidFill>
              </a:rPr>
              <a:t>C-hard</a:t>
            </a:r>
            <a:r>
              <a:rPr lang="en-US" altLang="x-none"/>
              <a:t> if for every language A </a:t>
            </a:r>
            <a:r>
              <a:rPr lang="en-US" altLang="x-none">
                <a:sym typeface="Symbol" charset="2"/>
              </a:rPr>
              <a:t> C, A poly-time reduces to L; i.e., A </a:t>
            </a:r>
            <a:r>
              <a:rPr lang="en-US" altLang="x-none">
                <a:ea typeface="Arial" charset="0"/>
                <a:cs typeface="Arial" charset="0"/>
                <a:sym typeface="Symbol" charset="2"/>
              </a:rPr>
              <a:t>≤</a:t>
            </a:r>
            <a:r>
              <a:rPr lang="en-US" altLang="x-none" baseline="-25000">
                <a:ea typeface="Arial" charset="0"/>
                <a:cs typeface="Arial" charset="0"/>
                <a:sym typeface="Symbol" charset="2"/>
              </a:rPr>
              <a:t>P</a:t>
            </a:r>
            <a:r>
              <a:rPr lang="en-US" altLang="x-none" baseline="30000">
                <a:ea typeface="Arial" charset="0"/>
                <a:cs typeface="Arial" charset="0"/>
                <a:sym typeface="Symbol" charset="2"/>
              </a:rPr>
              <a:t> </a:t>
            </a:r>
            <a:r>
              <a:rPr lang="en-US" altLang="x-none">
                <a:ea typeface="Arial" charset="0"/>
                <a:cs typeface="Arial" charset="0"/>
                <a:sym typeface="Symbol" charset="2"/>
              </a:rPr>
              <a:t>L.</a:t>
            </a:r>
          </a:p>
          <a:p>
            <a:pPr algn="ctr">
              <a:buFontTx/>
              <a:buNone/>
            </a:pPr>
            <a:r>
              <a:rPr lang="en-US" altLang="x-none">
                <a:solidFill>
                  <a:schemeClr val="accent2"/>
                </a:solidFill>
                <a:ea typeface="Arial" charset="0"/>
                <a:cs typeface="Arial" charset="0"/>
                <a:sym typeface="Symbol" charset="2"/>
              </a:rPr>
              <a:t>can show L is C-hard by reducing from a known  C-hard problem</a:t>
            </a:r>
          </a:p>
          <a:p>
            <a:pPr algn="ctr">
              <a:buFontTx/>
              <a:buNone/>
            </a:pPr>
            <a:endParaRPr lang="en-US" altLang="x-none">
              <a:solidFill>
                <a:schemeClr val="accent2"/>
              </a:solidFill>
              <a:ea typeface="Arial" charset="0"/>
              <a:cs typeface="Arial" charset="0"/>
              <a:sym typeface="Symbol" charset="2"/>
            </a:endParaRPr>
          </a:p>
          <a:p>
            <a:pPr>
              <a:buFontTx/>
              <a:buNone/>
            </a:pPr>
            <a:r>
              <a:rPr lang="en-US" altLang="x-none" b="1" u="sng"/>
              <a:t>Definition</a:t>
            </a:r>
            <a:r>
              <a:rPr lang="en-US" altLang="x-none"/>
              <a:t>: a language L is </a:t>
            </a:r>
            <a:r>
              <a:rPr lang="en-US" altLang="x-none">
                <a:solidFill>
                  <a:srgbClr val="FF0000"/>
                </a:solidFill>
              </a:rPr>
              <a:t>C-complete</a:t>
            </a:r>
            <a:r>
              <a:rPr lang="en-US" altLang="x-none"/>
              <a:t> if L is C-hard and</a:t>
            </a:r>
            <a:r>
              <a:rPr lang="en-US" altLang="x-none">
                <a:sym typeface="Symbol" charset="2"/>
              </a:rPr>
              <a:t> </a:t>
            </a:r>
            <a:r>
              <a:rPr lang="en-US" altLang="x-none">
                <a:ea typeface="Arial" charset="0"/>
                <a:cs typeface="Arial" charset="0"/>
                <a:sym typeface="Symbol" charset="2"/>
              </a:rPr>
              <a:t>L  C</a:t>
            </a:r>
          </a:p>
          <a:p>
            <a:pPr algn="ctr">
              <a:buFontTx/>
              <a:buNone/>
            </a:pPr>
            <a:endParaRPr lang="en-US" altLang="x-none">
              <a:solidFill>
                <a:schemeClr val="accent2"/>
              </a:solidFill>
              <a:ea typeface="Arial" charset="0"/>
              <a:cs typeface="Arial" charset="0"/>
              <a:sym typeface="Symbol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67217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r>
              <a:rPr lang="en-US" altLang="x-none"/>
              <a:t>Complexity classes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249284" name="Text Box 4"/>
          <p:cNvSpPr txBox="1">
            <a:spLocks noChangeArrowheads="1"/>
          </p:cNvSpPr>
          <p:nvPr/>
        </p:nvSpPr>
        <p:spPr bwMode="auto">
          <a:xfrm>
            <a:off x="7620000" y="16002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x-none" sz="2400"/>
              <a:t>PSPACE</a:t>
            </a:r>
          </a:p>
        </p:txBody>
      </p:sp>
      <p:cxnSp>
        <p:nvCxnSpPr>
          <p:cNvPr id="1249285" name="AutoShape 5"/>
          <p:cNvCxnSpPr>
            <a:cxnSpLocks noChangeShapeType="1"/>
            <a:stCxn id="1249284" idx="2"/>
            <a:endCxn id="1249301" idx="6"/>
          </p:cNvCxnSpPr>
          <p:nvPr/>
        </p:nvCxnSpPr>
        <p:spPr bwMode="auto">
          <a:xfrm rot="5400000">
            <a:off x="7023100" y="1612900"/>
            <a:ext cx="1219200" cy="21082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545" name="Oval 6"/>
          <p:cNvSpPr>
            <a:spLocks noChangeArrowheads="1"/>
          </p:cNvSpPr>
          <p:nvPr/>
        </p:nvSpPr>
        <p:spPr bwMode="auto">
          <a:xfrm rot="309908">
            <a:off x="2895600" y="2667000"/>
            <a:ext cx="3124200" cy="1371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65546" name="Text Box 7"/>
          <p:cNvSpPr txBox="1">
            <a:spLocks noChangeArrowheads="1"/>
          </p:cNvSpPr>
          <p:nvPr/>
        </p:nvSpPr>
        <p:spPr bwMode="auto">
          <a:xfrm>
            <a:off x="6705600" y="41910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NP</a:t>
            </a:r>
          </a:p>
        </p:txBody>
      </p:sp>
      <p:cxnSp>
        <p:nvCxnSpPr>
          <p:cNvPr id="65547" name="AutoShape 8"/>
          <p:cNvCxnSpPr>
            <a:cxnSpLocks noChangeShapeType="1"/>
            <a:stCxn id="65546" idx="0"/>
            <a:endCxn id="65545" idx="6"/>
          </p:cNvCxnSpPr>
          <p:nvPr/>
        </p:nvCxnSpPr>
        <p:spPr bwMode="auto">
          <a:xfrm rot="5400000" flipH="1">
            <a:off x="6553994" y="2972594"/>
            <a:ext cx="696912" cy="17399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548" name="Text Box 9"/>
          <p:cNvSpPr txBox="1">
            <a:spLocks noChangeArrowheads="1"/>
          </p:cNvSpPr>
          <p:nvPr/>
        </p:nvSpPr>
        <p:spPr bwMode="auto">
          <a:xfrm>
            <a:off x="2438400" y="4114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P</a:t>
            </a:r>
          </a:p>
        </p:txBody>
      </p:sp>
      <p:sp>
        <p:nvSpPr>
          <p:cNvPr id="65549" name="Oval 10"/>
          <p:cNvSpPr>
            <a:spLocks noChangeArrowheads="1"/>
          </p:cNvSpPr>
          <p:nvPr/>
        </p:nvSpPr>
        <p:spPr bwMode="auto">
          <a:xfrm>
            <a:off x="2895600" y="2819400"/>
            <a:ext cx="2057400" cy="914400"/>
          </a:xfrm>
          <a:prstGeom prst="ellips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cxnSp>
        <p:nvCxnSpPr>
          <p:cNvPr id="65550" name="AutoShape 11"/>
          <p:cNvCxnSpPr>
            <a:cxnSpLocks noChangeShapeType="1"/>
            <a:stCxn id="65548" idx="3"/>
            <a:endCxn id="65549" idx="5"/>
          </p:cNvCxnSpPr>
          <p:nvPr/>
        </p:nvCxnSpPr>
        <p:spPr bwMode="auto">
          <a:xfrm flipV="1">
            <a:off x="2971801" y="3625850"/>
            <a:ext cx="1679575" cy="7175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551" name="Text Box 12"/>
          <p:cNvSpPr txBox="1">
            <a:spLocks noChangeArrowheads="1"/>
          </p:cNvSpPr>
          <p:nvPr/>
        </p:nvSpPr>
        <p:spPr bwMode="auto">
          <a:xfrm>
            <a:off x="4572000" y="1524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EXP</a:t>
            </a:r>
          </a:p>
        </p:txBody>
      </p:sp>
      <p:cxnSp>
        <p:nvCxnSpPr>
          <p:cNvPr id="65552" name="AutoShape 13"/>
          <p:cNvCxnSpPr>
            <a:cxnSpLocks noChangeShapeType="1"/>
            <a:stCxn id="65551" idx="3"/>
            <a:endCxn id="65559" idx="7"/>
          </p:cNvCxnSpPr>
          <p:nvPr/>
        </p:nvCxnSpPr>
        <p:spPr bwMode="auto">
          <a:xfrm>
            <a:off x="5486400" y="1752600"/>
            <a:ext cx="1246188" cy="744538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553" name="Text Box 14"/>
          <p:cNvSpPr txBox="1">
            <a:spLocks noChangeArrowheads="1"/>
          </p:cNvSpPr>
          <p:nvPr/>
        </p:nvSpPr>
        <p:spPr bwMode="auto">
          <a:xfrm>
            <a:off x="6248400" y="1447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/>
              <a:t>coNP</a:t>
            </a:r>
          </a:p>
        </p:txBody>
      </p:sp>
      <p:sp>
        <p:nvSpPr>
          <p:cNvPr id="65554" name="Oval 15"/>
          <p:cNvSpPr>
            <a:spLocks noChangeArrowheads="1"/>
          </p:cNvSpPr>
          <p:nvPr/>
        </p:nvSpPr>
        <p:spPr bwMode="auto">
          <a:xfrm rot="21290092" flipV="1">
            <a:off x="2895600" y="2514600"/>
            <a:ext cx="3124200" cy="1371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cxnSp>
        <p:nvCxnSpPr>
          <p:cNvPr id="65555" name="AutoShape 16"/>
          <p:cNvCxnSpPr>
            <a:cxnSpLocks noChangeShapeType="1"/>
            <a:stCxn id="65553" idx="2"/>
            <a:endCxn id="65554" idx="6"/>
          </p:cNvCxnSpPr>
          <p:nvPr/>
        </p:nvCxnSpPr>
        <p:spPr bwMode="auto">
          <a:xfrm rot="5400000">
            <a:off x="6097588" y="1839913"/>
            <a:ext cx="1152525" cy="12827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556" name="Oval 17"/>
          <p:cNvSpPr>
            <a:spLocks noChangeArrowheads="1"/>
          </p:cNvSpPr>
          <p:nvPr/>
        </p:nvSpPr>
        <p:spPr bwMode="auto">
          <a:xfrm>
            <a:off x="2895600" y="1981200"/>
            <a:ext cx="5257800" cy="2590800"/>
          </a:xfrm>
          <a:prstGeom prst="ellips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65557" name="Text Box 18"/>
          <p:cNvSpPr txBox="1">
            <a:spLocks noChangeArrowheads="1"/>
          </p:cNvSpPr>
          <p:nvPr/>
        </p:nvSpPr>
        <p:spPr bwMode="auto">
          <a:xfrm>
            <a:off x="7772400" y="3429001"/>
            <a:ext cx="2133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x-none" sz="2400"/>
              <a:t>decidable languages</a:t>
            </a:r>
          </a:p>
        </p:txBody>
      </p:sp>
      <p:cxnSp>
        <p:nvCxnSpPr>
          <p:cNvPr id="65558" name="AutoShape 19"/>
          <p:cNvCxnSpPr>
            <a:cxnSpLocks noChangeShapeType="1"/>
            <a:stCxn id="65557" idx="0"/>
            <a:endCxn id="65556" idx="6"/>
          </p:cNvCxnSpPr>
          <p:nvPr/>
        </p:nvCxnSpPr>
        <p:spPr bwMode="auto">
          <a:xfrm rot="16200000" flipV="1">
            <a:off x="8420100" y="3009900"/>
            <a:ext cx="152400" cy="6858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559" name="Oval 20"/>
          <p:cNvSpPr>
            <a:spLocks noChangeArrowheads="1"/>
          </p:cNvSpPr>
          <p:nvPr/>
        </p:nvSpPr>
        <p:spPr bwMode="auto">
          <a:xfrm>
            <a:off x="2895600" y="2209800"/>
            <a:ext cx="4495800" cy="2133600"/>
          </a:xfrm>
          <a:prstGeom prst="ellips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1249301" name="Oval 21"/>
          <p:cNvSpPr>
            <a:spLocks noChangeArrowheads="1"/>
          </p:cNvSpPr>
          <p:nvPr/>
        </p:nvSpPr>
        <p:spPr bwMode="auto">
          <a:xfrm>
            <a:off x="2895600" y="2362200"/>
            <a:ext cx="3657600" cy="1828800"/>
          </a:xfrm>
          <a:prstGeom prst="ellips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x-none" altLang="x-none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69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284" grpId="0"/>
      <p:bldP spid="124930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                         </a:t>
            </a:r>
            <a:r>
              <a:rPr kumimoji="1" lang="en-US" altLang="zh-CN" sz="4000" dirty="0"/>
              <a:t>Decidability and Closure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Property</a:t>
            </a:r>
            <a:endParaRPr kumimoji="1"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325346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9" y="1484313"/>
            <a:ext cx="1886770" cy="4392612"/>
          </a:xfrm>
        </p:spPr>
        <p:txBody>
          <a:bodyPr/>
          <a:lstStyle/>
          <a:p>
            <a:r>
              <a:rPr kumimoji="1" lang="en-US" altLang="zh-CN" dirty="0"/>
              <a:t>RL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CFL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TM</a:t>
            </a:r>
            <a:endParaRPr kumimoji="1"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584543" y="1484313"/>
            <a:ext cx="3413045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47675" indent="-4476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889000" indent="-4397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¡"/>
              <a:defRPr sz="24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293813" indent="-403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81163" indent="-3857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701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273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845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417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989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1" lang="en-US" altLang="zh-CN" kern="0" dirty="0"/>
              <a:t>Parallel Production</a:t>
            </a:r>
          </a:p>
          <a:p>
            <a:endParaRPr kumimoji="1" lang="en-US" altLang="zh-CN" kern="0" dirty="0"/>
          </a:p>
          <a:p>
            <a:r>
              <a:rPr kumimoji="1" lang="en-US" altLang="zh-CN" kern="0" dirty="0"/>
              <a:t>Clean</a:t>
            </a:r>
            <a:r>
              <a:rPr kumimoji="1" lang="zh-CN" altLang="en-US" kern="0"/>
              <a:t>、</a:t>
            </a:r>
            <a:r>
              <a:rPr kumimoji="1" lang="en-US" altLang="zh-CN" kern="0"/>
              <a:t>CYK</a:t>
            </a:r>
            <a:endParaRPr kumimoji="1" lang="en-US" altLang="zh-CN" kern="0" dirty="0"/>
          </a:p>
          <a:p>
            <a:endParaRPr kumimoji="1" lang="en-US" altLang="zh-CN" kern="0" dirty="0"/>
          </a:p>
          <a:p>
            <a:r>
              <a:rPr kumimoji="1" lang="en-US" altLang="zh-CN" kern="0" dirty="0"/>
              <a:t>TM Construction</a:t>
            </a:r>
            <a:endParaRPr kumimoji="1"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7354099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Closure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Property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known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Prove</a:t>
            </a:r>
            <a:r>
              <a:rPr kumimoji="1" lang="zh-CN" altLang="en-US" dirty="0"/>
              <a:t> </a:t>
            </a:r>
            <a:r>
              <a:rPr kumimoji="1" lang="en-US" altLang="zh-CN" dirty="0"/>
              <a:t>unknown</a:t>
            </a:r>
            <a:r>
              <a:rPr kumimoji="1" lang="zh-CN" altLang="en-US" dirty="0"/>
              <a:t> </a:t>
            </a:r>
            <a:r>
              <a:rPr kumimoji="1" lang="en-US" altLang="zh-CN" dirty="0"/>
              <a:t>argument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Closure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complexity class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Consider operation between languages in different classes</a:t>
            </a:r>
          </a:p>
        </p:txBody>
      </p:sp>
    </p:spTree>
    <p:extLst>
      <p:ext uri="{BB962C8B-B14F-4D97-AF65-F5344CB8AC3E}">
        <p14:creationId xmlns:p14="http://schemas.microsoft.com/office/powerpoint/2010/main" val="20834682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                                </a:t>
            </a:r>
            <a:r>
              <a:rPr kumimoji="1" lang="en-US" altLang="zh-CN" dirty="0"/>
              <a:t>                        </a:t>
            </a:r>
            <a:r>
              <a:rPr kumimoji="1" lang="en-US" altLang="zh-CN" sz="4000" dirty="0"/>
              <a:t>Models</a:t>
            </a:r>
            <a:endParaRPr kumimoji="1"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5057658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4912" y="1536029"/>
            <a:ext cx="6269088" cy="3361091"/>
          </a:xfrm>
        </p:spPr>
        <p:txBody>
          <a:bodyPr/>
          <a:lstStyle/>
          <a:p>
            <a:r>
              <a:rPr lang="en-US" altLang="zh-CN" dirty="0"/>
              <a:t>Transition  System</a:t>
            </a:r>
          </a:p>
          <a:p>
            <a:pPr lvl="1"/>
            <a:r>
              <a:rPr lang="en-US" altLang="zh-CN" dirty="0"/>
              <a:t>Semantic Basis</a:t>
            </a:r>
          </a:p>
          <a:p>
            <a:pPr lvl="1"/>
            <a:r>
              <a:rPr lang="en-US" altLang="zh-CN" dirty="0"/>
              <a:t>Definition</a:t>
            </a:r>
          </a:p>
          <a:p>
            <a:pPr lvl="1"/>
            <a:r>
              <a:rPr lang="en-US" altLang="zh-CN" dirty="0"/>
              <a:t>Equivalence</a:t>
            </a:r>
          </a:p>
          <a:p>
            <a:pPr lvl="1"/>
            <a:r>
              <a:rPr kumimoji="1" lang="en-US" altLang="zh-CN" dirty="0"/>
              <a:t>Temporal Logic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84265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Petri Net</a:t>
            </a:r>
          </a:p>
          <a:p>
            <a:pPr lvl="1"/>
            <a:r>
              <a:rPr lang="en-US" altLang="zh-CN" dirty="0"/>
              <a:t>Concurrency</a:t>
            </a:r>
          </a:p>
          <a:p>
            <a:pPr lvl="1"/>
            <a:r>
              <a:rPr lang="en-US" altLang="zh-CN" dirty="0"/>
              <a:t>Token Game</a:t>
            </a:r>
          </a:p>
          <a:p>
            <a:pPr lvl="1"/>
            <a:r>
              <a:rPr lang="en-US" altLang="zh-CN" dirty="0"/>
              <a:t>Model a concurrency System</a:t>
            </a:r>
          </a:p>
          <a:p>
            <a:pPr lvl="1"/>
            <a:r>
              <a:rPr lang="en-US" altLang="zh-CN" dirty="0"/>
              <a:t>Relation Between PN and TS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79356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内容占位符 2"/>
          <p:cNvSpPr txBox="1">
            <a:spLocks noGrp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47675" indent="-4476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889000" indent="-4397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¡"/>
              <a:defRPr sz="24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293813" indent="-403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81163" indent="-3857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701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273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845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417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989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endParaRPr kumimoji="1" lang="en-US" altLang="zh-CN" kern="0" dirty="0"/>
          </a:p>
          <a:p>
            <a:r>
              <a:rPr lang="en-US" altLang="zh-CN" dirty="0"/>
              <a:t>Timed Automata Definition</a:t>
            </a:r>
          </a:p>
          <a:p>
            <a:pPr lvl="1"/>
            <a:r>
              <a:rPr lang="en-US" altLang="zh-CN" dirty="0"/>
              <a:t>Continuous time domain</a:t>
            </a:r>
          </a:p>
          <a:p>
            <a:pPr lvl="1"/>
            <a:r>
              <a:rPr lang="en-US" altLang="zh-CN" dirty="0"/>
              <a:t>When should we use such model?</a:t>
            </a:r>
          </a:p>
          <a:p>
            <a:pPr lvl="1"/>
            <a:r>
              <a:rPr lang="en-US" altLang="zh-CN" dirty="0"/>
              <a:t>Invariant, Guard, Reset?</a:t>
            </a:r>
          </a:p>
          <a:p>
            <a:endParaRPr kumimoji="1" lang="zh-CN" altLang="en-US" kern="0" dirty="0"/>
          </a:p>
        </p:txBody>
      </p:sp>
      <p:sp>
        <p:nvSpPr>
          <p:cNvPr id="5" name="文本框 4"/>
          <p:cNvSpPr txBox="1"/>
          <p:nvPr/>
        </p:nvSpPr>
        <p:spPr>
          <a:xfrm>
            <a:off x="4454629" y="4880743"/>
            <a:ext cx="3671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FF0000"/>
                </a:solidFill>
              </a:rPr>
              <a:t>Model a real system!</a:t>
            </a:r>
            <a:endParaRPr kumimoji="1"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7986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D97B2-050B-944B-8161-AF1A857B3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708BBB-E97D-BD47-9FE8-0987D19F3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55A10A-3084-CB40-9B68-6D32DB085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239579"/>
            <a:ext cx="7943846" cy="206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650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FD8E5-2233-EF43-AB5A-04182C968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613ED6-E96A-8945-AA32-DDE1EAF67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2AD3CF-63B0-BF44-81C4-A47BE7177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995" y="1337469"/>
            <a:ext cx="68707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84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4195C-1A14-1742-9EA7-39960D96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F7C2C7-BB9D-FA42-BF3C-7617D30A4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969192-055F-7345-95A8-2E4841753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9" y="1303250"/>
            <a:ext cx="5964840" cy="475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523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5400" b="1" dirty="0">
                <a:solidFill>
                  <a:srgbClr val="FF0000"/>
                </a:solidFill>
              </a:rPr>
              <a:t>Recruitment</a:t>
            </a:r>
            <a:endParaRPr kumimoji="1" lang="zh-CN" altLang="en-US" sz="5400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96480" y="1484313"/>
            <a:ext cx="4429760" cy="4392612"/>
          </a:xfrm>
        </p:spPr>
        <p:txBody>
          <a:bodyPr/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>
                <a:hlinkClick r:id="rId2"/>
              </a:rPr>
              <a:t>bulei@nju.edu.cn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No.308, CS Building</a:t>
            </a:r>
          </a:p>
          <a:p>
            <a:endParaRPr kumimoji="1"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26909" r="29267" b="21805"/>
          <a:stretch/>
        </p:blipFill>
        <p:spPr>
          <a:xfrm>
            <a:off x="2406869" y="2308225"/>
            <a:ext cx="2638098" cy="263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728744"/>
      </p:ext>
    </p:extLst>
  </p:cSld>
  <p:clrMapOvr>
    <a:masterClrMapping/>
  </p:clrMapOvr>
</p:sld>
</file>

<file path=ppt/theme/theme1.xml><?xml version="1.0" encoding="utf-8"?>
<a:theme xmlns:a="http://schemas.openxmlformats.org/drawingml/2006/main" name="seg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Finite Automata</Template>
  <TotalTime>417</TotalTime>
  <Words>1387</Words>
  <Application>Microsoft Macintosh PowerPoint</Application>
  <PresentationFormat>宽屏</PresentationFormat>
  <Paragraphs>322</Paragraphs>
  <Slides>39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5" baseType="lpstr">
      <vt:lpstr>DengXian</vt:lpstr>
      <vt:lpstr>Arial</vt:lpstr>
      <vt:lpstr>Times New Roman</vt:lpstr>
      <vt:lpstr>Wingdings</vt:lpstr>
      <vt:lpstr>Wingdings 2</vt:lpstr>
      <vt:lpstr>seg</vt:lpstr>
      <vt:lpstr>Summary</vt:lpstr>
      <vt:lpstr>Summary</vt:lpstr>
      <vt:lpstr>Finite Automata</vt:lpstr>
      <vt:lpstr>Finite Automata</vt:lpstr>
      <vt:lpstr>Pushdown Automata</vt:lpstr>
      <vt:lpstr>Context-Free Grammars</vt:lpstr>
      <vt:lpstr>PowerPoint 演示文稿</vt:lpstr>
      <vt:lpstr>Pushdown Automata</vt:lpstr>
      <vt:lpstr>Non-regular languages</vt:lpstr>
      <vt:lpstr>Pumping Lemma for CFLs</vt:lpstr>
      <vt:lpstr>Summary</vt:lpstr>
      <vt:lpstr>Turing Machines</vt:lpstr>
      <vt:lpstr>Deciding and Recognizing</vt:lpstr>
      <vt:lpstr>PowerPoint 演示文稿</vt:lpstr>
      <vt:lpstr>The Halting Problem</vt:lpstr>
      <vt:lpstr>The Halting Problem</vt:lpstr>
      <vt:lpstr>H’ is the opposite of the diagonals:</vt:lpstr>
      <vt:lpstr>Decidable, RE, coRE…</vt:lpstr>
      <vt:lpstr>Definition of reduction</vt:lpstr>
      <vt:lpstr>Using reductions</vt:lpstr>
      <vt:lpstr>Summary</vt:lpstr>
      <vt:lpstr>Complexity</vt:lpstr>
      <vt:lpstr>Time and Space Complexity</vt:lpstr>
      <vt:lpstr>Complexity Classes</vt:lpstr>
      <vt:lpstr>Complexity Classes</vt:lpstr>
      <vt:lpstr>Poly-time reductions</vt:lpstr>
      <vt:lpstr>Hardness and completeness</vt:lpstr>
      <vt:lpstr>Complexity classes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Recruitment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Summary</dc:title>
  <dc:creator>卜磊</dc:creator>
  <cp:lastModifiedBy>卜磊</cp:lastModifiedBy>
  <cp:revision>18</cp:revision>
  <dcterms:created xsi:type="dcterms:W3CDTF">2016-12-21T13:29:04Z</dcterms:created>
  <dcterms:modified xsi:type="dcterms:W3CDTF">2019-12-16T10:39:23Z</dcterms:modified>
</cp:coreProperties>
</file>